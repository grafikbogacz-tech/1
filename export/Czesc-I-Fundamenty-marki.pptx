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7562850" cy="106965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Strona 5 księgi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Strona 6 księgi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Strona 7 księgi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Strona 8 księgi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Strona 9 księgi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Strona 10 księgi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Strona 11 księgi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Strona 12 księgi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Strona 13 księgi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Strona 14 księgi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Strona 15 księgi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Strona 16 księgi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Strona 17 księgi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Strona 18 księgi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Strona 19 księgi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lo/linia"/>
          <p:cNvSpPr/>
          <p:nvPr/>
        </p:nvSpPr>
        <p:spPr>
          <a:xfrm>
            <a:off x="0" y="0"/>
            <a:ext cx="7562850" cy="10696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lo/linia"/>
          <p:cNvSpPr/>
          <p:nvPr/>
        </p:nvSpPr>
        <p:spPr>
          <a:xfrm>
            <a:off x="0" y="0"/>
            <a:ext cx="533400" cy="5334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lo/linia"/>
          <p:cNvSpPr/>
          <p:nvPr/>
        </p:nvSpPr>
        <p:spPr>
          <a:xfrm>
            <a:off x="609600" y="3343275"/>
            <a:ext cx="60960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lo/linia"/>
          <p:cNvSpPr/>
          <p:nvPr/>
        </p:nvSpPr>
        <p:spPr>
          <a:xfrm>
            <a:off x="609600" y="6802041"/>
            <a:ext cx="634365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lo/linia"/>
          <p:cNvSpPr/>
          <p:nvPr/>
        </p:nvSpPr>
        <p:spPr>
          <a:xfrm>
            <a:off x="609600" y="7118152"/>
            <a:ext cx="634365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lo/linia"/>
          <p:cNvSpPr/>
          <p:nvPr/>
        </p:nvSpPr>
        <p:spPr>
          <a:xfrm>
            <a:off x="609600" y="7434262"/>
            <a:ext cx="634365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lo/linia"/>
          <p:cNvSpPr/>
          <p:nvPr/>
        </p:nvSpPr>
        <p:spPr>
          <a:xfrm>
            <a:off x="609600" y="7750373"/>
            <a:ext cx="634365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lo/linia"/>
          <p:cNvSpPr/>
          <p:nvPr/>
        </p:nvSpPr>
        <p:spPr>
          <a:xfrm>
            <a:off x="609600" y="8066484"/>
            <a:ext cx="634365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lo/linia"/>
          <p:cNvSpPr/>
          <p:nvPr/>
        </p:nvSpPr>
        <p:spPr>
          <a:xfrm>
            <a:off x="609600" y="8382595"/>
            <a:ext cx="634365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lo/linia"/>
          <p:cNvSpPr/>
          <p:nvPr/>
        </p:nvSpPr>
        <p:spPr>
          <a:xfrm>
            <a:off x="609600" y="8698706"/>
            <a:ext cx="634365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lo/linia"/>
          <p:cNvSpPr/>
          <p:nvPr/>
        </p:nvSpPr>
        <p:spPr>
          <a:xfrm>
            <a:off x="609600" y="9014817"/>
            <a:ext cx="634365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lo/linia"/>
          <p:cNvSpPr/>
          <p:nvPr/>
        </p:nvSpPr>
        <p:spPr>
          <a:xfrm>
            <a:off x="609600" y="9330928"/>
            <a:ext cx="634365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lo/linia"/>
          <p:cNvSpPr/>
          <p:nvPr/>
        </p:nvSpPr>
        <p:spPr>
          <a:xfrm>
            <a:off x="609600" y="9647039"/>
            <a:ext cx="634365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lo/linia"/>
          <p:cNvSpPr/>
          <p:nvPr/>
        </p:nvSpPr>
        <p:spPr>
          <a:xfrm>
            <a:off x="609600" y="9963150"/>
            <a:ext cx="634365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lo/linia"/>
          <p:cNvSpPr/>
          <p:nvPr/>
        </p:nvSpPr>
        <p:spPr>
          <a:xfrm>
            <a:off x="609600" y="10267950"/>
            <a:ext cx="634365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kst"/>
          <p:cNvSpPr txBox="1"/>
          <p:nvPr/>
        </p:nvSpPr>
        <p:spPr>
          <a:xfrm>
            <a:off x="216694" y="161925"/>
            <a:ext cx="157014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300" b="1" i="0">
                <a:solidFill>
                  <a:srgbClr val="000000"/>
                </a:solidFill>
                <a:latin typeface="Overpass Mono"/>
              </a:rPr>
              <a:t>5</a:t>
            </a:r>
          </a:p>
        </p:txBody>
      </p:sp>
      <p:sp>
        <p:nvSpPr>
          <p:cNvPr id="18" name="tekst"/>
          <p:cNvSpPr txBox="1"/>
          <p:nvPr/>
        </p:nvSpPr>
        <p:spPr>
          <a:xfrm>
            <a:off x="762000" y="209550"/>
            <a:ext cx="598140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CZĘŚĆ I</a:t>
            </a:r>
          </a:p>
        </p:txBody>
      </p:sp>
      <p:sp>
        <p:nvSpPr>
          <p:cNvPr id="19" name="tekst"/>
          <p:cNvSpPr txBox="1"/>
          <p:nvPr/>
        </p:nvSpPr>
        <p:spPr>
          <a:xfrm>
            <a:off x="5716935" y="209550"/>
            <a:ext cx="1293465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</a:t>
            </a:r>
          </a:p>
        </p:txBody>
      </p:sp>
      <p:sp>
        <p:nvSpPr>
          <p:cNvPr id="20" name="tekst"/>
          <p:cNvSpPr txBox="1"/>
          <p:nvPr/>
        </p:nvSpPr>
        <p:spPr>
          <a:xfrm>
            <a:off x="609600" y="1085850"/>
            <a:ext cx="64008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1" i="0" spc="72">
                <a:solidFill>
                  <a:srgbClr val="000000"/>
                </a:solidFill>
                <a:latin typeface="Overpass Mono"/>
              </a:rPr>
              <a:t>CZĘŚĆ</a:t>
            </a:r>
          </a:p>
        </p:txBody>
      </p:sp>
      <p:sp>
        <p:nvSpPr>
          <p:cNvPr id="21" name="tekst"/>
          <p:cNvSpPr txBox="1"/>
          <p:nvPr/>
        </p:nvSpPr>
        <p:spPr>
          <a:xfrm>
            <a:off x="609600" y="1314450"/>
            <a:ext cx="6400800" cy="18002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75"/>
              </a:lnSpc>
            </a:pPr>
            <a:r>
              <a:rPr sz="15750" b="0" i="0" spc="-788">
                <a:solidFill>
                  <a:srgbClr val="ED6842"/>
                </a:solidFill>
                <a:latin typeface="Overpass Mono"/>
              </a:rPr>
              <a:t>I</a:t>
            </a:r>
          </a:p>
        </p:txBody>
      </p:sp>
      <p:sp>
        <p:nvSpPr>
          <p:cNvPr id="22" name="tekst"/>
          <p:cNvSpPr txBox="1"/>
          <p:nvPr/>
        </p:nvSpPr>
        <p:spPr>
          <a:xfrm>
            <a:off x="609600" y="3543300"/>
            <a:ext cx="6400800" cy="4357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32"/>
              </a:lnSpc>
            </a:pPr>
            <a:r>
              <a:rPr sz="3300" b="0" i="0" spc="-99">
                <a:solidFill>
                  <a:srgbClr val="000000"/>
                </a:solidFill>
                <a:latin typeface="Hanken Grotesk"/>
              </a:rPr>
              <a:t>Fundamenty marki</a:t>
            </a:r>
          </a:p>
        </p:txBody>
      </p:sp>
      <p:sp>
        <p:nvSpPr>
          <p:cNvPr id="23" name="tekst"/>
          <p:cNvSpPr txBox="1"/>
          <p:nvPr/>
        </p:nvSpPr>
        <p:spPr>
          <a:xfrm>
            <a:off x="609600" y="4112419"/>
            <a:ext cx="4057650" cy="214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100" b="0" i="0">
                <a:solidFill>
                  <a:srgbClr val="000000"/>
                </a:solidFill>
                <a:latin typeface="Hanken Grotesk"/>
              </a:rPr>
              <a:t>Marka, jej istota, wartości, odbiorcy i osobowość.</a:t>
            </a:r>
          </a:p>
        </p:txBody>
      </p:sp>
      <p:sp>
        <p:nvSpPr>
          <p:cNvPr id="24" name="tekst"/>
          <p:cNvSpPr txBox="1"/>
          <p:nvPr/>
        </p:nvSpPr>
        <p:spPr>
          <a:xfrm>
            <a:off x="609600" y="6266855"/>
            <a:ext cx="64008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1" i="0" spc="72">
                <a:solidFill>
                  <a:srgbClr val="000000"/>
                </a:solidFill>
                <a:latin typeface="Overpass Mono"/>
              </a:rPr>
              <a:t>W TEJ CZĘŚCI</a:t>
            </a:r>
          </a:p>
        </p:txBody>
      </p:sp>
      <p:sp>
        <p:nvSpPr>
          <p:cNvPr id="25" name="tekst"/>
          <p:cNvSpPr txBox="1"/>
          <p:nvPr/>
        </p:nvSpPr>
        <p:spPr>
          <a:xfrm>
            <a:off x="609600" y="6562130"/>
            <a:ext cx="5143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</a:pPr>
            <a:r>
              <a:rPr sz="900" b="0" i="0">
                <a:solidFill>
                  <a:srgbClr val="000000"/>
                </a:solidFill>
                <a:latin typeface="Overpass Mono"/>
              </a:rPr>
              <a:t>03</a:t>
            </a:r>
          </a:p>
        </p:txBody>
      </p:sp>
      <p:sp>
        <p:nvSpPr>
          <p:cNvPr id="26" name="tekst"/>
          <p:cNvSpPr txBox="1"/>
          <p:nvPr/>
        </p:nvSpPr>
        <p:spPr>
          <a:xfrm>
            <a:off x="1162050" y="6562130"/>
            <a:ext cx="514350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Jak korzystać z Brand Booka</a:t>
            </a:r>
          </a:p>
        </p:txBody>
      </p:sp>
      <p:sp>
        <p:nvSpPr>
          <p:cNvPr id="27" name="tekst"/>
          <p:cNvSpPr txBox="1"/>
          <p:nvPr/>
        </p:nvSpPr>
        <p:spPr>
          <a:xfrm>
            <a:off x="6343650" y="6562130"/>
            <a:ext cx="6667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70"/>
              </a:lnSpc>
            </a:pPr>
            <a:r>
              <a:rPr sz="900" b="0" i="0">
                <a:solidFill>
                  <a:srgbClr val="000000"/>
                </a:solidFill>
                <a:latin typeface="Overpass Mono"/>
              </a:rPr>
              <a:t>6–7</a:t>
            </a:r>
          </a:p>
        </p:txBody>
      </p:sp>
      <p:sp>
        <p:nvSpPr>
          <p:cNvPr id="28" name="tekst"/>
          <p:cNvSpPr txBox="1"/>
          <p:nvPr/>
        </p:nvSpPr>
        <p:spPr>
          <a:xfrm>
            <a:off x="609600" y="6878241"/>
            <a:ext cx="5143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</a:pPr>
            <a:r>
              <a:rPr sz="900" b="0" i="0">
                <a:solidFill>
                  <a:srgbClr val="000000"/>
                </a:solidFill>
                <a:latin typeface="Overpass Mono"/>
              </a:rPr>
              <a:t>04</a:t>
            </a:r>
          </a:p>
        </p:txBody>
      </p:sp>
      <p:sp>
        <p:nvSpPr>
          <p:cNvPr id="29" name="tekst"/>
          <p:cNvSpPr txBox="1"/>
          <p:nvPr/>
        </p:nvSpPr>
        <p:spPr>
          <a:xfrm>
            <a:off x="1162050" y="6878241"/>
            <a:ext cx="514350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Marka w skrócie</a:t>
            </a:r>
          </a:p>
        </p:txBody>
      </p:sp>
      <p:sp>
        <p:nvSpPr>
          <p:cNvPr id="30" name="tekst"/>
          <p:cNvSpPr txBox="1"/>
          <p:nvPr/>
        </p:nvSpPr>
        <p:spPr>
          <a:xfrm>
            <a:off x="6343650" y="6878241"/>
            <a:ext cx="6667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70"/>
              </a:lnSpc>
            </a:pPr>
            <a:r>
              <a:rPr sz="900" b="0" i="0">
                <a:solidFill>
                  <a:srgbClr val="000000"/>
                </a:solidFill>
                <a:latin typeface="Overpass Mono"/>
              </a:rPr>
              <a:t>7</a:t>
            </a:r>
          </a:p>
        </p:txBody>
      </p:sp>
      <p:sp>
        <p:nvSpPr>
          <p:cNvPr id="31" name="tekst"/>
          <p:cNvSpPr txBox="1"/>
          <p:nvPr/>
        </p:nvSpPr>
        <p:spPr>
          <a:xfrm>
            <a:off x="609600" y="7194352"/>
            <a:ext cx="5143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</a:pPr>
            <a:r>
              <a:rPr sz="900" b="0" i="0">
                <a:solidFill>
                  <a:srgbClr val="000000"/>
                </a:solidFill>
                <a:latin typeface="Overpass Mono"/>
              </a:rPr>
              <a:t>05</a:t>
            </a:r>
          </a:p>
        </p:txBody>
      </p:sp>
      <p:sp>
        <p:nvSpPr>
          <p:cNvPr id="32" name="tekst"/>
          <p:cNvSpPr txBox="1"/>
          <p:nvPr/>
        </p:nvSpPr>
        <p:spPr>
          <a:xfrm>
            <a:off x="1162050" y="7194352"/>
            <a:ext cx="514350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O marce</a:t>
            </a:r>
          </a:p>
        </p:txBody>
      </p:sp>
      <p:sp>
        <p:nvSpPr>
          <p:cNvPr id="33" name="tekst"/>
          <p:cNvSpPr txBox="1"/>
          <p:nvPr/>
        </p:nvSpPr>
        <p:spPr>
          <a:xfrm>
            <a:off x="6343650" y="7194352"/>
            <a:ext cx="6667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70"/>
              </a:lnSpc>
            </a:pPr>
            <a:r>
              <a:rPr sz="900" b="0" i="0">
                <a:solidFill>
                  <a:srgbClr val="000000"/>
                </a:solidFill>
                <a:latin typeface="Overpass Mono"/>
              </a:rPr>
              <a:t>7–8</a:t>
            </a:r>
          </a:p>
        </p:txBody>
      </p:sp>
      <p:sp>
        <p:nvSpPr>
          <p:cNvPr id="34" name="tekst"/>
          <p:cNvSpPr txBox="1"/>
          <p:nvPr/>
        </p:nvSpPr>
        <p:spPr>
          <a:xfrm>
            <a:off x="609600" y="7510462"/>
            <a:ext cx="5143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</a:pPr>
            <a:r>
              <a:rPr sz="900" b="0" i="0">
                <a:solidFill>
                  <a:srgbClr val="000000"/>
                </a:solidFill>
                <a:latin typeface="Overpass Mono"/>
              </a:rPr>
              <a:t>06</a:t>
            </a:r>
          </a:p>
        </p:txBody>
      </p:sp>
      <p:sp>
        <p:nvSpPr>
          <p:cNvPr id="35" name="tekst"/>
          <p:cNvSpPr txBox="1"/>
          <p:nvPr/>
        </p:nvSpPr>
        <p:spPr>
          <a:xfrm>
            <a:off x="1162050" y="7510462"/>
            <a:ext cx="514350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Brand Essence / DNA marki</a:t>
            </a:r>
          </a:p>
        </p:txBody>
      </p:sp>
      <p:sp>
        <p:nvSpPr>
          <p:cNvPr id="36" name="tekst"/>
          <p:cNvSpPr txBox="1"/>
          <p:nvPr/>
        </p:nvSpPr>
        <p:spPr>
          <a:xfrm>
            <a:off x="6343650" y="7510462"/>
            <a:ext cx="6667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70"/>
              </a:lnSpc>
            </a:pPr>
            <a:r>
              <a:rPr sz="900" b="0" i="0">
                <a:solidFill>
                  <a:srgbClr val="000000"/>
                </a:solidFill>
                <a:latin typeface="Overpass Mono"/>
              </a:rPr>
              <a:t>8</a:t>
            </a:r>
          </a:p>
        </p:txBody>
      </p:sp>
      <p:sp>
        <p:nvSpPr>
          <p:cNvPr id="37" name="tekst"/>
          <p:cNvSpPr txBox="1"/>
          <p:nvPr/>
        </p:nvSpPr>
        <p:spPr>
          <a:xfrm>
            <a:off x="609600" y="7826573"/>
            <a:ext cx="5143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</a:pPr>
            <a:r>
              <a:rPr sz="900" b="0" i="0">
                <a:solidFill>
                  <a:srgbClr val="000000"/>
                </a:solidFill>
                <a:latin typeface="Overpass Mono"/>
              </a:rPr>
              <a:t>07</a:t>
            </a:r>
          </a:p>
        </p:txBody>
      </p:sp>
      <p:sp>
        <p:nvSpPr>
          <p:cNvPr id="38" name="tekst"/>
          <p:cNvSpPr txBox="1"/>
          <p:nvPr/>
        </p:nvSpPr>
        <p:spPr>
          <a:xfrm>
            <a:off x="1162050" y="7826573"/>
            <a:ext cx="514350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Misja</a:t>
            </a:r>
          </a:p>
        </p:txBody>
      </p:sp>
      <p:sp>
        <p:nvSpPr>
          <p:cNvPr id="39" name="tekst"/>
          <p:cNvSpPr txBox="1"/>
          <p:nvPr/>
        </p:nvSpPr>
        <p:spPr>
          <a:xfrm>
            <a:off x="6343650" y="7826573"/>
            <a:ext cx="6667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70"/>
              </a:lnSpc>
            </a:pPr>
            <a:r>
              <a:rPr sz="900" b="0" i="0">
                <a:solidFill>
                  <a:srgbClr val="000000"/>
                </a:solidFill>
                <a:latin typeface="Overpass Mono"/>
              </a:rPr>
              <a:t>9</a:t>
            </a:r>
          </a:p>
        </p:txBody>
      </p:sp>
      <p:sp>
        <p:nvSpPr>
          <p:cNvPr id="40" name="tekst"/>
          <p:cNvSpPr txBox="1"/>
          <p:nvPr/>
        </p:nvSpPr>
        <p:spPr>
          <a:xfrm>
            <a:off x="609600" y="8142684"/>
            <a:ext cx="5143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</a:pPr>
            <a:r>
              <a:rPr sz="900" b="0" i="0">
                <a:solidFill>
                  <a:srgbClr val="000000"/>
                </a:solidFill>
                <a:latin typeface="Overpass Mono"/>
              </a:rPr>
              <a:t>08</a:t>
            </a:r>
          </a:p>
        </p:txBody>
      </p:sp>
      <p:sp>
        <p:nvSpPr>
          <p:cNvPr id="41" name="tekst"/>
          <p:cNvSpPr txBox="1"/>
          <p:nvPr/>
        </p:nvSpPr>
        <p:spPr>
          <a:xfrm>
            <a:off x="1162050" y="8142684"/>
            <a:ext cx="514350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Wizja</a:t>
            </a:r>
          </a:p>
        </p:txBody>
      </p:sp>
      <p:sp>
        <p:nvSpPr>
          <p:cNvPr id="42" name="tekst"/>
          <p:cNvSpPr txBox="1"/>
          <p:nvPr/>
        </p:nvSpPr>
        <p:spPr>
          <a:xfrm>
            <a:off x="6343650" y="8142684"/>
            <a:ext cx="6667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70"/>
              </a:lnSpc>
            </a:pPr>
            <a:r>
              <a:rPr sz="900" b="0" i="0">
                <a:solidFill>
                  <a:srgbClr val="000000"/>
                </a:solidFill>
                <a:latin typeface="Overpass Mono"/>
              </a:rPr>
              <a:t>9</a:t>
            </a:r>
          </a:p>
        </p:txBody>
      </p:sp>
      <p:sp>
        <p:nvSpPr>
          <p:cNvPr id="43" name="tekst"/>
          <p:cNvSpPr txBox="1"/>
          <p:nvPr/>
        </p:nvSpPr>
        <p:spPr>
          <a:xfrm>
            <a:off x="609600" y="8458795"/>
            <a:ext cx="5143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</a:pPr>
            <a:r>
              <a:rPr sz="900" b="0" i="0">
                <a:solidFill>
                  <a:srgbClr val="000000"/>
                </a:solidFill>
                <a:latin typeface="Overpass Mono"/>
              </a:rPr>
              <a:t>09</a:t>
            </a:r>
          </a:p>
        </p:txBody>
      </p:sp>
      <p:sp>
        <p:nvSpPr>
          <p:cNvPr id="44" name="tekst"/>
          <p:cNvSpPr txBox="1"/>
          <p:nvPr/>
        </p:nvSpPr>
        <p:spPr>
          <a:xfrm>
            <a:off x="1162050" y="8458795"/>
            <a:ext cx="514350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Wartości marki</a:t>
            </a:r>
          </a:p>
        </p:txBody>
      </p:sp>
      <p:sp>
        <p:nvSpPr>
          <p:cNvPr id="45" name="tekst"/>
          <p:cNvSpPr txBox="1"/>
          <p:nvPr/>
        </p:nvSpPr>
        <p:spPr>
          <a:xfrm>
            <a:off x="6343650" y="8458795"/>
            <a:ext cx="6667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70"/>
              </a:lnSpc>
            </a:pPr>
            <a:r>
              <a:rPr sz="900" b="0" i="0">
                <a:solidFill>
                  <a:srgbClr val="000000"/>
                </a:solidFill>
                <a:latin typeface="Overpass Mono"/>
              </a:rPr>
              <a:t>9–10</a:t>
            </a:r>
          </a:p>
        </p:txBody>
      </p:sp>
      <p:sp>
        <p:nvSpPr>
          <p:cNvPr id="46" name="tekst"/>
          <p:cNvSpPr txBox="1"/>
          <p:nvPr/>
        </p:nvSpPr>
        <p:spPr>
          <a:xfrm>
            <a:off x="609600" y="8774906"/>
            <a:ext cx="5143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</a:pPr>
            <a:r>
              <a:rPr sz="900" b="0" i="0">
                <a:solidFill>
                  <a:srgbClr val="000000"/>
                </a:solidFill>
                <a:latin typeface="Overpass Mono"/>
              </a:rPr>
              <a:t>10</a:t>
            </a:r>
          </a:p>
        </p:txBody>
      </p:sp>
      <p:sp>
        <p:nvSpPr>
          <p:cNvPr id="47" name="tekst"/>
          <p:cNvSpPr txBox="1"/>
          <p:nvPr/>
        </p:nvSpPr>
        <p:spPr>
          <a:xfrm>
            <a:off x="1162050" y="8774906"/>
            <a:ext cx="514350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Pozycjonowanie marki</a:t>
            </a:r>
          </a:p>
        </p:txBody>
      </p:sp>
      <p:sp>
        <p:nvSpPr>
          <p:cNvPr id="48" name="tekst"/>
          <p:cNvSpPr txBox="1"/>
          <p:nvPr/>
        </p:nvSpPr>
        <p:spPr>
          <a:xfrm>
            <a:off x="6343650" y="8774906"/>
            <a:ext cx="6667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70"/>
              </a:lnSpc>
            </a:pPr>
            <a:r>
              <a:rPr sz="900" b="0" i="0">
                <a:solidFill>
                  <a:srgbClr val="000000"/>
                </a:solidFill>
                <a:latin typeface="Overpass Mono"/>
              </a:rPr>
              <a:t>10–11</a:t>
            </a:r>
          </a:p>
        </p:txBody>
      </p:sp>
      <p:sp>
        <p:nvSpPr>
          <p:cNvPr id="49" name="tekst"/>
          <p:cNvSpPr txBox="1"/>
          <p:nvPr/>
        </p:nvSpPr>
        <p:spPr>
          <a:xfrm>
            <a:off x="609600" y="9091017"/>
            <a:ext cx="5143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</a:pPr>
            <a:r>
              <a:rPr sz="900" b="0" i="0">
                <a:solidFill>
                  <a:srgbClr val="000000"/>
                </a:solidFill>
                <a:latin typeface="Overpass Mono"/>
              </a:rPr>
              <a:t>11</a:t>
            </a:r>
          </a:p>
        </p:txBody>
      </p:sp>
      <p:sp>
        <p:nvSpPr>
          <p:cNvPr id="50" name="tekst"/>
          <p:cNvSpPr txBox="1"/>
          <p:nvPr/>
        </p:nvSpPr>
        <p:spPr>
          <a:xfrm>
            <a:off x="1162050" y="9091017"/>
            <a:ext cx="514350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Przewaga i Reasons to Believe</a:t>
            </a:r>
          </a:p>
        </p:txBody>
      </p:sp>
      <p:sp>
        <p:nvSpPr>
          <p:cNvPr id="51" name="tekst"/>
          <p:cNvSpPr txBox="1"/>
          <p:nvPr/>
        </p:nvSpPr>
        <p:spPr>
          <a:xfrm>
            <a:off x="6343650" y="9091017"/>
            <a:ext cx="6667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70"/>
              </a:lnSpc>
            </a:pPr>
            <a:r>
              <a:rPr sz="900" b="0" i="0">
                <a:solidFill>
                  <a:srgbClr val="000000"/>
                </a:solidFill>
                <a:latin typeface="Overpass Mono"/>
              </a:rPr>
              <a:t>11</a:t>
            </a:r>
          </a:p>
        </p:txBody>
      </p:sp>
      <p:sp>
        <p:nvSpPr>
          <p:cNvPr id="52" name="tekst"/>
          <p:cNvSpPr txBox="1"/>
          <p:nvPr/>
        </p:nvSpPr>
        <p:spPr>
          <a:xfrm>
            <a:off x="609600" y="9407128"/>
            <a:ext cx="5143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</a:pPr>
            <a:r>
              <a:rPr sz="900" b="0" i="0">
                <a:solidFill>
                  <a:srgbClr val="000000"/>
                </a:solidFill>
                <a:latin typeface="Overpass Mono"/>
              </a:rPr>
              <a:t>12</a:t>
            </a:r>
          </a:p>
        </p:txBody>
      </p:sp>
      <p:sp>
        <p:nvSpPr>
          <p:cNvPr id="53" name="tekst"/>
          <p:cNvSpPr txBox="1"/>
          <p:nvPr/>
        </p:nvSpPr>
        <p:spPr>
          <a:xfrm>
            <a:off x="1162050" y="9407128"/>
            <a:ext cx="514350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Grupy docelowe</a:t>
            </a:r>
          </a:p>
        </p:txBody>
      </p:sp>
      <p:sp>
        <p:nvSpPr>
          <p:cNvPr id="54" name="tekst"/>
          <p:cNvSpPr txBox="1"/>
          <p:nvPr/>
        </p:nvSpPr>
        <p:spPr>
          <a:xfrm>
            <a:off x="6343650" y="9407128"/>
            <a:ext cx="6667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70"/>
              </a:lnSpc>
            </a:pPr>
            <a:r>
              <a:rPr sz="900" b="0" i="0">
                <a:solidFill>
                  <a:srgbClr val="000000"/>
                </a:solidFill>
                <a:latin typeface="Overpass Mono"/>
              </a:rPr>
              <a:t>12–16</a:t>
            </a:r>
          </a:p>
        </p:txBody>
      </p:sp>
      <p:sp>
        <p:nvSpPr>
          <p:cNvPr id="55" name="tekst"/>
          <p:cNvSpPr txBox="1"/>
          <p:nvPr/>
        </p:nvSpPr>
        <p:spPr>
          <a:xfrm>
            <a:off x="609600" y="9723239"/>
            <a:ext cx="5143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70"/>
              </a:lnSpc>
            </a:pPr>
            <a:r>
              <a:rPr sz="900" b="0" i="0">
                <a:solidFill>
                  <a:srgbClr val="000000"/>
                </a:solidFill>
                <a:latin typeface="Overpass Mono"/>
              </a:rPr>
              <a:t>13</a:t>
            </a:r>
          </a:p>
        </p:txBody>
      </p:sp>
      <p:sp>
        <p:nvSpPr>
          <p:cNvPr id="56" name="tekst"/>
          <p:cNvSpPr txBox="1"/>
          <p:nvPr/>
        </p:nvSpPr>
        <p:spPr>
          <a:xfrm>
            <a:off x="1162050" y="9723239"/>
            <a:ext cx="514350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Osobowość marki</a:t>
            </a:r>
          </a:p>
        </p:txBody>
      </p:sp>
      <p:sp>
        <p:nvSpPr>
          <p:cNvPr id="57" name="tekst"/>
          <p:cNvSpPr txBox="1"/>
          <p:nvPr/>
        </p:nvSpPr>
        <p:spPr>
          <a:xfrm>
            <a:off x="6343650" y="9723239"/>
            <a:ext cx="6667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170"/>
              </a:lnSpc>
            </a:pPr>
            <a:r>
              <a:rPr sz="900" b="0" i="0">
                <a:solidFill>
                  <a:srgbClr val="000000"/>
                </a:solidFill>
                <a:latin typeface="Overpass Mono"/>
              </a:rPr>
              <a:t>17–19</a:t>
            </a:r>
          </a:p>
        </p:txBody>
      </p:sp>
      <p:sp>
        <p:nvSpPr>
          <p:cNvPr id="58" name="tekst"/>
          <p:cNvSpPr txBox="1"/>
          <p:nvPr/>
        </p:nvSpPr>
        <p:spPr>
          <a:xfrm>
            <a:off x="609600" y="10353675"/>
            <a:ext cx="229790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 · BRAND BOOK</a:t>
            </a:r>
          </a:p>
        </p:txBody>
      </p:sp>
      <p:sp>
        <p:nvSpPr>
          <p:cNvPr id="59" name="tekst"/>
          <p:cNvSpPr txBox="1"/>
          <p:nvPr/>
        </p:nvSpPr>
        <p:spPr>
          <a:xfrm>
            <a:off x="6180534" y="10353675"/>
            <a:ext cx="82986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WERSJA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lo/linia"/>
          <p:cNvSpPr/>
          <p:nvPr/>
        </p:nvSpPr>
        <p:spPr>
          <a:xfrm>
            <a:off x="0" y="0"/>
            <a:ext cx="7562850" cy="10696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lo/linia"/>
          <p:cNvSpPr/>
          <p:nvPr/>
        </p:nvSpPr>
        <p:spPr>
          <a:xfrm>
            <a:off x="0" y="0"/>
            <a:ext cx="533400" cy="5334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lo/linia"/>
          <p:cNvSpPr/>
          <p:nvPr/>
        </p:nvSpPr>
        <p:spPr>
          <a:xfrm>
            <a:off x="609600" y="2064544"/>
            <a:ext cx="305752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lo/linia"/>
          <p:cNvSpPr/>
          <p:nvPr/>
        </p:nvSpPr>
        <p:spPr>
          <a:xfrm>
            <a:off x="609600" y="2197894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lo/linia"/>
          <p:cNvSpPr/>
          <p:nvPr/>
        </p:nvSpPr>
        <p:spPr>
          <a:xfrm>
            <a:off x="3895725" y="2064544"/>
            <a:ext cx="305752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lo/linia"/>
          <p:cNvSpPr/>
          <p:nvPr/>
        </p:nvSpPr>
        <p:spPr>
          <a:xfrm>
            <a:off x="3895725" y="2197894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lo/linia"/>
          <p:cNvSpPr/>
          <p:nvPr/>
        </p:nvSpPr>
        <p:spPr>
          <a:xfrm>
            <a:off x="609600" y="3155454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lo/linia"/>
          <p:cNvSpPr/>
          <p:nvPr/>
        </p:nvSpPr>
        <p:spPr>
          <a:xfrm>
            <a:off x="609600" y="3336429"/>
            <a:ext cx="1987451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lo/linia"/>
          <p:cNvSpPr/>
          <p:nvPr/>
        </p:nvSpPr>
        <p:spPr>
          <a:xfrm>
            <a:off x="609600" y="3633490"/>
            <a:ext cx="1987451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lo/linia"/>
          <p:cNvSpPr/>
          <p:nvPr/>
        </p:nvSpPr>
        <p:spPr>
          <a:xfrm>
            <a:off x="609600" y="3930551"/>
            <a:ext cx="1987451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lo/linia"/>
          <p:cNvSpPr/>
          <p:nvPr/>
        </p:nvSpPr>
        <p:spPr>
          <a:xfrm>
            <a:off x="609600" y="4227612"/>
            <a:ext cx="1987451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lo/linia"/>
          <p:cNvSpPr/>
          <p:nvPr/>
        </p:nvSpPr>
        <p:spPr>
          <a:xfrm>
            <a:off x="609600" y="4524673"/>
            <a:ext cx="1987451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lo/linia"/>
          <p:cNvSpPr/>
          <p:nvPr/>
        </p:nvSpPr>
        <p:spPr>
          <a:xfrm>
            <a:off x="2787551" y="3155454"/>
            <a:ext cx="76200" cy="76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lo/linia"/>
          <p:cNvSpPr/>
          <p:nvPr/>
        </p:nvSpPr>
        <p:spPr>
          <a:xfrm>
            <a:off x="2787551" y="3336429"/>
            <a:ext cx="198760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lo/linia"/>
          <p:cNvSpPr/>
          <p:nvPr/>
        </p:nvSpPr>
        <p:spPr>
          <a:xfrm>
            <a:off x="2787551" y="3633490"/>
            <a:ext cx="198760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lo/linia"/>
          <p:cNvSpPr/>
          <p:nvPr/>
        </p:nvSpPr>
        <p:spPr>
          <a:xfrm>
            <a:off x="2787551" y="3930551"/>
            <a:ext cx="198760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lo/linia"/>
          <p:cNvSpPr/>
          <p:nvPr/>
        </p:nvSpPr>
        <p:spPr>
          <a:xfrm>
            <a:off x="2787551" y="4227612"/>
            <a:ext cx="198760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lo/linia"/>
          <p:cNvSpPr/>
          <p:nvPr/>
        </p:nvSpPr>
        <p:spPr>
          <a:xfrm>
            <a:off x="2787551" y="4524673"/>
            <a:ext cx="198760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lo/linia"/>
          <p:cNvSpPr/>
          <p:nvPr/>
        </p:nvSpPr>
        <p:spPr>
          <a:xfrm>
            <a:off x="4965650" y="3155454"/>
            <a:ext cx="76200" cy="76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lo/linia"/>
          <p:cNvSpPr/>
          <p:nvPr/>
        </p:nvSpPr>
        <p:spPr>
          <a:xfrm>
            <a:off x="4965650" y="3155454"/>
            <a:ext cx="7620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lo/linia"/>
          <p:cNvSpPr/>
          <p:nvPr/>
        </p:nvSpPr>
        <p:spPr>
          <a:xfrm>
            <a:off x="4965650" y="3222129"/>
            <a:ext cx="7620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lo/linia"/>
          <p:cNvSpPr/>
          <p:nvPr/>
        </p:nvSpPr>
        <p:spPr>
          <a:xfrm>
            <a:off x="4965650" y="3155454"/>
            <a:ext cx="9525" cy="76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lo/linia"/>
          <p:cNvSpPr/>
          <p:nvPr/>
        </p:nvSpPr>
        <p:spPr>
          <a:xfrm>
            <a:off x="5032325" y="3155454"/>
            <a:ext cx="9525" cy="76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lo/linia"/>
          <p:cNvSpPr/>
          <p:nvPr/>
        </p:nvSpPr>
        <p:spPr>
          <a:xfrm>
            <a:off x="4965650" y="3336429"/>
            <a:ext cx="198760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lo/linia"/>
          <p:cNvSpPr/>
          <p:nvPr/>
        </p:nvSpPr>
        <p:spPr>
          <a:xfrm>
            <a:off x="4965650" y="3633490"/>
            <a:ext cx="198760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lo/linia"/>
          <p:cNvSpPr/>
          <p:nvPr/>
        </p:nvSpPr>
        <p:spPr>
          <a:xfrm>
            <a:off x="4965650" y="3930551"/>
            <a:ext cx="198760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lo/linia"/>
          <p:cNvSpPr/>
          <p:nvPr/>
        </p:nvSpPr>
        <p:spPr>
          <a:xfrm>
            <a:off x="4965650" y="4227612"/>
            <a:ext cx="198760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lo/linia"/>
          <p:cNvSpPr/>
          <p:nvPr/>
        </p:nvSpPr>
        <p:spPr>
          <a:xfrm>
            <a:off x="4965650" y="4524673"/>
            <a:ext cx="198760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lo/linia"/>
          <p:cNvSpPr/>
          <p:nvPr/>
        </p:nvSpPr>
        <p:spPr>
          <a:xfrm>
            <a:off x="609600" y="8624888"/>
            <a:ext cx="634365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lo/linia"/>
          <p:cNvSpPr/>
          <p:nvPr/>
        </p:nvSpPr>
        <p:spPr>
          <a:xfrm>
            <a:off x="609600" y="8796338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lo/linia"/>
          <p:cNvSpPr/>
          <p:nvPr/>
        </p:nvSpPr>
        <p:spPr>
          <a:xfrm>
            <a:off x="3895725" y="8796338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lo/linia"/>
          <p:cNvSpPr/>
          <p:nvPr/>
        </p:nvSpPr>
        <p:spPr>
          <a:xfrm>
            <a:off x="609600" y="9465469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lo/linia"/>
          <p:cNvSpPr/>
          <p:nvPr/>
        </p:nvSpPr>
        <p:spPr>
          <a:xfrm>
            <a:off x="3895725" y="9465469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lo/linia"/>
          <p:cNvSpPr/>
          <p:nvPr/>
        </p:nvSpPr>
        <p:spPr>
          <a:xfrm>
            <a:off x="609600" y="10267950"/>
            <a:ext cx="634365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kst"/>
          <p:cNvSpPr txBox="1"/>
          <p:nvPr/>
        </p:nvSpPr>
        <p:spPr>
          <a:xfrm>
            <a:off x="216694" y="161925"/>
            <a:ext cx="157014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300" b="1" i="0">
                <a:solidFill>
                  <a:srgbClr val="000000"/>
                </a:solidFill>
                <a:latin typeface="Overpass Mono"/>
              </a:rPr>
              <a:t>6</a:t>
            </a:r>
          </a:p>
        </p:txBody>
      </p:sp>
      <p:sp>
        <p:nvSpPr>
          <p:cNvPr id="37" name="tekst"/>
          <p:cNvSpPr txBox="1"/>
          <p:nvPr/>
        </p:nvSpPr>
        <p:spPr>
          <a:xfrm>
            <a:off x="762000" y="209550"/>
            <a:ext cx="2375297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03 JAK KORZYSTAĆ Z BRAND BOOKA</a:t>
            </a:r>
          </a:p>
        </p:txBody>
      </p:sp>
      <p:sp>
        <p:nvSpPr>
          <p:cNvPr id="38" name="tekst"/>
          <p:cNvSpPr txBox="1"/>
          <p:nvPr/>
        </p:nvSpPr>
        <p:spPr>
          <a:xfrm>
            <a:off x="5716935" y="209550"/>
            <a:ext cx="1293465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</a:t>
            </a:r>
          </a:p>
        </p:txBody>
      </p:sp>
      <p:sp>
        <p:nvSpPr>
          <p:cNvPr id="39" name="tekst"/>
          <p:cNvSpPr txBox="1"/>
          <p:nvPr/>
        </p:nvSpPr>
        <p:spPr>
          <a:xfrm>
            <a:off x="609600" y="800100"/>
            <a:ext cx="6400800" cy="3399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77"/>
              </a:lnSpc>
            </a:pPr>
            <a:r>
              <a:rPr sz="2550" b="0" i="0" spc="-76">
                <a:solidFill>
                  <a:srgbClr val="000000"/>
                </a:solidFill>
                <a:latin typeface="Hanken Grotesk"/>
              </a:rPr>
              <a:t>Rozwijamy to, co już działa.</a:t>
            </a:r>
          </a:p>
        </p:txBody>
      </p:sp>
      <p:sp>
        <p:nvSpPr>
          <p:cNvPr id="40" name="tekst"/>
          <p:cNvSpPr txBox="1"/>
          <p:nvPr/>
        </p:nvSpPr>
        <p:spPr>
          <a:xfrm>
            <a:off x="609600" y="1292423"/>
            <a:ext cx="6400800" cy="619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7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Ten Brand Book nie tworzy marki od początku. Zachowuje elementy, które działają, porządkuje te, które wymagają konsekwencji, i poprawia te, które osłabiają czytelność lub wiarygodność. Księga Znaku ma pierwszeństwo w sprawach samego logo.</a:t>
            </a:r>
          </a:p>
        </p:txBody>
      </p:sp>
      <p:sp>
        <p:nvSpPr>
          <p:cNvPr id="41" name="tekst"/>
          <p:cNvSpPr txBox="1"/>
          <p:nvPr/>
        </p:nvSpPr>
        <p:spPr>
          <a:xfrm>
            <a:off x="762000" y="2159794"/>
            <a:ext cx="932259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1" i="0" spc="72">
                <a:solidFill>
                  <a:srgbClr val="000000"/>
                </a:solidFill>
                <a:latin typeface="Overpass Mono"/>
              </a:rPr>
              <a:t>OBOWIĄZKOWE</a:t>
            </a:r>
          </a:p>
        </p:txBody>
      </p:sp>
      <p:sp>
        <p:nvSpPr>
          <p:cNvPr id="42" name="tekst"/>
          <p:cNvSpPr txBox="1"/>
          <p:nvPr/>
        </p:nvSpPr>
        <p:spPr>
          <a:xfrm>
            <a:off x="609600" y="2359819"/>
            <a:ext cx="3114675" cy="35897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Logo i jego wersje, paleta, zasada „materiał przed dekoracją”, naturalny kolor cegły na zdjęciach.</a:t>
            </a:r>
          </a:p>
        </p:txBody>
      </p:sp>
      <p:sp>
        <p:nvSpPr>
          <p:cNvPr id="43" name="tekst"/>
          <p:cNvSpPr txBox="1"/>
          <p:nvPr/>
        </p:nvSpPr>
        <p:spPr>
          <a:xfrm>
            <a:off x="4048125" y="2159794"/>
            <a:ext cx="85278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1" i="0" spc="72">
                <a:solidFill>
                  <a:srgbClr val="000000"/>
                </a:solidFill>
                <a:latin typeface="Overpass Mono"/>
              </a:rPr>
              <a:t>ELASTYCZNE</a:t>
            </a:r>
          </a:p>
        </p:txBody>
      </p:sp>
      <p:sp>
        <p:nvSpPr>
          <p:cNvPr id="44" name="tekst"/>
          <p:cNvSpPr txBox="1"/>
          <p:nvPr/>
        </p:nvSpPr>
        <p:spPr>
          <a:xfrm>
            <a:off x="3895725" y="2359819"/>
            <a:ext cx="3114675" cy="538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Układy, proporcje, format, wybór wariantu CTA. Odstępstwa zatwierdza [osoba odpowiedzialna za markę].</a:t>
            </a:r>
          </a:p>
        </p:txBody>
      </p:sp>
      <p:sp>
        <p:nvSpPr>
          <p:cNvPr id="45" name="tekst"/>
          <p:cNvSpPr txBox="1"/>
          <p:nvPr/>
        </p:nvSpPr>
        <p:spPr>
          <a:xfrm>
            <a:off x="762000" y="3117354"/>
            <a:ext cx="693688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1" i="0" spc="72">
                <a:solidFill>
                  <a:srgbClr val="000000"/>
                </a:solidFill>
                <a:latin typeface="Overpass Mono"/>
              </a:rPr>
              <a:t>ZACHOWAĆ</a:t>
            </a:r>
          </a:p>
        </p:txBody>
      </p:sp>
      <p:sp>
        <p:nvSpPr>
          <p:cNvPr id="46" name="tekst"/>
          <p:cNvSpPr txBox="1"/>
          <p:nvPr/>
        </p:nvSpPr>
        <p:spPr>
          <a:xfrm>
            <a:off x="609600" y="3403104"/>
            <a:ext cx="2044601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Logo i jego fonty</a:t>
            </a:r>
          </a:p>
        </p:txBody>
      </p:sp>
      <p:sp>
        <p:nvSpPr>
          <p:cNvPr id="47" name="tekst"/>
          <p:cNvSpPr txBox="1"/>
          <p:nvPr/>
        </p:nvSpPr>
        <p:spPr>
          <a:xfrm>
            <a:off x="609600" y="3700165"/>
            <a:ext cx="2044601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Paleta z Księgi Znaku</a:t>
            </a:r>
          </a:p>
        </p:txBody>
      </p:sp>
      <p:sp>
        <p:nvSpPr>
          <p:cNvPr id="48" name="tekst"/>
          <p:cNvSpPr txBox="1"/>
          <p:nvPr/>
        </p:nvSpPr>
        <p:spPr>
          <a:xfrm>
            <a:off x="609600" y="3997226"/>
            <a:ext cx="2044601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Pomarańcz jako akcent</a:t>
            </a:r>
          </a:p>
        </p:txBody>
      </p:sp>
      <p:sp>
        <p:nvSpPr>
          <p:cNvPr id="49" name="tekst"/>
          <p:cNvSpPr txBox="1"/>
          <p:nvPr/>
        </p:nvSpPr>
        <p:spPr>
          <a:xfrm>
            <a:off x="609600" y="4294287"/>
            <a:ext cx="2044601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Realizacje jako dowód</a:t>
            </a:r>
          </a:p>
        </p:txBody>
      </p:sp>
      <p:sp>
        <p:nvSpPr>
          <p:cNvPr id="50" name="tekst"/>
          <p:cNvSpPr txBox="1"/>
          <p:nvPr/>
        </p:nvSpPr>
        <p:spPr>
          <a:xfrm>
            <a:off x="609600" y="4591348"/>
            <a:ext cx="2044601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Próbka jako narzędzie decyzji</a:t>
            </a:r>
          </a:p>
        </p:txBody>
      </p:sp>
      <p:sp>
        <p:nvSpPr>
          <p:cNvPr id="51" name="tekst"/>
          <p:cNvSpPr txBox="1"/>
          <p:nvPr/>
        </p:nvSpPr>
        <p:spPr>
          <a:xfrm>
            <a:off x="2939951" y="3117354"/>
            <a:ext cx="1011882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1" i="0" spc="72">
                <a:solidFill>
                  <a:srgbClr val="000000"/>
                </a:solidFill>
                <a:latin typeface="Overpass Mono"/>
              </a:rPr>
              <a:t>UPORZĄDKOWAĆ</a:t>
            </a:r>
          </a:p>
        </p:txBody>
      </p:sp>
      <p:sp>
        <p:nvSpPr>
          <p:cNvPr id="52" name="tekst"/>
          <p:cNvSpPr txBox="1"/>
          <p:nvPr/>
        </p:nvSpPr>
        <p:spPr>
          <a:xfrm>
            <a:off x="2787551" y="3403104"/>
            <a:ext cx="20447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Proporcje użycia kolorów</a:t>
            </a:r>
          </a:p>
        </p:txBody>
      </p:sp>
      <p:sp>
        <p:nvSpPr>
          <p:cNvPr id="53" name="tekst"/>
          <p:cNvSpPr txBox="1"/>
          <p:nvPr/>
        </p:nvSpPr>
        <p:spPr>
          <a:xfrm>
            <a:off x="2787551" y="3700165"/>
            <a:ext cx="20447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Hierarchia typografii</a:t>
            </a:r>
          </a:p>
        </p:txBody>
      </p:sp>
      <p:sp>
        <p:nvSpPr>
          <p:cNvPr id="54" name="tekst"/>
          <p:cNvSpPr txBox="1"/>
          <p:nvPr/>
        </p:nvSpPr>
        <p:spPr>
          <a:xfrm>
            <a:off x="2787551" y="3997226"/>
            <a:ext cx="20447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Siedem szablonów social</a:t>
            </a:r>
          </a:p>
        </p:txBody>
      </p:sp>
      <p:sp>
        <p:nvSpPr>
          <p:cNvPr id="55" name="tekst"/>
          <p:cNvSpPr txBox="1"/>
          <p:nvPr/>
        </p:nvSpPr>
        <p:spPr>
          <a:xfrm>
            <a:off x="2787551" y="4294287"/>
            <a:ext cx="20447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Podpis źródła pod zdjęciem</a:t>
            </a:r>
          </a:p>
        </p:txBody>
      </p:sp>
      <p:sp>
        <p:nvSpPr>
          <p:cNvPr id="56" name="tekst"/>
          <p:cNvSpPr txBox="1"/>
          <p:nvPr/>
        </p:nvSpPr>
        <p:spPr>
          <a:xfrm>
            <a:off x="2787551" y="4591348"/>
            <a:ext cx="20447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Jedno CTA na komunikat</a:t>
            </a:r>
          </a:p>
        </p:txBody>
      </p:sp>
      <p:sp>
        <p:nvSpPr>
          <p:cNvPr id="57" name="tekst"/>
          <p:cNvSpPr txBox="1"/>
          <p:nvPr/>
        </p:nvSpPr>
        <p:spPr>
          <a:xfrm>
            <a:off x="5118050" y="3117354"/>
            <a:ext cx="693688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1" i="0" spc="72">
                <a:solidFill>
                  <a:srgbClr val="000000"/>
                </a:solidFill>
                <a:latin typeface="Overpass Mono"/>
              </a:rPr>
              <a:t>POPRAWIĆ</a:t>
            </a:r>
          </a:p>
        </p:txBody>
      </p:sp>
      <p:sp>
        <p:nvSpPr>
          <p:cNvPr id="58" name="tekst"/>
          <p:cNvSpPr txBox="1"/>
          <p:nvPr/>
        </p:nvSpPr>
        <p:spPr>
          <a:xfrm>
            <a:off x="4965650" y="3403104"/>
            <a:ext cx="20447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Logo zasłaniające produkt</a:t>
            </a:r>
          </a:p>
        </p:txBody>
      </p:sp>
      <p:sp>
        <p:nvSpPr>
          <p:cNvPr id="59" name="tekst"/>
          <p:cNvSpPr txBox="1"/>
          <p:nvPr/>
        </p:nvSpPr>
        <p:spPr>
          <a:xfrm>
            <a:off x="4965650" y="3700165"/>
            <a:ext cx="20447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Kilka mocnych kolorów w grafice</a:t>
            </a:r>
          </a:p>
        </p:txBody>
      </p:sp>
      <p:sp>
        <p:nvSpPr>
          <p:cNvPr id="60" name="tekst"/>
          <p:cNvSpPr txBox="1"/>
          <p:nvPr/>
        </p:nvSpPr>
        <p:spPr>
          <a:xfrm>
            <a:off x="4965650" y="3997226"/>
            <a:ext cx="20447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Filtry zmieniające kolor cegły</a:t>
            </a:r>
          </a:p>
        </p:txBody>
      </p:sp>
      <p:sp>
        <p:nvSpPr>
          <p:cNvPr id="61" name="tekst"/>
          <p:cNvSpPr txBox="1"/>
          <p:nvPr/>
        </p:nvSpPr>
        <p:spPr>
          <a:xfrm>
            <a:off x="4965650" y="4294287"/>
            <a:ext cx="20447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Drobny tekst na zdjęciu</a:t>
            </a:r>
          </a:p>
        </p:txBody>
      </p:sp>
      <p:sp>
        <p:nvSpPr>
          <p:cNvPr id="62" name="tekst"/>
          <p:cNvSpPr txBox="1"/>
          <p:nvPr/>
        </p:nvSpPr>
        <p:spPr>
          <a:xfrm>
            <a:off x="4965650" y="4591348"/>
            <a:ext cx="2044750" cy="346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Kilka CTA i numerów w jednym poście</a:t>
            </a:r>
          </a:p>
        </p:txBody>
      </p:sp>
      <p:sp>
        <p:nvSpPr>
          <p:cNvPr id="63" name="tekst"/>
          <p:cNvSpPr txBox="1"/>
          <p:nvPr/>
        </p:nvSpPr>
        <p:spPr>
          <a:xfrm>
            <a:off x="762000" y="8758238"/>
            <a:ext cx="216396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1" i="0" spc="72">
                <a:solidFill>
                  <a:srgbClr val="000000"/>
                </a:solidFill>
                <a:latin typeface="Overpass Mono"/>
              </a:rPr>
              <a:t>CO</a:t>
            </a:r>
          </a:p>
        </p:txBody>
      </p:sp>
      <p:sp>
        <p:nvSpPr>
          <p:cNvPr id="64" name="tekst"/>
          <p:cNvSpPr txBox="1"/>
          <p:nvPr/>
        </p:nvSpPr>
        <p:spPr>
          <a:xfrm>
            <a:off x="609600" y="8958262"/>
            <a:ext cx="3114675" cy="3452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9"/>
              </a:lnSpc>
            </a:pPr>
            <a:r>
              <a:rPr sz="950" b="0" i="0">
                <a:solidFill>
                  <a:srgbClr val="000000"/>
                </a:solidFill>
                <a:latin typeface="Hanken Grotesk"/>
              </a:rPr>
              <a:t>Trzy kategorie zaleceń: zachować, uporządkować, poprawić.</a:t>
            </a:r>
          </a:p>
        </p:txBody>
      </p:sp>
      <p:sp>
        <p:nvSpPr>
          <p:cNvPr id="65" name="tekst"/>
          <p:cNvSpPr txBox="1"/>
          <p:nvPr/>
        </p:nvSpPr>
        <p:spPr>
          <a:xfrm>
            <a:off x="4048125" y="8758238"/>
            <a:ext cx="693688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1" i="0" spc="72">
                <a:solidFill>
                  <a:srgbClr val="000000"/>
                </a:solidFill>
                <a:latin typeface="Overpass Mono"/>
              </a:rPr>
              <a:t>DLACZEGO</a:t>
            </a:r>
          </a:p>
        </p:txBody>
      </p:sp>
      <p:sp>
        <p:nvSpPr>
          <p:cNvPr id="66" name="tekst"/>
          <p:cNvSpPr txBox="1"/>
          <p:nvPr/>
        </p:nvSpPr>
        <p:spPr>
          <a:xfrm>
            <a:off x="3895725" y="8958262"/>
            <a:ext cx="3114675" cy="3452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9"/>
              </a:lnSpc>
            </a:pPr>
            <a:r>
              <a:rPr sz="950" b="0" i="0">
                <a:solidFill>
                  <a:srgbClr val="000000"/>
                </a:solidFill>
                <a:latin typeface="Hanken Grotesk"/>
              </a:rPr>
              <a:t>Zmiana nie jest celem. Każda rekomendacja ma wynikać z realnych materiałów marki lub jasnej potrzeby.</a:t>
            </a:r>
          </a:p>
        </p:txBody>
      </p:sp>
      <p:sp>
        <p:nvSpPr>
          <p:cNvPr id="67" name="tekst"/>
          <p:cNvSpPr txBox="1"/>
          <p:nvPr/>
        </p:nvSpPr>
        <p:spPr>
          <a:xfrm>
            <a:off x="762000" y="9427369"/>
            <a:ext cx="1011882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1" i="0" spc="72">
                <a:solidFill>
                  <a:srgbClr val="000000"/>
                </a:solidFill>
                <a:latin typeface="Overpass Mono"/>
              </a:rPr>
              <a:t>JAK STOSOWAĆ</a:t>
            </a:r>
          </a:p>
        </p:txBody>
      </p:sp>
      <p:sp>
        <p:nvSpPr>
          <p:cNvPr id="68" name="tekst"/>
          <p:cNvSpPr txBox="1"/>
          <p:nvPr/>
        </p:nvSpPr>
        <p:spPr>
          <a:xfrm>
            <a:off x="609600" y="9627394"/>
            <a:ext cx="3114675" cy="3452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9"/>
              </a:lnSpc>
            </a:pPr>
            <a:r>
              <a:rPr sz="950" b="0" i="0">
                <a:solidFill>
                  <a:srgbClr val="000000"/>
                </a:solidFill>
                <a:latin typeface="Hanken Grotesk"/>
              </a:rPr>
              <a:t>Przy nowym materiale sprawdź, do której kategorii należy decyzja, i zacznij od istniejącego szablonu.</a:t>
            </a:r>
          </a:p>
        </p:txBody>
      </p:sp>
      <p:sp>
        <p:nvSpPr>
          <p:cNvPr id="69" name="tekst"/>
          <p:cNvSpPr txBox="1"/>
          <p:nvPr/>
        </p:nvSpPr>
        <p:spPr>
          <a:xfrm>
            <a:off x="4048125" y="9427369"/>
            <a:ext cx="1011882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1" i="0" spc="72">
                <a:solidFill>
                  <a:srgbClr val="000000"/>
                </a:solidFill>
                <a:latin typeface="Overpass Mono"/>
              </a:rPr>
              <a:t>CZEGO UNIKAĆ</a:t>
            </a:r>
          </a:p>
        </p:txBody>
      </p:sp>
      <p:sp>
        <p:nvSpPr>
          <p:cNvPr id="70" name="tekst"/>
          <p:cNvSpPr txBox="1"/>
          <p:nvPr/>
        </p:nvSpPr>
        <p:spPr>
          <a:xfrm>
            <a:off x="3895725" y="9627394"/>
            <a:ext cx="3114675" cy="3452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9"/>
              </a:lnSpc>
            </a:pPr>
            <a:r>
              <a:rPr sz="950" b="0" i="0">
                <a:solidFill>
                  <a:srgbClr val="000000"/>
                </a:solidFill>
                <a:latin typeface="Hanken Grotesk"/>
              </a:rPr>
              <a:t>Dodawania nowych elementów graficznych bez powodu i traktowania propozycji jako zmiany tożsamości.</a:t>
            </a:r>
          </a:p>
        </p:txBody>
      </p:sp>
      <p:sp>
        <p:nvSpPr>
          <p:cNvPr id="71" name="tekst"/>
          <p:cNvSpPr txBox="1"/>
          <p:nvPr/>
        </p:nvSpPr>
        <p:spPr>
          <a:xfrm>
            <a:off x="609600" y="10353675"/>
            <a:ext cx="229790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 · BRAND BOOK</a:t>
            </a:r>
          </a:p>
        </p:txBody>
      </p:sp>
      <p:sp>
        <p:nvSpPr>
          <p:cNvPr id="72" name="tekst"/>
          <p:cNvSpPr txBox="1"/>
          <p:nvPr/>
        </p:nvSpPr>
        <p:spPr>
          <a:xfrm>
            <a:off x="6180534" y="10353675"/>
            <a:ext cx="82986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WERSJA 1.0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lo/linia"/>
          <p:cNvSpPr/>
          <p:nvPr/>
        </p:nvSpPr>
        <p:spPr>
          <a:xfrm>
            <a:off x="0" y="0"/>
            <a:ext cx="7562850" cy="10696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lo/linia"/>
          <p:cNvSpPr/>
          <p:nvPr/>
        </p:nvSpPr>
        <p:spPr>
          <a:xfrm>
            <a:off x="0" y="0"/>
            <a:ext cx="533400" cy="5334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lo/linia"/>
          <p:cNvSpPr/>
          <p:nvPr/>
        </p:nvSpPr>
        <p:spPr>
          <a:xfrm>
            <a:off x="723900" y="1295400"/>
            <a:ext cx="284797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lo/linia"/>
          <p:cNvSpPr/>
          <p:nvPr/>
        </p:nvSpPr>
        <p:spPr>
          <a:xfrm>
            <a:off x="742950" y="4172414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lo/linia"/>
          <p:cNvSpPr/>
          <p:nvPr/>
        </p:nvSpPr>
        <p:spPr>
          <a:xfrm>
            <a:off x="742950" y="4475280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lo/linia"/>
          <p:cNvSpPr/>
          <p:nvPr/>
        </p:nvSpPr>
        <p:spPr>
          <a:xfrm>
            <a:off x="742950" y="4778145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lo/linia"/>
          <p:cNvSpPr/>
          <p:nvPr/>
        </p:nvSpPr>
        <p:spPr>
          <a:xfrm>
            <a:off x="742950" y="5081010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lo/linia"/>
          <p:cNvSpPr/>
          <p:nvPr/>
        </p:nvSpPr>
        <p:spPr>
          <a:xfrm>
            <a:off x="723900" y="5600254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lo/linia"/>
          <p:cNvSpPr/>
          <p:nvPr/>
        </p:nvSpPr>
        <p:spPr>
          <a:xfrm>
            <a:off x="3990975" y="3962102"/>
            <a:ext cx="284797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lo/linia"/>
          <p:cNvSpPr/>
          <p:nvPr/>
        </p:nvSpPr>
        <p:spPr>
          <a:xfrm>
            <a:off x="3990975" y="5139333"/>
            <a:ext cx="284797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lo/linia"/>
          <p:cNvSpPr/>
          <p:nvPr/>
        </p:nvSpPr>
        <p:spPr>
          <a:xfrm>
            <a:off x="3990975" y="5884143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lo/linia"/>
          <p:cNvSpPr/>
          <p:nvPr/>
        </p:nvSpPr>
        <p:spPr>
          <a:xfrm>
            <a:off x="609600" y="10267950"/>
            <a:ext cx="634365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kst"/>
          <p:cNvSpPr txBox="1"/>
          <p:nvPr/>
        </p:nvSpPr>
        <p:spPr>
          <a:xfrm>
            <a:off x="216694" y="161925"/>
            <a:ext cx="157014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300" b="1" i="0">
                <a:solidFill>
                  <a:srgbClr val="000000"/>
                </a:solidFill>
                <a:latin typeface="Overpass Mono"/>
              </a:rPr>
              <a:t>7</a:t>
            </a:r>
          </a:p>
        </p:txBody>
      </p:sp>
      <p:sp>
        <p:nvSpPr>
          <p:cNvPr id="15" name="tekst"/>
          <p:cNvSpPr txBox="1"/>
          <p:nvPr/>
        </p:nvSpPr>
        <p:spPr>
          <a:xfrm>
            <a:off x="762000" y="209550"/>
            <a:ext cx="2066181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CZĘŚĆ I · FUNDAMENTY MARKI</a:t>
            </a:r>
          </a:p>
        </p:txBody>
      </p:sp>
      <p:sp>
        <p:nvSpPr>
          <p:cNvPr id="16" name="tekst"/>
          <p:cNvSpPr txBox="1"/>
          <p:nvPr/>
        </p:nvSpPr>
        <p:spPr>
          <a:xfrm>
            <a:off x="5716935" y="209550"/>
            <a:ext cx="1293465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</a:t>
            </a:r>
          </a:p>
        </p:txBody>
      </p:sp>
      <p:sp>
        <p:nvSpPr>
          <p:cNvPr id="17" name="tekst"/>
          <p:cNvSpPr txBox="1"/>
          <p:nvPr/>
        </p:nvSpPr>
        <p:spPr>
          <a:xfrm>
            <a:off x="1077962" y="1447800"/>
            <a:ext cx="2531120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600" b="0" i="0" spc="-39">
                <a:solidFill>
                  <a:srgbClr val="000000"/>
                </a:solidFill>
                <a:latin typeface="Hanken Grotesk"/>
              </a:rPr>
              <a:t>Jak korzystać z Brand Booka</a:t>
            </a:r>
          </a:p>
        </p:txBody>
      </p:sp>
      <p:sp>
        <p:nvSpPr>
          <p:cNvPr id="18" name="tekst"/>
          <p:cNvSpPr txBox="1"/>
          <p:nvPr/>
        </p:nvSpPr>
        <p:spPr>
          <a:xfrm>
            <a:off x="723900" y="1457325"/>
            <a:ext cx="315962" cy="274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 spc="-90">
                <a:solidFill>
                  <a:srgbClr val="ED6842"/>
                </a:solidFill>
                <a:latin typeface="Overpass Mono"/>
              </a:rPr>
              <a:t>03</a:t>
            </a:r>
          </a:p>
        </p:txBody>
      </p:sp>
      <p:sp>
        <p:nvSpPr>
          <p:cNvPr id="19" name="tekst"/>
          <p:cNvSpPr txBox="1"/>
          <p:nvPr/>
        </p:nvSpPr>
        <p:spPr>
          <a:xfrm>
            <a:off x="723900" y="1903065"/>
            <a:ext cx="2905125" cy="2039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Dokument nie neguje dotychczasowych działań marki. Ma pomóc zachować to, co wartościowe, i zbudować na tej bazie bardziej świadomy, spójny i łatwy do stosowania system komunikacji. Każda nowa rekomendacja powinna wynikać z realnych materiałów marki, obserwacji jej obecnej komunikacji lub jasno zidentyfikowanej potrzeby — nie z potrzeby zmiany dla samej zmiany.</a:t>
            </a:r>
          </a:p>
        </p:txBody>
      </p:sp>
      <p:sp>
        <p:nvSpPr>
          <p:cNvPr id="20" name="tekst"/>
          <p:cNvSpPr txBox="1"/>
          <p:nvPr/>
        </p:nvSpPr>
        <p:spPr>
          <a:xfrm>
            <a:off x="914400" y="4076402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dla kogo jest dokument,</a:t>
            </a:r>
          </a:p>
        </p:txBody>
      </p:sp>
      <p:sp>
        <p:nvSpPr>
          <p:cNvPr id="21" name="tekst"/>
          <p:cNvSpPr txBox="1"/>
          <p:nvPr/>
        </p:nvSpPr>
        <p:spPr>
          <a:xfrm>
            <a:off x="914400" y="4379268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co jest zasadą obowiązkową,</a:t>
            </a:r>
          </a:p>
        </p:txBody>
      </p:sp>
      <p:sp>
        <p:nvSpPr>
          <p:cNvPr id="22" name="tekst"/>
          <p:cNvSpPr txBox="1"/>
          <p:nvPr/>
        </p:nvSpPr>
        <p:spPr>
          <a:xfrm>
            <a:off x="914400" y="4682133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gdzie można stosować wyjątki,</a:t>
            </a:r>
          </a:p>
        </p:txBody>
      </p:sp>
      <p:sp>
        <p:nvSpPr>
          <p:cNvPr id="23" name="tekst"/>
          <p:cNvSpPr txBox="1"/>
          <p:nvPr/>
        </p:nvSpPr>
        <p:spPr>
          <a:xfrm>
            <a:off x="914400" y="4984998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kto zatwierdza odstępstwa</a:t>
            </a:r>
          </a:p>
        </p:txBody>
      </p:sp>
      <p:sp>
        <p:nvSpPr>
          <p:cNvPr id="24" name="tekst"/>
          <p:cNvSpPr txBox="1"/>
          <p:nvPr/>
        </p:nvSpPr>
        <p:spPr>
          <a:xfrm>
            <a:off x="876300" y="5478363"/>
            <a:ext cx="2284661" cy="3123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WAŻNA ADNOTACJA — JAK INTERPRETOWAĆ TEN BRAND BOOK</a:t>
            </a:r>
          </a:p>
        </p:txBody>
      </p:sp>
      <p:sp>
        <p:nvSpPr>
          <p:cNvPr id="25" name="tekst"/>
          <p:cNvSpPr txBox="1"/>
          <p:nvPr/>
        </p:nvSpPr>
        <p:spPr>
          <a:xfrm>
            <a:off x="723900" y="5912644"/>
            <a:ext cx="2905125" cy="18133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Ten Brand Book nie powstał jako próba stworzenia Ceglanego Renesansu od początku ani jako całkowicie nowa filozofia marki. Jego podstawą jest analiza tego, jak marka już dziś funkcjonuje: jak mówi, jak pokazuje produkt, jak prowadzi sprzedaż, jak wykorzystuje realizacje, materiały wizualne i poszczególne kanały komunikacji.</a:t>
            </a:r>
          </a:p>
        </p:txBody>
      </p:sp>
      <p:sp>
        <p:nvSpPr>
          <p:cNvPr id="26" name="tekst"/>
          <p:cNvSpPr txBox="1"/>
          <p:nvPr/>
        </p:nvSpPr>
        <p:spPr>
          <a:xfrm>
            <a:off x="723900" y="7859316"/>
            <a:ext cx="2905125" cy="13599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Celem dokumentu jest przede wszystkim wyłuskanie i zachowanie tych elementów, które już działają dobrze, uporządkowanie ich w spójny system oraz skorygowanie miejsc, które mogą osłabiać czytelność, wiarygodność lub spójność marki.</a:t>
            </a:r>
          </a:p>
        </p:txBody>
      </p:sp>
      <p:sp>
        <p:nvSpPr>
          <p:cNvPr id="27" name="tekst"/>
          <p:cNvSpPr txBox="1"/>
          <p:nvPr/>
        </p:nvSpPr>
        <p:spPr>
          <a:xfrm>
            <a:off x="3990975" y="952500"/>
            <a:ext cx="29051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Dlatego zalecenia w Brand Booku należy czytać w trzech kategoriach:</a:t>
            </a:r>
          </a:p>
        </p:txBody>
      </p:sp>
      <p:sp>
        <p:nvSpPr>
          <p:cNvPr id="28" name="tekst"/>
          <p:cNvSpPr txBox="1"/>
          <p:nvPr/>
        </p:nvSpPr>
        <p:spPr>
          <a:xfrm>
            <a:off x="3990975" y="1539180"/>
            <a:ext cx="29051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— zachować — element działa dobrze i warto stosować go dalej,</a:t>
            </a:r>
          </a:p>
        </p:txBody>
      </p:sp>
      <p:sp>
        <p:nvSpPr>
          <p:cNvPr id="29" name="tekst"/>
          <p:cNvSpPr txBox="1"/>
          <p:nvPr/>
        </p:nvSpPr>
        <p:spPr>
          <a:xfrm>
            <a:off x="3990975" y="2125861"/>
            <a:ext cx="2905125" cy="6799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— uporządkować / doprecyzować — kierunek jest właściwy, ale wymaga większej konsekwencji lub lepszego wyjaśnienia,</a:t>
            </a:r>
          </a:p>
        </p:txBody>
      </p:sp>
      <p:sp>
        <p:nvSpPr>
          <p:cNvPr id="30" name="tekst"/>
          <p:cNvSpPr txBox="1"/>
          <p:nvPr/>
        </p:nvSpPr>
        <p:spPr>
          <a:xfrm>
            <a:off x="3990975" y="2939207"/>
            <a:ext cx="2905125" cy="6799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— poprawić — obecne rozwiązanie może prowadzić do błędnej interpretacji marki, niespójności albo utraty części jej wartości.</a:t>
            </a:r>
          </a:p>
        </p:txBody>
      </p:sp>
      <p:sp>
        <p:nvSpPr>
          <p:cNvPr id="31" name="tekst"/>
          <p:cNvSpPr txBox="1"/>
          <p:nvPr/>
        </p:nvSpPr>
        <p:spPr>
          <a:xfrm>
            <a:off x="4345037" y="4114502"/>
            <a:ext cx="1465362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600" b="0" i="0" spc="-39">
                <a:solidFill>
                  <a:srgbClr val="000000"/>
                </a:solidFill>
                <a:latin typeface="Hanken Grotesk"/>
              </a:rPr>
              <a:t>Marka w skrócie</a:t>
            </a:r>
          </a:p>
        </p:txBody>
      </p:sp>
      <p:sp>
        <p:nvSpPr>
          <p:cNvPr id="32" name="tekst"/>
          <p:cNvSpPr txBox="1"/>
          <p:nvPr/>
        </p:nvSpPr>
        <p:spPr>
          <a:xfrm>
            <a:off x="3990975" y="4124027"/>
            <a:ext cx="315962" cy="274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 spc="-90">
                <a:solidFill>
                  <a:srgbClr val="ED6842"/>
                </a:solidFill>
                <a:latin typeface="Overpass Mono"/>
              </a:rPr>
              <a:t>04</a:t>
            </a:r>
          </a:p>
        </p:txBody>
      </p:sp>
      <p:sp>
        <p:nvSpPr>
          <p:cNvPr id="33" name="tekst"/>
          <p:cNvSpPr txBox="1"/>
          <p:nvPr/>
        </p:nvSpPr>
        <p:spPr>
          <a:xfrm>
            <a:off x="3990975" y="4569768"/>
            <a:ext cx="29051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Krótki executive summary.</a:t>
            </a:r>
          </a:p>
        </p:txBody>
      </p:sp>
      <p:sp>
        <p:nvSpPr>
          <p:cNvPr id="34" name="tekst"/>
          <p:cNvSpPr txBox="1"/>
          <p:nvPr/>
        </p:nvSpPr>
        <p:spPr>
          <a:xfrm>
            <a:off x="4345037" y="5291733"/>
            <a:ext cx="787896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600" b="0" i="0" spc="-39">
                <a:solidFill>
                  <a:srgbClr val="000000"/>
                </a:solidFill>
                <a:latin typeface="Hanken Grotesk"/>
              </a:rPr>
              <a:t>O marce</a:t>
            </a:r>
          </a:p>
        </p:txBody>
      </p:sp>
      <p:sp>
        <p:nvSpPr>
          <p:cNvPr id="35" name="tekst"/>
          <p:cNvSpPr txBox="1"/>
          <p:nvPr/>
        </p:nvSpPr>
        <p:spPr>
          <a:xfrm>
            <a:off x="3990975" y="5301258"/>
            <a:ext cx="315962" cy="274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 spc="-90">
                <a:solidFill>
                  <a:srgbClr val="ED6842"/>
                </a:solidFill>
                <a:latin typeface="Overpass Mono"/>
              </a:rPr>
              <a:t>05</a:t>
            </a:r>
          </a:p>
        </p:txBody>
      </p:sp>
      <p:sp>
        <p:nvSpPr>
          <p:cNvPr id="36" name="tekst"/>
          <p:cNvSpPr txBox="1"/>
          <p:nvPr/>
        </p:nvSpPr>
        <p:spPr>
          <a:xfrm>
            <a:off x="4143375" y="5842248"/>
            <a:ext cx="1011882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KIM JESTEŚMY</a:t>
            </a:r>
          </a:p>
        </p:txBody>
      </p:sp>
      <p:sp>
        <p:nvSpPr>
          <p:cNvPr id="37" name="tekst"/>
          <p:cNvSpPr txBox="1"/>
          <p:nvPr/>
        </p:nvSpPr>
        <p:spPr>
          <a:xfrm>
            <a:off x="3990975" y="6116538"/>
            <a:ext cx="2905125" cy="13599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Ceglany Renesans to polska marka i producent płytek wykonywanych z autentycznej, ponad 100-letniej cegły rozbiórkowej. Marka łączy historyczny charakter materiału ze współczesnymi możliwościami wykorzystania go w architekturze i aranżacji wnętrz.</a:t>
            </a:r>
          </a:p>
        </p:txBody>
      </p:sp>
      <p:sp>
        <p:nvSpPr>
          <p:cNvPr id="38" name="tekst"/>
          <p:cNvSpPr txBox="1"/>
          <p:nvPr/>
        </p:nvSpPr>
        <p:spPr>
          <a:xfrm>
            <a:off x="609600" y="10353675"/>
            <a:ext cx="229790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 · BRAND BOOK</a:t>
            </a:r>
          </a:p>
        </p:txBody>
      </p:sp>
      <p:sp>
        <p:nvSpPr>
          <p:cNvPr id="39" name="tekst"/>
          <p:cNvSpPr txBox="1"/>
          <p:nvPr/>
        </p:nvSpPr>
        <p:spPr>
          <a:xfrm>
            <a:off x="6180534" y="10353675"/>
            <a:ext cx="82986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WERSJA 1.0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lo/linia"/>
          <p:cNvSpPr/>
          <p:nvPr/>
        </p:nvSpPr>
        <p:spPr>
          <a:xfrm>
            <a:off x="0" y="0"/>
            <a:ext cx="7562850" cy="10696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lo/linia"/>
          <p:cNvSpPr/>
          <p:nvPr/>
        </p:nvSpPr>
        <p:spPr>
          <a:xfrm>
            <a:off x="0" y="0"/>
            <a:ext cx="533400" cy="5334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lo/linia"/>
          <p:cNvSpPr/>
          <p:nvPr/>
        </p:nvSpPr>
        <p:spPr>
          <a:xfrm>
            <a:off x="723900" y="1261095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lo/linia"/>
          <p:cNvSpPr/>
          <p:nvPr/>
        </p:nvSpPr>
        <p:spPr>
          <a:xfrm>
            <a:off x="723900" y="3162077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lo/linia"/>
          <p:cNvSpPr/>
          <p:nvPr/>
        </p:nvSpPr>
        <p:spPr>
          <a:xfrm>
            <a:off x="723900" y="5063058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lo/linia"/>
          <p:cNvSpPr/>
          <p:nvPr/>
        </p:nvSpPr>
        <p:spPr>
          <a:xfrm>
            <a:off x="723900" y="7678341"/>
            <a:ext cx="284797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lo/linia"/>
          <p:cNvSpPr/>
          <p:nvPr/>
        </p:nvSpPr>
        <p:spPr>
          <a:xfrm>
            <a:off x="3990975" y="3794447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lo/linia"/>
          <p:cNvSpPr/>
          <p:nvPr/>
        </p:nvSpPr>
        <p:spPr>
          <a:xfrm>
            <a:off x="4010025" y="4122855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lo/linia"/>
          <p:cNvSpPr/>
          <p:nvPr/>
        </p:nvSpPr>
        <p:spPr>
          <a:xfrm>
            <a:off x="4010025" y="4425720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lo/linia"/>
          <p:cNvSpPr/>
          <p:nvPr/>
        </p:nvSpPr>
        <p:spPr>
          <a:xfrm>
            <a:off x="4010025" y="4728585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lo/linia"/>
          <p:cNvSpPr/>
          <p:nvPr/>
        </p:nvSpPr>
        <p:spPr>
          <a:xfrm>
            <a:off x="4010025" y="5031450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lo/linia"/>
          <p:cNvSpPr/>
          <p:nvPr/>
        </p:nvSpPr>
        <p:spPr>
          <a:xfrm>
            <a:off x="4010025" y="5334316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lo/linia"/>
          <p:cNvSpPr/>
          <p:nvPr/>
        </p:nvSpPr>
        <p:spPr>
          <a:xfrm>
            <a:off x="4010025" y="6492496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lo/linia"/>
          <p:cNvSpPr/>
          <p:nvPr/>
        </p:nvSpPr>
        <p:spPr>
          <a:xfrm>
            <a:off x="4010025" y="6795361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lo/linia"/>
          <p:cNvSpPr/>
          <p:nvPr/>
        </p:nvSpPr>
        <p:spPr>
          <a:xfrm>
            <a:off x="4010025" y="7098226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lo/linia"/>
          <p:cNvSpPr/>
          <p:nvPr/>
        </p:nvSpPr>
        <p:spPr>
          <a:xfrm>
            <a:off x="4010025" y="7401092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lo/linia"/>
          <p:cNvSpPr/>
          <p:nvPr/>
        </p:nvSpPr>
        <p:spPr>
          <a:xfrm>
            <a:off x="4010025" y="7703957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lo/linia"/>
          <p:cNvSpPr/>
          <p:nvPr/>
        </p:nvSpPr>
        <p:spPr>
          <a:xfrm>
            <a:off x="4010025" y="8006822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lo/linia"/>
          <p:cNvSpPr/>
          <p:nvPr/>
        </p:nvSpPr>
        <p:spPr>
          <a:xfrm>
            <a:off x="609600" y="10267950"/>
            <a:ext cx="634365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kst"/>
          <p:cNvSpPr txBox="1"/>
          <p:nvPr/>
        </p:nvSpPr>
        <p:spPr>
          <a:xfrm>
            <a:off x="216694" y="161925"/>
            <a:ext cx="157014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300" b="1" i="0">
                <a:solidFill>
                  <a:srgbClr val="000000"/>
                </a:solidFill>
                <a:latin typeface="Overpass Mono"/>
              </a:rPr>
              <a:t>8</a:t>
            </a:r>
          </a:p>
        </p:txBody>
      </p:sp>
      <p:sp>
        <p:nvSpPr>
          <p:cNvPr id="22" name="tekst"/>
          <p:cNvSpPr txBox="1"/>
          <p:nvPr/>
        </p:nvSpPr>
        <p:spPr>
          <a:xfrm>
            <a:off x="762000" y="209550"/>
            <a:ext cx="2066181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CZĘŚĆ I · FUNDAMENTY MARKI</a:t>
            </a:r>
          </a:p>
        </p:txBody>
      </p:sp>
      <p:sp>
        <p:nvSpPr>
          <p:cNvPr id="23" name="tekst"/>
          <p:cNvSpPr txBox="1"/>
          <p:nvPr/>
        </p:nvSpPr>
        <p:spPr>
          <a:xfrm>
            <a:off x="5716935" y="209550"/>
            <a:ext cx="1293465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</a:t>
            </a:r>
          </a:p>
        </p:txBody>
      </p:sp>
      <p:sp>
        <p:nvSpPr>
          <p:cNvPr id="24" name="tekst"/>
          <p:cNvSpPr txBox="1"/>
          <p:nvPr/>
        </p:nvSpPr>
        <p:spPr>
          <a:xfrm>
            <a:off x="876300" y="1219200"/>
            <a:ext cx="1489174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CZYM SIĘ ZAJMUJEMY</a:t>
            </a:r>
          </a:p>
        </p:txBody>
      </p:sp>
      <p:sp>
        <p:nvSpPr>
          <p:cNvPr id="25" name="tekst"/>
          <p:cNvSpPr txBox="1"/>
          <p:nvPr/>
        </p:nvSpPr>
        <p:spPr>
          <a:xfrm>
            <a:off x="723900" y="1493490"/>
            <a:ext cx="2905125" cy="13599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Stara cegła jest selekcjonowana i przygotowywana do ponownego zastosowania w formie płytek na ściany, podłogi i elewacje. Oferta obejmuje również narożniki oraz materiały potrzebne do montażu i wykończenia realizacji</a:t>
            </a:r>
          </a:p>
        </p:txBody>
      </p:sp>
      <p:sp>
        <p:nvSpPr>
          <p:cNvPr id="26" name="tekst"/>
          <p:cNvSpPr txBox="1"/>
          <p:nvPr/>
        </p:nvSpPr>
        <p:spPr>
          <a:xfrm>
            <a:off x="876300" y="3120182"/>
            <a:ext cx="1489174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CO DEFINIUJE MARKĘ</a:t>
            </a:r>
          </a:p>
        </p:txBody>
      </p:sp>
      <p:sp>
        <p:nvSpPr>
          <p:cNvPr id="27" name="tekst"/>
          <p:cNvSpPr txBox="1"/>
          <p:nvPr/>
        </p:nvSpPr>
        <p:spPr>
          <a:xfrm>
            <a:off x="723900" y="3394472"/>
            <a:ext cx="2905125" cy="13599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Podstawą marki jest</a:t>
            </a:r>
            <a:r>
              <a:rPr sz="1050" b="1" i="0">
                <a:solidFill>
                  <a:srgbClr val="000000"/>
                </a:solidFill>
                <a:latin typeface="Hanken Grotesk"/>
              </a:rPr>
              <a:t> autentyczność materiału</a:t>
            </a:r>
            <a:r>
              <a:rPr sz="1050" b="0" i="0">
                <a:solidFill>
                  <a:srgbClr val="000000"/>
                </a:solidFill>
                <a:latin typeface="Hanken Grotesk"/>
              </a:rPr>
              <a:t> . Naturalne różnice kolorystyczne, nierówności, ślady zaprawy czy oznaki wieku nie są wadą produktu, lecz konsekwencją jego pochodzenia i częścią indywidualnego charakteru każdej płytki.</a:t>
            </a:r>
          </a:p>
        </p:txBody>
      </p:sp>
      <p:sp>
        <p:nvSpPr>
          <p:cNvPr id="28" name="tekst"/>
          <p:cNvSpPr txBox="1"/>
          <p:nvPr/>
        </p:nvSpPr>
        <p:spPr>
          <a:xfrm>
            <a:off x="876300" y="5021163"/>
            <a:ext cx="133007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KONTEKST RYNKOWY</a:t>
            </a:r>
          </a:p>
        </p:txBody>
      </p:sp>
      <p:sp>
        <p:nvSpPr>
          <p:cNvPr id="29" name="tekst"/>
          <p:cNvSpPr txBox="1"/>
          <p:nvPr/>
        </p:nvSpPr>
        <p:spPr>
          <a:xfrm>
            <a:off x="723900" y="5295454"/>
            <a:ext cx="2905125" cy="2039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Ceglany Renesans działa na styku rynku materiałów wykończeniowych, wyposażenia wnętrz i architektury. Konkuruje nie tylko z innymi producentami płytek ze starej cegły, ale także z klinkierem oraz produktami imitującymi starą cegłę. Dlatego strategicznym wyróżnikiem marki powinno być nie samo określenie „ceglane płytki”, lecz</a:t>
            </a:r>
            <a:r>
              <a:rPr sz="1050" b="1" i="0">
                <a:solidFill>
                  <a:srgbClr val="000000"/>
                </a:solidFill>
                <a:latin typeface="Hanken Grotesk"/>
              </a:rPr>
              <a:t> autentyczne pochodzenie materiału i jego historia</a:t>
            </a:r>
            <a:r>
              <a:rPr sz="1050" b="0" i="0">
                <a:solidFill>
                  <a:srgbClr val="000000"/>
                </a:solidFill>
                <a:latin typeface="Hanken Grotesk"/>
              </a:rPr>
              <a:t> .</a:t>
            </a:r>
          </a:p>
        </p:txBody>
      </p:sp>
      <p:sp>
        <p:nvSpPr>
          <p:cNvPr id="30" name="tekst"/>
          <p:cNvSpPr txBox="1"/>
          <p:nvPr/>
        </p:nvSpPr>
        <p:spPr>
          <a:xfrm>
            <a:off x="1077962" y="7830741"/>
            <a:ext cx="2410123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600" b="0" i="0" spc="-39">
                <a:solidFill>
                  <a:srgbClr val="000000"/>
                </a:solidFill>
                <a:latin typeface="Hanken Grotesk"/>
              </a:rPr>
              <a:t>Brand Essence / DNA marki</a:t>
            </a:r>
          </a:p>
        </p:txBody>
      </p:sp>
      <p:sp>
        <p:nvSpPr>
          <p:cNvPr id="31" name="tekst"/>
          <p:cNvSpPr txBox="1"/>
          <p:nvPr/>
        </p:nvSpPr>
        <p:spPr>
          <a:xfrm>
            <a:off x="723900" y="7840266"/>
            <a:ext cx="315962" cy="274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 spc="-90">
                <a:solidFill>
                  <a:srgbClr val="ED6842"/>
                </a:solidFill>
                <a:latin typeface="Overpass Mono"/>
              </a:rPr>
              <a:t>06</a:t>
            </a:r>
          </a:p>
        </p:txBody>
      </p:sp>
      <p:sp>
        <p:nvSpPr>
          <p:cNvPr id="32" name="tekst"/>
          <p:cNvSpPr txBox="1"/>
          <p:nvPr/>
        </p:nvSpPr>
        <p:spPr>
          <a:xfrm>
            <a:off x="723900" y="8286006"/>
            <a:ext cx="2905125" cy="6799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Autentyczna historia materiału, która wraca do życia we współczesnych wnętrzach i architekturze.</a:t>
            </a:r>
          </a:p>
        </p:txBody>
      </p:sp>
      <p:sp>
        <p:nvSpPr>
          <p:cNvPr id="33" name="tekst"/>
          <p:cNvSpPr txBox="1"/>
          <p:nvPr/>
        </p:nvSpPr>
        <p:spPr>
          <a:xfrm>
            <a:off x="723900" y="9118402"/>
            <a:ext cx="2905125" cy="6247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Istota marki</a:t>
            </a:r>
            <a:br/>
            <a:r>
              <a:rPr sz="1050" b="0" i="0">
                <a:solidFill>
                  <a:srgbClr val="000000"/>
                </a:solidFill>
                <a:latin typeface="Hanken Grotesk"/>
              </a:rPr>
              <a:t>Ceglany Renesans przywraca wartość autentycznej starej cegle, przekształcając</a:t>
            </a:r>
          </a:p>
        </p:txBody>
      </p:sp>
      <p:sp>
        <p:nvSpPr>
          <p:cNvPr id="34" name="tekst"/>
          <p:cNvSpPr txBox="1"/>
          <p:nvPr/>
        </p:nvSpPr>
        <p:spPr>
          <a:xfrm>
            <a:off x="3990975" y="971550"/>
            <a:ext cx="2905125" cy="3981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materiał z historią w element współczesnych wnętrz i elewacji.</a:t>
            </a:r>
          </a:p>
        </p:txBody>
      </p:sp>
      <p:sp>
        <p:nvSpPr>
          <p:cNvPr id="35" name="tekst"/>
          <p:cNvSpPr txBox="1"/>
          <p:nvPr/>
        </p:nvSpPr>
        <p:spPr>
          <a:xfrm>
            <a:off x="3990975" y="1539180"/>
            <a:ext cx="2905125" cy="9066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Co marka wnosi do życia klienta</a:t>
            </a:r>
            <a:br/>
            <a:r>
              <a:rPr sz="1050" b="0" i="0">
                <a:solidFill>
                  <a:srgbClr val="000000"/>
                </a:solidFill>
                <a:latin typeface="Hanken Grotesk"/>
              </a:rPr>
              <a:t>Możliwość stworzenia przestrzeni z charakterem, której nie da się uzyskać za pomocą masowej imitacji.</a:t>
            </a:r>
          </a:p>
        </p:txBody>
      </p:sp>
      <p:sp>
        <p:nvSpPr>
          <p:cNvPr id="36" name="tekst"/>
          <p:cNvSpPr txBox="1"/>
          <p:nvPr/>
        </p:nvSpPr>
        <p:spPr>
          <a:xfrm>
            <a:off x="3990975" y="2579191"/>
            <a:ext cx="2905125" cy="9066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Co odróżnia markę</a:t>
            </a:r>
            <a:br/>
            <a:r>
              <a:rPr sz="1050" b="0" i="0">
                <a:solidFill>
                  <a:srgbClr val="000000"/>
                </a:solidFill>
                <a:latin typeface="Hanken Grotesk"/>
              </a:rPr>
              <a:t>Nie stylizuje nowego materiału na stary. Pracuje z oryginalną cegłą rozbiórkową i zachowuje jej naturalne cechy.</a:t>
            </a:r>
          </a:p>
        </p:txBody>
      </p:sp>
      <p:sp>
        <p:nvSpPr>
          <p:cNvPr id="37" name="tekst"/>
          <p:cNvSpPr txBox="1"/>
          <p:nvPr/>
        </p:nvSpPr>
        <p:spPr>
          <a:xfrm>
            <a:off x="4143375" y="3752552"/>
            <a:ext cx="2205186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JAKIE EMOCJE POWINNA BUDZIĆ</a:t>
            </a:r>
          </a:p>
        </p:txBody>
      </p:sp>
      <p:sp>
        <p:nvSpPr>
          <p:cNvPr id="38" name="tekst"/>
          <p:cNvSpPr txBox="1"/>
          <p:nvPr/>
        </p:nvSpPr>
        <p:spPr>
          <a:xfrm>
            <a:off x="4181475" y="4026843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autentyczność,</a:t>
            </a:r>
          </a:p>
        </p:txBody>
      </p:sp>
      <p:sp>
        <p:nvSpPr>
          <p:cNvPr id="39" name="tekst"/>
          <p:cNvSpPr txBox="1"/>
          <p:nvPr/>
        </p:nvSpPr>
        <p:spPr>
          <a:xfrm>
            <a:off x="4181475" y="4329708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trwałość,</a:t>
            </a:r>
          </a:p>
        </p:txBody>
      </p:sp>
      <p:sp>
        <p:nvSpPr>
          <p:cNvPr id="40" name="tekst"/>
          <p:cNvSpPr txBox="1"/>
          <p:nvPr/>
        </p:nvSpPr>
        <p:spPr>
          <a:xfrm>
            <a:off x="4181475" y="4632573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szacunek do materiału,</a:t>
            </a:r>
          </a:p>
        </p:txBody>
      </p:sp>
      <p:sp>
        <p:nvSpPr>
          <p:cNvPr id="41" name="tekst"/>
          <p:cNvSpPr txBox="1"/>
          <p:nvPr/>
        </p:nvSpPr>
        <p:spPr>
          <a:xfrm>
            <a:off x="4181475" y="4935438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indywidualność,</a:t>
            </a:r>
          </a:p>
        </p:txBody>
      </p:sp>
      <p:sp>
        <p:nvSpPr>
          <p:cNvPr id="42" name="tekst"/>
          <p:cNvSpPr txBox="1"/>
          <p:nvPr/>
        </p:nvSpPr>
        <p:spPr>
          <a:xfrm>
            <a:off x="4181475" y="5238304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ponadczasowość.</a:t>
            </a:r>
          </a:p>
        </p:txBody>
      </p:sp>
      <p:sp>
        <p:nvSpPr>
          <p:cNvPr id="43" name="tekst"/>
          <p:cNvSpPr txBox="1"/>
          <p:nvPr/>
        </p:nvSpPr>
        <p:spPr>
          <a:xfrm>
            <a:off x="3990975" y="5731669"/>
            <a:ext cx="2905125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i="0" spc="-12">
                <a:solidFill>
                  <a:srgbClr val="000000"/>
                </a:solidFill>
                <a:latin typeface="Hanken Grotesk"/>
              </a:rPr>
              <a:t>Czego tutaj nie mieszać</a:t>
            </a:r>
          </a:p>
        </p:txBody>
      </p:sp>
      <p:sp>
        <p:nvSpPr>
          <p:cNvPr id="44" name="tekst"/>
          <p:cNvSpPr txBox="1"/>
          <p:nvPr/>
        </p:nvSpPr>
        <p:spPr>
          <a:xfrm>
            <a:off x="3990975" y="6036469"/>
            <a:ext cx="29051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Do Brand Essence nie wkładałabym:</a:t>
            </a:r>
          </a:p>
        </p:txBody>
      </p:sp>
      <p:sp>
        <p:nvSpPr>
          <p:cNvPr id="45" name="tekst"/>
          <p:cNvSpPr txBox="1"/>
          <p:nvPr/>
        </p:nvSpPr>
        <p:spPr>
          <a:xfrm>
            <a:off x="4181475" y="6396484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ceny,</a:t>
            </a:r>
          </a:p>
        </p:txBody>
      </p:sp>
      <p:sp>
        <p:nvSpPr>
          <p:cNvPr id="46" name="tekst"/>
          <p:cNvSpPr txBox="1"/>
          <p:nvPr/>
        </p:nvSpPr>
        <p:spPr>
          <a:xfrm>
            <a:off x="4181475" y="6699349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szybkiej wysyłki,</a:t>
            </a:r>
          </a:p>
        </p:txBody>
      </p:sp>
      <p:sp>
        <p:nvSpPr>
          <p:cNvPr id="47" name="tekst"/>
          <p:cNvSpPr txBox="1"/>
          <p:nvPr/>
        </p:nvSpPr>
        <p:spPr>
          <a:xfrm>
            <a:off x="4181475" y="7002214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rabatów,</a:t>
            </a:r>
          </a:p>
        </p:txBody>
      </p:sp>
      <p:sp>
        <p:nvSpPr>
          <p:cNvPr id="48" name="tekst"/>
          <p:cNvSpPr txBox="1"/>
          <p:nvPr/>
        </p:nvSpPr>
        <p:spPr>
          <a:xfrm>
            <a:off x="4181475" y="7305080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szerokości oferty,</a:t>
            </a:r>
          </a:p>
        </p:txBody>
      </p:sp>
      <p:sp>
        <p:nvSpPr>
          <p:cNvPr id="49" name="tekst"/>
          <p:cNvSpPr txBox="1"/>
          <p:nvPr/>
        </p:nvSpPr>
        <p:spPr>
          <a:xfrm>
            <a:off x="4181475" y="7607945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obsługi klienta,</a:t>
            </a:r>
          </a:p>
        </p:txBody>
      </p:sp>
      <p:sp>
        <p:nvSpPr>
          <p:cNvPr id="50" name="tekst"/>
          <p:cNvSpPr txBox="1"/>
          <p:nvPr/>
        </p:nvSpPr>
        <p:spPr>
          <a:xfrm>
            <a:off x="4181475" y="7910810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informacji o transporcie.</a:t>
            </a:r>
          </a:p>
        </p:txBody>
      </p:sp>
      <p:sp>
        <p:nvSpPr>
          <p:cNvPr id="51" name="tekst"/>
          <p:cNvSpPr txBox="1"/>
          <p:nvPr/>
        </p:nvSpPr>
        <p:spPr>
          <a:xfrm>
            <a:off x="609600" y="10353675"/>
            <a:ext cx="229790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 · BRAND BOOK</a:t>
            </a:r>
          </a:p>
        </p:txBody>
      </p:sp>
      <p:sp>
        <p:nvSpPr>
          <p:cNvPr id="52" name="tekst"/>
          <p:cNvSpPr txBox="1"/>
          <p:nvPr/>
        </p:nvSpPr>
        <p:spPr>
          <a:xfrm>
            <a:off x="6180534" y="10353675"/>
            <a:ext cx="82986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WERSJA 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lo/linia"/>
          <p:cNvSpPr/>
          <p:nvPr/>
        </p:nvSpPr>
        <p:spPr>
          <a:xfrm>
            <a:off x="0" y="0"/>
            <a:ext cx="7562850" cy="10696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lo/linia"/>
          <p:cNvSpPr/>
          <p:nvPr/>
        </p:nvSpPr>
        <p:spPr>
          <a:xfrm>
            <a:off x="0" y="0"/>
            <a:ext cx="533400" cy="5334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lo/linia"/>
          <p:cNvSpPr/>
          <p:nvPr/>
        </p:nvSpPr>
        <p:spPr>
          <a:xfrm>
            <a:off x="723900" y="1295400"/>
            <a:ext cx="284797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lo/linia"/>
          <p:cNvSpPr/>
          <p:nvPr/>
        </p:nvSpPr>
        <p:spPr>
          <a:xfrm>
            <a:off x="723900" y="3605957"/>
            <a:ext cx="284797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lo/linia"/>
          <p:cNvSpPr/>
          <p:nvPr/>
        </p:nvSpPr>
        <p:spPr>
          <a:xfrm>
            <a:off x="723900" y="7316539"/>
            <a:ext cx="284797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lo/linia"/>
          <p:cNvSpPr/>
          <p:nvPr/>
        </p:nvSpPr>
        <p:spPr>
          <a:xfrm>
            <a:off x="4010025" y="3606719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lo/linia"/>
          <p:cNvSpPr/>
          <p:nvPr/>
        </p:nvSpPr>
        <p:spPr>
          <a:xfrm>
            <a:off x="4010025" y="3909584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lo/linia"/>
          <p:cNvSpPr/>
          <p:nvPr/>
        </p:nvSpPr>
        <p:spPr>
          <a:xfrm>
            <a:off x="4010025" y="4212449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lo/linia"/>
          <p:cNvSpPr/>
          <p:nvPr/>
        </p:nvSpPr>
        <p:spPr>
          <a:xfrm>
            <a:off x="4010025" y="4515314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lo/linia"/>
          <p:cNvSpPr/>
          <p:nvPr/>
        </p:nvSpPr>
        <p:spPr>
          <a:xfrm>
            <a:off x="4010025" y="6486841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lo/linia"/>
          <p:cNvSpPr/>
          <p:nvPr/>
        </p:nvSpPr>
        <p:spPr>
          <a:xfrm>
            <a:off x="4010025" y="6789706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lo/linia"/>
          <p:cNvSpPr/>
          <p:nvPr/>
        </p:nvSpPr>
        <p:spPr>
          <a:xfrm>
            <a:off x="4010025" y="7092571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lo/linia"/>
          <p:cNvSpPr/>
          <p:nvPr/>
        </p:nvSpPr>
        <p:spPr>
          <a:xfrm>
            <a:off x="4010025" y="7395436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lo/linia"/>
          <p:cNvSpPr/>
          <p:nvPr/>
        </p:nvSpPr>
        <p:spPr>
          <a:xfrm>
            <a:off x="609600" y="10267950"/>
            <a:ext cx="634365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kst"/>
          <p:cNvSpPr txBox="1"/>
          <p:nvPr/>
        </p:nvSpPr>
        <p:spPr>
          <a:xfrm>
            <a:off x="216694" y="161925"/>
            <a:ext cx="157014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300" b="1" i="0">
                <a:solidFill>
                  <a:srgbClr val="000000"/>
                </a:solidFill>
                <a:latin typeface="Overpass Mono"/>
              </a:rPr>
              <a:t>9</a:t>
            </a:r>
          </a:p>
        </p:txBody>
      </p:sp>
      <p:sp>
        <p:nvSpPr>
          <p:cNvPr id="17" name="tekst"/>
          <p:cNvSpPr txBox="1"/>
          <p:nvPr/>
        </p:nvSpPr>
        <p:spPr>
          <a:xfrm>
            <a:off x="762000" y="209550"/>
            <a:ext cx="2066181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CZĘŚĆ I · FUNDAMENTY MARKI</a:t>
            </a:r>
          </a:p>
        </p:txBody>
      </p:sp>
      <p:sp>
        <p:nvSpPr>
          <p:cNvPr id="18" name="tekst"/>
          <p:cNvSpPr txBox="1"/>
          <p:nvPr/>
        </p:nvSpPr>
        <p:spPr>
          <a:xfrm>
            <a:off x="5716935" y="209550"/>
            <a:ext cx="1293465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</a:t>
            </a:r>
          </a:p>
        </p:txBody>
      </p:sp>
      <p:sp>
        <p:nvSpPr>
          <p:cNvPr id="19" name="tekst"/>
          <p:cNvSpPr txBox="1"/>
          <p:nvPr/>
        </p:nvSpPr>
        <p:spPr>
          <a:xfrm>
            <a:off x="1077962" y="1447800"/>
            <a:ext cx="496639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600" b="0" i="0" spc="-39">
                <a:solidFill>
                  <a:srgbClr val="000000"/>
                </a:solidFill>
                <a:latin typeface="Hanken Grotesk"/>
              </a:rPr>
              <a:t>Misja</a:t>
            </a:r>
          </a:p>
        </p:txBody>
      </p:sp>
      <p:sp>
        <p:nvSpPr>
          <p:cNvPr id="20" name="tekst"/>
          <p:cNvSpPr txBox="1"/>
          <p:nvPr/>
        </p:nvSpPr>
        <p:spPr>
          <a:xfrm>
            <a:off x="723900" y="1457325"/>
            <a:ext cx="315962" cy="274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 spc="-90">
                <a:solidFill>
                  <a:srgbClr val="ED6842"/>
                </a:solidFill>
                <a:latin typeface="Overpass Mono"/>
              </a:rPr>
              <a:t>07</a:t>
            </a:r>
          </a:p>
        </p:txBody>
      </p:sp>
      <p:sp>
        <p:nvSpPr>
          <p:cNvPr id="21" name="tekst"/>
          <p:cNvSpPr txBox="1"/>
          <p:nvPr/>
        </p:nvSpPr>
        <p:spPr>
          <a:xfrm>
            <a:off x="723900" y="1903065"/>
            <a:ext cx="2905125" cy="13599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Naszą misją jest przywracanie wartości autentycznej starej cegle poprzez staranną selekcję i obróbkę materiału, tak aby mógł ponownie stać się trwałym i charakterystycznym elementem współczesnych wnętrz, elewacji i przestrzeni użytkowych.</a:t>
            </a:r>
          </a:p>
        </p:txBody>
      </p:sp>
      <p:sp>
        <p:nvSpPr>
          <p:cNvPr id="22" name="tekst"/>
          <p:cNvSpPr txBox="1"/>
          <p:nvPr/>
        </p:nvSpPr>
        <p:spPr>
          <a:xfrm>
            <a:off x="1077962" y="3758357"/>
            <a:ext cx="520750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600" b="0" i="0" spc="-39">
                <a:solidFill>
                  <a:srgbClr val="000000"/>
                </a:solidFill>
                <a:latin typeface="Hanken Grotesk"/>
              </a:rPr>
              <a:t>Wizja</a:t>
            </a:r>
          </a:p>
        </p:txBody>
      </p:sp>
      <p:sp>
        <p:nvSpPr>
          <p:cNvPr id="23" name="tekst"/>
          <p:cNvSpPr txBox="1"/>
          <p:nvPr/>
        </p:nvSpPr>
        <p:spPr>
          <a:xfrm>
            <a:off x="723900" y="3767882"/>
            <a:ext cx="315962" cy="274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 spc="-90">
                <a:solidFill>
                  <a:srgbClr val="ED6842"/>
                </a:solidFill>
                <a:latin typeface="Overpass Mono"/>
              </a:rPr>
              <a:t>08</a:t>
            </a:r>
          </a:p>
        </p:txBody>
      </p:sp>
      <p:sp>
        <p:nvSpPr>
          <p:cNvPr id="24" name="tekst"/>
          <p:cNvSpPr txBox="1"/>
          <p:nvPr/>
        </p:nvSpPr>
        <p:spPr>
          <a:xfrm>
            <a:off x="723900" y="4213622"/>
            <a:ext cx="2905125" cy="11333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Chcemy, aby autentyczna stara cegła była naturalnym wyborem dla osób, które szukają trwałych, ponadczasowych i niepowtarzalnych materiałów do współczesnych wnętrz i architektury.</a:t>
            </a:r>
          </a:p>
        </p:txBody>
      </p:sp>
      <p:sp>
        <p:nvSpPr>
          <p:cNvPr id="25" name="tekst"/>
          <p:cNvSpPr txBox="1"/>
          <p:nvPr/>
        </p:nvSpPr>
        <p:spPr>
          <a:xfrm>
            <a:off x="723900" y="5480298"/>
            <a:ext cx="29051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lub</a:t>
            </a:r>
          </a:p>
        </p:txBody>
      </p:sp>
      <p:sp>
        <p:nvSpPr>
          <p:cNvPr id="26" name="tekst"/>
          <p:cNvSpPr txBox="1"/>
          <p:nvPr/>
        </p:nvSpPr>
        <p:spPr>
          <a:xfrm>
            <a:off x="723900" y="5840313"/>
            <a:ext cx="2905125" cy="11333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Chcemy rozwijać markę, która pokazuje, że materiały z historią mogą mieć trwałe miejsce we współczesnym projektowaniu - nie jako stylizacja, lecz jako autentyczny element architektury.</a:t>
            </a:r>
          </a:p>
        </p:txBody>
      </p:sp>
      <p:sp>
        <p:nvSpPr>
          <p:cNvPr id="27" name="tekst"/>
          <p:cNvSpPr txBox="1"/>
          <p:nvPr/>
        </p:nvSpPr>
        <p:spPr>
          <a:xfrm>
            <a:off x="1077962" y="7468939"/>
            <a:ext cx="1354038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600" b="0" i="0" spc="-39">
                <a:solidFill>
                  <a:srgbClr val="000000"/>
                </a:solidFill>
                <a:latin typeface="Hanken Grotesk"/>
              </a:rPr>
              <a:t>Wartości marki</a:t>
            </a:r>
          </a:p>
        </p:txBody>
      </p:sp>
      <p:sp>
        <p:nvSpPr>
          <p:cNvPr id="28" name="tekst"/>
          <p:cNvSpPr txBox="1"/>
          <p:nvPr/>
        </p:nvSpPr>
        <p:spPr>
          <a:xfrm>
            <a:off x="723900" y="7478464"/>
            <a:ext cx="315962" cy="274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 spc="-90">
                <a:solidFill>
                  <a:srgbClr val="ED6842"/>
                </a:solidFill>
                <a:latin typeface="Overpass Mono"/>
              </a:rPr>
              <a:t>09</a:t>
            </a:r>
          </a:p>
        </p:txBody>
      </p:sp>
      <p:sp>
        <p:nvSpPr>
          <p:cNvPr id="29" name="tekst"/>
          <p:cNvSpPr txBox="1"/>
          <p:nvPr/>
        </p:nvSpPr>
        <p:spPr>
          <a:xfrm>
            <a:off x="723900" y="7924205"/>
            <a:ext cx="29051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Autentyczność</a:t>
            </a:r>
            <a:r>
              <a:rPr sz="1050" b="0" i="0">
                <a:solidFill>
                  <a:srgbClr val="000000"/>
                </a:solidFill>
                <a:latin typeface="Hanken Grotesk"/>
              </a:rPr>
              <a:t> - prawdziwy materiał zamiast imitacji.</a:t>
            </a:r>
          </a:p>
        </p:txBody>
      </p:sp>
      <p:sp>
        <p:nvSpPr>
          <p:cNvPr id="30" name="tekst"/>
          <p:cNvSpPr txBox="1"/>
          <p:nvPr/>
        </p:nvSpPr>
        <p:spPr>
          <a:xfrm>
            <a:off x="723900" y="8510885"/>
            <a:ext cx="29051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Szacunek do materiału</a:t>
            </a:r>
            <a:r>
              <a:rPr sz="1050" b="0" i="0">
                <a:solidFill>
                  <a:srgbClr val="000000"/>
                </a:solidFill>
                <a:latin typeface="Hanken Grotesk"/>
              </a:rPr>
              <a:t> - zachowanie jego historii i naturalnych cech.</a:t>
            </a:r>
          </a:p>
        </p:txBody>
      </p:sp>
      <p:sp>
        <p:nvSpPr>
          <p:cNvPr id="31" name="tekst"/>
          <p:cNvSpPr txBox="1"/>
          <p:nvPr/>
        </p:nvSpPr>
        <p:spPr>
          <a:xfrm>
            <a:off x="723900" y="9097566"/>
            <a:ext cx="29051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Rzemiosło</a:t>
            </a:r>
            <a:r>
              <a:rPr sz="1050" b="0" i="0">
                <a:solidFill>
                  <a:srgbClr val="000000"/>
                </a:solidFill>
                <a:latin typeface="Hanken Grotesk"/>
              </a:rPr>
              <a:t> - staranne przygotowanie do współczesnego zastosowania.</a:t>
            </a:r>
          </a:p>
        </p:txBody>
      </p:sp>
      <p:sp>
        <p:nvSpPr>
          <p:cNvPr id="32" name="tekst"/>
          <p:cNvSpPr txBox="1"/>
          <p:nvPr/>
        </p:nvSpPr>
        <p:spPr>
          <a:xfrm>
            <a:off x="3990975" y="952500"/>
            <a:ext cx="29051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Ponadczasowość</a:t>
            </a:r>
            <a:r>
              <a:rPr sz="1050" b="0" i="0">
                <a:solidFill>
                  <a:srgbClr val="000000"/>
                </a:solidFill>
                <a:latin typeface="Hanken Grotesk"/>
              </a:rPr>
              <a:t> - estetyka oparta na trwałości, nie chwilowych trendach.</a:t>
            </a:r>
          </a:p>
        </p:txBody>
      </p:sp>
      <p:sp>
        <p:nvSpPr>
          <p:cNvPr id="33" name="tekst"/>
          <p:cNvSpPr txBox="1"/>
          <p:nvPr/>
        </p:nvSpPr>
        <p:spPr>
          <a:xfrm>
            <a:off x="3990975" y="1539180"/>
            <a:ext cx="29051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Odpowiedzialność</a:t>
            </a:r>
            <a:r>
              <a:rPr sz="1050" b="0" i="0">
                <a:solidFill>
                  <a:srgbClr val="000000"/>
                </a:solidFill>
                <a:latin typeface="Hanken Grotesk"/>
              </a:rPr>
              <a:t> - ponowne wykorzystanie wartościowego materiału.</a:t>
            </a:r>
          </a:p>
        </p:txBody>
      </p:sp>
      <p:sp>
        <p:nvSpPr>
          <p:cNvPr id="34" name="tekst"/>
          <p:cNvSpPr txBox="1"/>
          <p:nvPr/>
        </p:nvSpPr>
        <p:spPr>
          <a:xfrm>
            <a:off x="3990975" y="2259211"/>
            <a:ext cx="2905125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i="0" spc="-12">
                <a:solidFill>
                  <a:srgbClr val="000000"/>
                </a:solidFill>
                <a:latin typeface="Hanken Grotesk"/>
              </a:rPr>
              <a:t>1. Autentyczność</a:t>
            </a:r>
          </a:p>
        </p:txBody>
      </p:sp>
      <p:sp>
        <p:nvSpPr>
          <p:cNvPr id="35" name="tekst"/>
          <p:cNvSpPr txBox="1"/>
          <p:nvPr/>
        </p:nvSpPr>
        <p:spPr>
          <a:xfrm>
            <a:off x="3990975" y="2564011"/>
            <a:ext cx="29051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Pracujemy z prawdziwą starą cegłą, a nie z materiałem stylizowanym na historyczny.</a:t>
            </a:r>
          </a:p>
        </p:txBody>
      </p:sp>
      <p:sp>
        <p:nvSpPr>
          <p:cNvPr id="36" name="tekst"/>
          <p:cNvSpPr txBox="1"/>
          <p:nvPr/>
        </p:nvSpPr>
        <p:spPr>
          <a:xfrm>
            <a:off x="3990975" y="3150691"/>
            <a:ext cx="29051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W praktyce oznacza to:</a:t>
            </a:r>
          </a:p>
        </p:txBody>
      </p:sp>
      <p:sp>
        <p:nvSpPr>
          <p:cNvPr id="37" name="tekst"/>
          <p:cNvSpPr txBox="1"/>
          <p:nvPr/>
        </p:nvSpPr>
        <p:spPr>
          <a:xfrm>
            <a:off x="4181475" y="3510707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pokazujemy naturalne różnice materiału,</a:t>
            </a:r>
          </a:p>
        </p:txBody>
      </p:sp>
      <p:sp>
        <p:nvSpPr>
          <p:cNvPr id="38" name="tekst"/>
          <p:cNvSpPr txBox="1"/>
          <p:nvPr/>
        </p:nvSpPr>
        <p:spPr>
          <a:xfrm>
            <a:off x="4181475" y="3813572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nie ukrywamy śladów czasu,</a:t>
            </a:r>
          </a:p>
        </p:txBody>
      </p:sp>
      <p:sp>
        <p:nvSpPr>
          <p:cNvPr id="39" name="tekst"/>
          <p:cNvSpPr txBox="1"/>
          <p:nvPr/>
        </p:nvSpPr>
        <p:spPr>
          <a:xfrm>
            <a:off x="4181475" y="4116437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nie próbujemy tworzyć sztucznej perfekcji,</a:t>
            </a:r>
          </a:p>
        </p:txBody>
      </p:sp>
      <p:sp>
        <p:nvSpPr>
          <p:cNvPr id="40" name="tekst"/>
          <p:cNvSpPr txBox="1"/>
          <p:nvPr/>
        </p:nvSpPr>
        <p:spPr>
          <a:xfrm>
            <a:off x="4181475" y="4419302"/>
            <a:ext cx="27146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komunikujemy prawdziwe pochodzenie produktu.</a:t>
            </a:r>
          </a:p>
        </p:txBody>
      </p:sp>
      <p:sp>
        <p:nvSpPr>
          <p:cNvPr id="41" name="tekst"/>
          <p:cNvSpPr txBox="1"/>
          <p:nvPr/>
        </p:nvSpPr>
        <p:spPr>
          <a:xfrm>
            <a:off x="3990975" y="5139333"/>
            <a:ext cx="2905125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i="0" spc="-12">
                <a:solidFill>
                  <a:srgbClr val="000000"/>
                </a:solidFill>
                <a:latin typeface="Hanken Grotesk"/>
              </a:rPr>
              <a:t>2. Szacunek do materiału</a:t>
            </a:r>
          </a:p>
        </p:txBody>
      </p:sp>
      <p:sp>
        <p:nvSpPr>
          <p:cNvPr id="42" name="tekst"/>
          <p:cNvSpPr txBox="1"/>
          <p:nvPr/>
        </p:nvSpPr>
        <p:spPr>
          <a:xfrm>
            <a:off x="3990975" y="5444133"/>
            <a:ext cx="29051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Stara cegła nie jest dla marki odpadem, lecz materiałem z historią i wartością.</a:t>
            </a:r>
          </a:p>
        </p:txBody>
      </p:sp>
      <p:sp>
        <p:nvSpPr>
          <p:cNvPr id="43" name="tekst"/>
          <p:cNvSpPr txBox="1"/>
          <p:nvPr/>
        </p:nvSpPr>
        <p:spPr>
          <a:xfrm>
            <a:off x="3990975" y="6030813"/>
            <a:ext cx="29051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W praktyce oznacza to:</a:t>
            </a:r>
          </a:p>
        </p:txBody>
      </p:sp>
      <p:sp>
        <p:nvSpPr>
          <p:cNvPr id="44" name="tekst"/>
          <p:cNvSpPr txBox="1"/>
          <p:nvPr/>
        </p:nvSpPr>
        <p:spPr>
          <a:xfrm>
            <a:off x="4181475" y="6390829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staranną selekcję,</a:t>
            </a:r>
          </a:p>
        </p:txBody>
      </p:sp>
      <p:sp>
        <p:nvSpPr>
          <p:cNvPr id="45" name="tekst"/>
          <p:cNvSpPr txBox="1"/>
          <p:nvPr/>
        </p:nvSpPr>
        <p:spPr>
          <a:xfrm>
            <a:off x="4181475" y="6693694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odpowiednie przygotowanie materiału,</a:t>
            </a:r>
          </a:p>
        </p:txBody>
      </p:sp>
      <p:sp>
        <p:nvSpPr>
          <p:cNvPr id="46" name="tekst"/>
          <p:cNvSpPr txBox="1"/>
          <p:nvPr/>
        </p:nvSpPr>
        <p:spPr>
          <a:xfrm>
            <a:off x="4181475" y="6996559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zachowanie jego charakterystycznych cech,</a:t>
            </a:r>
          </a:p>
        </p:txBody>
      </p:sp>
      <p:sp>
        <p:nvSpPr>
          <p:cNvPr id="47" name="tekst"/>
          <p:cNvSpPr txBox="1"/>
          <p:nvPr/>
        </p:nvSpPr>
        <p:spPr>
          <a:xfrm>
            <a:off x="4181475" y="7299424"/>
            <a:ext cx="27146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ponowne wykorzystanie zamiast zastępowania go imitacją.</a:t>
            </a:r>
          </a:p>
        </p:txBody>
      </p:sp>
      <p:sp>
        <p:nvSpPr>
          <p:cNvPr id="48" name="tekst"/>
          <p:cNvSpPr txBox="1"/>
          <p:nvPr/>
        </p:nvSpPr>
        <p:spPr>
          <a:xfrm>
            <a:off x="609600" y="10353675"/>
            <a:ext cx="229790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 · BRAND BOOK</a:t>
            </a:r>
          </a:p>
        </p:txBody>
      </p:sp>
      <p:sp>
        <p:nvSpPr>
          <p:cNvPr id="49" name="tekst"/>
          <p:cNvSpPr txBox="1"/>
          <p:nvPr/>
        </p:nvSpPr>
        <p:spPr>
          <a:xfrm>
            <a:off x="6180534" y="10353675"/>
            <a:ext cx="82986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WERSJA 1.0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lo/linia"/>
          <p:cNvSpPr/>
          <p:nvPr/>
        </p:nvSpPr>
        <p:spPr>
          <a:xfrm>
            <a:off x="0" y="0"/>
            <a:ext cx="7562850" cy="10696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lo/linia"/>
          <p:cNvSpPr/>
          <p:nvPr/>
        </p:nvSpPr>
        <p:spPr>
          <a:xfrm>
            <a:off x="0" y="0"/>
            <a:ext cx="533400" cy="5334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lo/linia"/>
          <p:cNvSpPr/>
          <p:nvPr/>
        </p:nvSpPr>
        <p:spPr>
          <a:xfrm>
            <a:off x="742950" y="2793373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lo/linia"/>
          <p:cNvSpPr/>
          <p:nvPr/>
        </p:nvSpPr>
        <p:spPr>
          <a:xfrm>
            <a:off x="742950" y="3096238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lo/linia"/>
          <p:cNvSpPr/>
          <p:nvPr/>
        </p:nvSpPr>
        <p:spPr>
          <a:xfrm>
            <a:off x="742950" y="3399103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lo/linia"/>
          <p:cNvSpPr/>
          <p:nvPr/>
        </p:nvSpPr>
        <p:spPr>
          <a:xfrm>
            <a:off x="742950" y="3701969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lo/linia"/>
          <p:cNvSpPr/>
          <p:nvPr/>
        </p:nvSpPr>
        <p:spPr>
          <a:xfrm>
            <a:off x="742950" y="6126825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lo/linia"/>
          <p:cNvSpPr/>
          <p:nvPr/>
        </p:nvSpPr>
        <p:spPr>
          <a:xfrm>
            <a:off x="742950" y="6429691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lo/linia"/>
          <p:cNvSpPr/>
          <p:nvPr/>
        </p:nvSpPr>
        <p:spPr>
          <a:xfrm>
            <a:off x="742950" y="6732556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lo/linia"/>
          <p:cNvSpPr/>
          <p:nvPr/>
        </p:nvSpPr>
        <p:spPr>
          <a:xfrm>
            <a:off x="742950" y="7035421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lo/linia"/>
          <p:cNvSpPr/>
          <p:nvPr/>
        </p:nvSpPr>
        <p:spPr>
          <a:xfrm>
            <a:off x="742950" y="9197447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lo/linia"/>
          <p:cNvSpPr/>
          <p:nvPr/>
        </p:nvSpPr>
        <p:spPr>
          <a:xfrm>
            <a:off x="4010025" y="1048512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lo/linia"/>
          <p:cNvSpPr/>
          <p:nvPr/>
        </p:nvSpPr>
        <p:spPr>
          <a:xfrm>
            <a:off x="4010025" y="1578042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lo/linia"/>
          <p:cNvSpPr/>
          <p:nvPr/>
        </p:nvSpPr>
        <p:spPr>
          <a:xfrm>
            <a:off x="3990975" y="2278261"/>
            <a:ext cx="284797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lo/linia"/>
          <p:cNvSpPr/>
          <p:nvPr/>
        </p:nvSpPr>
        <p:spPr>
          <a:xfrm>
            <a:off x="609600" y="10267950"/>
            <a:ext cx="634365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kst"/>
          <p:cNvSpPr txBox="1"/>
          <p:nvPr/>
        </p:nvSpPr>
        <p:spPr>
          <a:xfrm>
            <a:off x="166836" y="161925"/>
            <a:ext cx="256729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300" b="1" i="0">
                <a:solidFill>
                  <a:srgbClr val="000000"/>
                </a:solidFill>
                <a:latin typeface="Overpass Mono"/>
              </a:rPr>
              <a:t>10</a:t>
            </a:r>
          </a:p>
        </p:txBody>
      </p:sp>
      <p:sp>
        <p:nvSpPr>
          <p:cNvPr id="18" name="tekst"/>
          <p:cNvSpPr txBox="1"/>
          <p:nvPr/>
        </p:nvSpPr>
        <p:spPr>
          <a:xfrm>
            <a:off x="762000" y="209550"/>
            <a:ext cx="2066181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CZĘŚĆ I · FUNDAMENTY MARKI</a:t>
            </a:r>
          </a:p>
        </p:txBody>
      </p:sp>
      <p:sp>
        <p:nvSpPr>
          <p:cNvPr id="19" name="tekst"/>
          <p:cNvSpPr txBox="1"/>
          <p:nvPr/>
        </p:nvSpPr>
        <p:spPr>
          <a:xfrm>
            <a:off x="5716935" y="209550"/>
            <a:ext cx="1293465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</a:t>
            </a:r>
          </a:p>
        </p:txBody>
      </p:sp>
      <p:sp>
        <p:nvSpPr>
          <p:cNvPr id="20" name="tekst"/>
          <p:cNvSpPr txBox="1"/>
          <p:nvPr/>
        </p:nvSpPr>
        <p:spPr>
          <a:xfrm>
            <a:off x="723900" y="1219200"/>
            <a:ext cx="2905125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i="0" spc="-12">
                <a:solidFill>
                  <a:srgbClr val="000000"/>
                </a:solidFill>
                <a:latin typeface="Hanken Grotesk"/>
              </a:rPr>
              <a:t>3. Rzemiosło i jakość wykonania</a:t>
            </a:r>
          </a:p>
        </p:txBody>
      </p:sp>
      <p:sp>
        <p:nvSpPr>
          <p:cNvPr id="21" name="tekst"/>
          <p:cNvSpPr txBox="1"/>
          <p:nvPr/>
        </p:nvSpPr>
        <p:spPr>
          <a:xfrm>
            <a:off x="723900" y="1524000"/>
            <a:ext cx="2905125" cy="6799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Autentyczny materiał wymaga odpowiedniego przygotowania, aby mógł funkcjonować we współczesnej architekturze.</a:t>
            </a:r>
          </a:p>
        </p:txBody>
      </p:sp>
      <p:sp>
        <p:nvSpPr>
          <p:cNvPr id="22" name="tekst"/>
          <p:cNvSpPr txBox="1"/>
          <p:nvPr/>
        </p:nvSpPr>
        <p:spPr>
          <a:xfrm>
            <a:off x="723900" y="2337346"/>
            <a:ext cx="29051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W praktyce oznacza to:</a:t>
            </a:r>
          </a:p>
        </p:txBody>
      </p:sp>
      <p:sp>
        <p:nvSpPr>
          <p:cNvPr id="23" name="tekst"/>
          <p:cNvSpPr txBox="1"/>
          <p:nvPr/>
        </p:nvSpPr>
        <p:spPr>
          <a:xfrm>
            <a:off x="914400" y="2697361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kontrolę jakości,</a:t>
            </a:r>
          </a:p>
        </p:txBody>
      </p:sp>
      <p:sp>
        <p:nvSpPr>
          <p:cNvPr id="24" name="tekst"/>
          <p:cNvSpPr txBox="1"/>
          <p:nvPr/>
        </p:nvSpPr>
        <p:spPr>
          <a:xfrm>
            <a:off x="914400" y="3000226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powtarzalny proces obróbki,</a:t>
            </a:r>
          </a:p>
        </p:txBody>
      </p:sp>
      <p:sp>
        <p:nvSpPr>
          <p:cNvPr id="25" name="tekst"/>
          <p:cNvSpPr txBox="1"/>
          <p:nvPr/>
        </p:nvSpPr>
        <p:spPr>
          <a:xfrm>
            <a:off x="914400" y="3303091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dbałość o detal,</a:t>
            </a:r>
          </a:p>
        </p:txBody>
      </p:sp>
      <p:sp>
        <p:nvSpPr>
          <p:cNvPr id="26" name="tekst"/>
          <p:cNvSpPr txBox="1"/>
          <p:nvPr/>
        </p:nvSpPr>
        <p:spPr>
          <a:xfrm>
            <a:off x="914400" y="3605957"/>
            <a:ext cx="27146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przygotowanie produktu do realnego zastosowania.</a:t>
            </a:r>
          </a:p>
        </p:txBody>
      </p:sp>
      <p:sp>
        <p:nvSpPr>
          <p:cNvPr id="27" name="tekst"/>
          <p:cNvSpPr txBox="1"/>
          <p:nvPr/>
        </p:nvSpPr>
        <p:spPr>
          <a:xfrm>
            <a:off x="723900" y="4325987"/>
            <a:ext cx="2905125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i="0" spc="-12">
                <a:solidFill>
                  <a:srgbClr val="000000"/>
                </a:solidFill>
                <a:latin typeface="Hanken Grotesk"/>
              </a:rPr>
              <a:t>4. Ponadczasowość</a:t>
            </a:r>
          </a:p>
        </p:txBody>
      </p:sp>
      <p:sp>
        <p:nvSpPr>
          <p:cNvPr id="28" name="tekst"/>
          <p:cNvSpPr txBox="1"/>
          <p:nvPr/>
        </p:nvSpPr>
        <p:spPr>
          <a:xfrm>
            <a:off x="723900" y="4630787"/>
            <a:ext cx="2905125" cy="9066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Marka nie opiera się na chwilowych trendach. Stara cegła ma funkcjonować zarówno w przestrzeniach klasycznych, jak i nowoczesnych.</a:t>
            </a:r>
          </a:p>
        </p:txBody>
      </p:sp>
      <p:sp>
        <p:nvSpPr>
          <p:cNvPr id="29" name="tekst"/>
          <p:cNvSpPr txBox="1"/>
          <p:nvPr/>
        </p:nvSpPr>
        <p:spPr>
          <a:xfrm>
            <a:off x="723900" y="5670798"/>
            <a:ext cx="29051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W praktyce oznacza to:</a:t>
            </a:r>
          </a:p>
        </p:txBody>
      </p:sp>
      <p:sp>
        <p:nvSpPr>
          <p:cNvPr id="30" name="tekst"/>
          <p:cNvSpPr txBox="1"/>
          <p:nvPr/>
        </p:nvSpPr>
        <p:spPr>
          <a:xfrm>
            <a:off x="914400" y="6030813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spokojną komunikację wizualną,</a:t>
            </a:r>
          </a:p>
        </p:txBody>
      </p:sp>
      <p:sp>
        <p:nvSpPr>
          <p:cNvPr id="31" name="tekst"/>
          <p:cNvSpPr txBox="1"/>
          <p:nvPr/>
        </p:nvSpPr>
        <p:spPr>
          <a:xfrm>
            <a:off x="914400" y="6333679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brak przesadnego podążania za modą,</a:t>
            </a:r>
          </a:p>
        </p:txBody>
      </p:sp>
      <p:sp>
        <p:nvSpPr>
          <p:cNvPr id="32" name="tekst"/>
          <p:cNvSpPr txBox="1"/>
          <p:nvPr/>
        </p:nvSpPr>
        <p:spPr>
          <a:xfrm>
            <a:off x="914400" y="6636544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nacisk na trwałość i charakter materiału,</a:t>
            </a:r>
          </a:p>
        </p:txBody>
      </p:sp>
      <p:sp>
        <p:nvSpPr>
          <p:cNvPr id="33" name="tekst"/>
          <p:cNvSpPr txBox="1"/>
          <p:nvPr/>
        </p:nvSpPr>
        <p:spPr>
          <a:xfrm>
            <a:off x="914400" y="6939409"/>
            <a:ext cx="27146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projektowanie marki z myślą o długim okresie użytkowania.</a:t>
            </a:r>
          </a:p>
        </p:txBody>
      </p:sp>
      <p:sp>
        <p:nvSpPr>
          <p:cNvPr id="34" name="tekst"/>
          <p:cNvSpPr txBox="1"/>
          <p:nvPr/>
        </p:nvSpPr>
        <p:spPr>
          <a:xfrm>
            <a:off x="723900" y="7659439"/>
            <a:ext cx="2905125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i="0" spc="-12">
                <a:solidFill>
                  <a:srgbClr val="000000"/>
                </a:solidFill>
                <a:latin typeface="Hanken Grotesk"/>
              </a:rPr>
              <a:t>5. Odpowiedzialne wykorzystanie zasobów</a:t>
            </a:r>
          </a:p>
        </p:txBody>
      </p:sp>
      <p:sp>
        <p:nvSpPr>
          <p:cNvPr id="35" name="tekst"/>
          <p:cNvSpPr txBox="1"/>
          <p:nvPr/>
        </p:nvSpPr>
        <p:spPr>
          <a:xfrm>
            <a:off x="723900" y="8154739"/>
            <a:ext cx="29051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Marka przywraca materiał do obiegu zamiast zastępować go nową imitacją.</a:t>
            </a:r>
          </a:p>
        </p:txBody>
      </p:sp>
      <p:sp>
        <p:nvSpPr>
          <p:cNvPr id="36" name="tekst"/>
          <p:cNvSpPr txBox="1"/>
          <p:nvPr/>
        </p:nvSpPr>
        <p:spPr>
          <a:xfrm>
            <a:off x="723900" y="8741420"/>
            <a:ext cx="29051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W praktyce oznacza to:</a:t>
            </a:r>
          </a:p>
        </p:txBody>
      </p:sp>
      <p:sp>
        <p:nvSpPr>
          <p:cNvPr id="37" name="tekst"/>
          <p:cNvSpPr txBox="1"/>
          <p:nvPr/>
        </p:nvSpPr>
        <p:spPr>
          <a:xfrm>
            <a:off x="914400" y="9101435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ponowne wykorzystanie starej cegły,</a:t>
            </a:r>
          </a:p>
        </p:txBody>
      </p:sp>
      <p:sp>
        <p:nvSpPr>
          <p:cNvPr id="38" name="tekst"/>
          <p:cNvSpPr txBox="1"/>
          <p:nvPr/>
        </p:nvSpPr>
        <p:spPr>
          <a:xfrm>
            <a:off x="4181475" y="952500"/>
            <a:ext cx="27146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ograniczenie marnowania wartościowego materiału,</a:t>
            </a:r>
          </a:p>
        </p:txBody>
      </p:sp>
      <p:sp>
        <p:nvSpPr>
          <p:cNvPr id="39" name="tekst"/>
          <p:cNvSpPr txBox="1"/>
          <p:nvPr/>
        </p:nvSpPr>
        <p:spPr>
          <a:xfrm>
            <a:off x="4181475" y="1482030"/>
            <a:ext cx="27146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komunikację opartą na faktach, bez przesadnych deklaracji ekologicznych.</a:t>
            </a:r>
          </a:p>
        </p:txBody>
      </p:sp>
      <p:sp>
        <p:nvSpPr>
          <p:cNvPr id="40" name="tekst"/>
          <p:cNvSpPr txBox="1"/>
          <p:nvPr/>
        </p:nvSpPr>
        <p:spPr>
          <a:xfrm>
            <a:off x="4345037" y="2430661"/>
            <a:ext cx="1949648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600" b="0" i="0" spc="-39">
                <a:solidFill>
                  <a:srgbClr val="000000"/>
                </a:solidFill>
                <a:latin typeface="Hanken Grotesk"/>
              </a:rPr>
              <a:t>Pozycjonowanie marki</a:t>
            </a:r>
          </a:p>
        </p:txBody>
      </p:sp>
      <p:sp>
        <p:nvSpPr>
          <p:cNvPr id="41" name="tekst"/>
          <p:cNvSpPr txBox="1"/>
          <p:nvPr/>
        </p:nvSpPr>
        <p:spPr>
          <a:xfrm>
            <a:off x="3990975" y="2440186"/>
            <a:ext cx="315962" cy="274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 spc="-90">
                <a:solidFill>
                  <a:srgbClr val="ED6842"/>
                </a:solidFill>
                <a:latin typeface="Overpass Mono"/>
              </a:rPr>
              <a:t>10</a:t>
            </a:r>
          </a:p>
        </p:txBody>
      </p:sp>
      <p:sp>
        <p:nvSpPr>
          <p:cNvPr id="42" name="tekst"/>
          <p:cNvSpPr txBox="1"/>
          <p:nvPr/>
        </p:nvSpPr>
        <p:spPr>
          <a:xfrm>
            <a:off x="3990975" y="2885926"/>
            <a:ext cx="2905125" cy="22666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Ceglany Renesans to marka autentycznych płytek ze starej cegły dla osób, które szukają materiału z prawdziwą historią, naturalnym charakterem i zastosowaniem we współczesnych wnętrzach oraz architekturze. Marka wyróżnia się wykorzystaniem oryginalnej cegły rozbiórkowej zamiast jej imitacji oraz połączeniem historycznego materiału ze współczesnym sposobem przygotowania i zastosowania.</a:t>
            </a:r>
          </a:p>
        </p:txBody>
      </p:sp>
      <p:sp>
        <p:nvSpPr>
          <p:cNvPr id="43" name="tekst"/>
          <p:cNvSpPr txBox="1"/>
          <p:nvPr/>
        </p:nvSpPr>
        <p:spPr>
          <a:xfrm>
            <a:off x="3990975" y="5285929"/>
            <a:ext cx="2905125" cy="6799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Kategoria marki</a:t>
            </a:r>
            <a:br/>
            <a:r>
              <a:rPr sz="1050" b="0" i="0">
                <a:solidFill>
                  <a:srgbClr val="000000"/>
                </a:solidFill>
                <a:latin typeface="Hanken Grotesk"/>
              </a:rPr>
              <a:t>Producent płytek i elementów wykończeniowych z autentycznej starej cegły.</a:t>
            </a:r>
          </a:p>
        </p:txBody>
      </p:sp>
      <p:sp>
        <p:nvSpPr>
          <p:cNvPr id="44" name="tekst"/>
          <p:cNvSpPr txBox="1"/>
          <p:nvPr/>
        </p:nvSpPr>
        <p:spPr>
          <a:xfrm>
            <a:off x="3990975" y="6099274"/>
            <a:ext cx="2905125" cy="13599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Dla kogo</a:t>
            </a:r>
            <a:br/>
            <a:r>
              <a:rPr sz="1050" b="0" i="0">
                <a:solidFill>
                  <a:srgbClr val="000000"/>
                </a:solidFill>
                <a:latin typeface="Hanken Grotesk"/>
              </a:rPr>
              <a:t>Dla klientów indywidualnych, projektantów, architektów i inwestorów, którzy nie szukają jedynie efektu „starej cegły”, ale autentycznego materiału o własnej historii i naturalnych cechach.</a:t>
            </a:r>
          </a:p>
        </p:txBody>
      </p:sp>
      <p:sp>
        <p:nvSpPr>
          <p:cNvPr id="45" name="tekst"/>
          <p:cNvSpPr txBox="1"/>
          <p:nvPr/>
        </p:nvSpPr>
        <p:spPr>
          <a:xfrm>
            <a:off x="3990975" y="7592616"/>
            <a:ext cx="2905125" cy="9066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Potrzeba klienta</a:t>
            </a:r>
            <a:br/>
            <a:r>
              <a:rPr sz="1050" b="0" i="0">
                <a:solidFill>
                  <a:srgbClr val="000000"/>
                </a:solidFill>
                <a:latin typeface="Hanken Grotesk"/>
              </a:rPr>
              <a:t>Stworzenie wnętrza lub elewacji z charakterem, materiałem niepowtarzalnym i bardziej autentycznym niż produkty imitacyjne.</a:t>
            </a:r>
          </a:p>
        </p:txBody>
      </p:sp>
      <p:sp>
        <p:nvSpPr>
          <p:cNvPr id="46" name="tekst"/>
          <p:cNvSpPr txBox="1"/>
          <p:nvPr/>
        </p:nvSpPr>
        <p:spPr>
          <a:xfrm>
            <a:off x="609600" y="10353675"/>
            <a:ext cx="229790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 · BRAND BOOK</a:t>
            </a:r>
          </a:p>
        </p:txBody>
      </p:sp>
      <p:sp>
        <p:nvSpPr>
          <p:cNvPr id="47" name="tekst"/>
          <p:cNvSpPr txBox="1"/>
          <p:nvPr/>
        </p:nvSpPr>
        <p:spPr>
          <a:xfrm>
            <a:off x="6180534" y="10353675"/>
            <a:ext cx="82986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WERSJA 1.0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lo/linia"/>
          <p:cNvSpPr/>
          <p:nvPr/>
        </p:nvSpPr>
        <p:spPr>
          <a:xfrm>
            <a:off x="0" y="0"/>
            <a:ext cx="7562850" cy="10696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lo/linia"/>
          <p:cNvSpPr/>
          <p:nvPr/>
        </p:nvSpPr>
        <p:spPr>
          <a:xfrm>
            <a:off x="0" y="0"/>
            <a:ext cx="533400" cy="5334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lo/linia"/>
          <p:cNvSpPr/>
          <p:nvPr/>
        </p:nvSpPr>
        <p:spPr>
          <a:xfrm>
            <a:off x="723900" y="5775424"/>
            <a:ext cx="284797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lo/linia"/>
          <p:cNvSpPr/>
          <p:nvPr/>
        </p:nvSpPr>
        <p:spPr>
          <a:xfrm>
            <a:off x="609600" y="10267950"/>
            <a:ext cx="634365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kst"/>
          <p:cNvSpPr txBox="1"/>
          <p:nvPr/>
        </p:nvSpPr>
        <p:spPr>
          <a:xfrm>
            <a:off x="166836" y="161925"/>
            <a:ext cx="256729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300" b="1" i="0">
                <a:solidFill>
                  <a:srgbClr val="000000"/>
                </a:solidFill>
                <a:latin typeface="Overpass Mono"/>
              </a:rPr>
              <a:t>11</a:t>
            </a:r>
          </a:p>
        </p:txBody>
      </p:sp>
      <p:sp>
        <p:nvSpPr>
          <p:cNvPr id="7" name="tekst"/>
          <p:cNvSpPr txBox="1"/>
          <p:nvPr/>
        </p:nvSpPr>
        <p:spPr>
          <a:xfrm>
            <a:off x="762000" y="209550"/>
            <a:ext cx="2066181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CZĘŚĆ I · FUNDAMENTY MARKI</a:t>
            </a:r>
          </a:p>
        </p:txBody>
      </p:sp>
      <p:sp>
        <p:nvSpPr>
          <p:cNvPr id="8" name="tekst"/>
          <p:cNvSpPr txBox="1"/>
          <p:nvPr/>
        </p:nvSpPr>
        <p:spPr>
          <a:xfrm>
            <a:off x="5716935" y="209550"/>
            <a:ext cx="1293465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</a:t>
            </a:r>
          </a:p>
        </p:txBody>
      </p:sp>
      <p:sp>
        <p:nvSpPr>
          <p:cNvPr id="9" name="tekst"/>
          <p:cNvSpPr txBox="1"/>
          <p:nvPr/>
        </p:nvSpPr>
        <p:spPr>
          <a:xfrm>
            <a:off x="723900" y="952500"/>
            <a:ext cx="2905125" cy="6799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Główna przewaga</a:t>
            </a:r>
            <a:br/>
            <a:r>
              <a:rPr sz="1050" b="0" i="0">
                <a:solidFill>
                  <a:srgbClr val="000000"/>
                </a:solidFill>
                <a:latin typeface="Hanken Grotesk"/>
              </a:rPr>
              <a:t>Prawdziwa cegła rozbiórkowa zamiast materiału stylizowanego na stary.</a:t>
            </a:r>
          </a:p>
        </p:txBody>
      </p:sp>
      <p:sp>
        <p:nvSpPr>
          <p:cNvPr id="10" name="tekst"/>
          <p:cNvSpPr txBox="1"/>
          <p:nvPr/>
        </p:nvSpPr>
        <p:spPr>
          <a:xfrm>
            <a:off x="723900" y="1765846"/>
            <a:ext cx="2905125" cy="9066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Korzyść funkcjonalna</a:t>
            </a:r>
            <a:br/>
            <a:r>
              <a:rPr sz="1050" b="0" i="0">
                <a:solidFill>
                  <a:srgbClr val="000000"/>
                </a:solidFill>
                <a:latin typeface="Hanken Grotesk"/>
              </a:rPr>
              <a:t>Klient otrzymuje materiał przygotowany do współczesnego zastosowania na ścianach, podłogach i elewacjach.</a:t>
            </a:r>
          </a:p>
        </p:txBody>
      </p:sp>
      <p:sp>
        <p:nvSpPr>
          <p:cNvPr id="11" name="tekst"/>
          <p:cNvSpPr txBox="1"/>
          <p:nvPr/>
        </p:nvSpPr>
        <p:spPr>
          <a:xfrm>
            <a:off x="723900" y="2805857"/>
            <a:ext cx="2905125" cy="9066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Korzyść emocjonalna</a:t>
            </a:r>
            <a:br/>
            <a:r>
              <a:rPr sz="1050" b="0" i="0">
                <a:solidFill>
                  <a:srgbClr val="000000"/>
                </a:solidFill>
                <a:latin typeface="Hanken Grotesk"/>
              </a:rPr>
              <a:t>Poczucie, że przestrzeń ma indywidualny charakter, historię i nie wygląda jak kolejna aranżacja z masowego katalogu.</a:t>
            </a:r>
          </a:p>
        </p:txBody>
      </p:sp>
      <p:sp>
        <p:nvSpPr>
          <p:cNvPr id="12" name="tekst"/>
          <p:cNvSpPr txBox="1"/>
          <p:nvPr/>
        </p:nvSpPr>
        <p:spPr>
          <a:xfrm>
            <a:off x="723900" y="3845868"/>
            <a:ext cx="2905125" cy="15866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Dla osób, które chcą tworzyć wnętrza i architekturę z autentycznym charakterem, Ceglany Renesans jest marką płytek ze starej cegły, która oferuje prawdziwy materiał z historią, przygotowany do współczesnego zastosowania- zamiast imitacji tworzącej jedynie podobny efekt wizualny.</a:t>
            </a:r>
          </a:p>
        </p:txBody>
      </p:sp>
      <p:sp>
        <p:nvSpPr>
          <p:cNvPr id="13" name="tekst"/>
          <p:cNvSpPr txBox="1"/>
          <p:nvPr/>
        </p:nvSpPr>
        <p:spPr>
          <a:xfrm>
            <a:off x="1077962" y="5927824"/>
            <a:ext cx="1948309" cy="4970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600" b="0" i="0" spc="-39">
                <a:solidFill>
                  <a:srgbClr val="000000"/>
                </a:solidFill>
                <a:latin typeface="Hanken Grotesk"/>
              </a:rPr>
              <a:t>Przewaga i Reasons to Believe</a:t>
            </a:r>
          </a:p>
        </p:txBody>
      </p:sp>
      <p:sp>
        <p:nvSpPr>
          <p:cNvPr id="14" name="tekst"/>
          <p:cNvSpPr txBox="1"/>
          <p:nvPr/>
        </p:nvSpPr>
        <p:spPr>
          <a:xfrm>
            <a:off x="723900" y="5937349"/>
            <a:ext cx="315962" cy="274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 spc="-90">
                <a:solidFill>
                  <a:srgbClr val="ED6842"/>
                </a:solidFill>
                <a:latin typeface="Overpass Mono"/>
              </a:rPr>
              <a:t>11</a:t>
            </a:r>
          </a:p>
        </p:txBody>
      </p:sp>
      <p:sp>
        <p:nvSpPr>
          <p:cNvPr id="15" name="tekst"/>
          <p:cNvSpPr txBox="1"/>
          <p:nvPr/>
        </p:nvSpPr>
        <p:spPr>
          <a:xfrm>
            <a:off x="723900" y="6588621"/>
            <a:ext cx="2905125" cy="6799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Przewaga:</a:t>
            </a:r>
            <a:r>
              <a:rPr sz="1050" b="0" i="0">
                <a:solidFill>
                  <a:srgbClr val="000000"/>
                </a:solidFill>
                <a:latin typeface="Hanken Grotesk"/>
              </a:rPr>
              <a:t> Co Ceglany Renesans ma, czego konkurencja lub zamienniki nie oferują w ten sam sposób?</a:t>
            </a:r>
          </a:p>
        </p:txBody>
      </p:sp>
      <p:sp>
        <p:nvSpPr>
          <p:cNvPr id="16" name="tekst"/>
          <p:cNvSpPr txBox="1"/>
          <p:nvPr/>
        </p:nvSpPr>
        <p:spPr>
          <a:xfrm>
            <a:off x="723900" y="7401967"/>
            <a:ext cx="2905125" cy="6799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Reasons to Believe:</a:t>
            </a:r>
            <a:r>
              <a:rPr sz="1050" b="0" i="0">
                <a:solidFill>
                  <a:srgbClr val="000000"/>
                </a:solidFill>
                <a:latin typeface="Hanken Grotesk"/>
              </a:rPr>
              <a:t> Jakimi konkretnymi faktami marka udowadnia, że jej obietnice są wiarygodne?</a:t>
            </a:r>
          </a:p>
        </p:txBody>
      </p:sp>
      <p:sp>
        <p:nvSpPr>
          <p:cNvPr id="17" name="tekst"/>
          <p:cNvSpPr txBox="1"/>
          <p:nvPr/>
        </p:nvSpPr>
        <p:spPr>
          <a:xfrm>
            <a:off x="723900" y="8215312"/>
            <a:ext cx="2905125" cy="6799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autentyczny materiał historyczny + specjalistyczne przygotowanie + gotowość do współczesnego zastosowania.</a:t>
            </a:r>
          </a:p>
        </p:txBody>
      </p:sp>
      <p:sp>
        <p:nvSpPr>
          <p:cNvPr id="18" name="tekst"/>
          <p:cNvSpPr txBox="1"/>
          <p:nvPr/>
        </p:nvSpPr>
        <p:spPr>
          <a:xfrm>
            <a:off x="723900" y="9047708"/>
            <a:ext cx="2905125" cy="6247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Ceglany Renesans</a:t>
            </a:r>
            <a:r>
              <a:rPr sz="1050" b="0" i="0">
                <a:solidFill>
                  <a:srgbClr val="000000"/>
                </a:solidFill>
                <a:latin typeface="Hanken Grotesk"/>
              </a:rPr>
              <a:t> oferuje płytki wykonane z prawdziwej starej cegły rozbiórkowej, a nie z materiału imitującego jej wygląd. Dzięki</a:t>
            </a:r>
          </a:p>
        </p:txBody>
      </p:sp>
      <p:sp>
        <p:nvSpPr>
          <p:cNvPr id="19" name="tekst"/>
          <p:cNvSpPr txBox="1"/>
          <p:nvPr/>
        </p:nvSpPr>
        <p:spPr>
          <a:xfrm>
            <a:off x="3990975" y="971550"/>
            <a:ext cx="2905125" cy="10781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odpowiedniej selekcji i obróbce historyczny materiał zachowuje swój naturalny charakter, ale może być wykorzystany we współczesnych wnętrzach, na elewacjach i innych powierzchniach.</a:t>
            </a:r>
          </a:p>
        </p:txBody>
      </p:sp>
      <p:sp>
        <p:nvSpPr>
          <p:cNvPr id="20" name="tekst"/>
          <p:cNvSpPr txBox="1"/>
          <p:nvPr/>
        </p:nvSpPr>
        <p:spPr>
          <a:xfrm>
            <a:off x="609600" y="10353675"/>
            <a:ext cx="229790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 · BRAND BOOK</a:t>
            </a:r>
          </a:p>
        </p:txBody>
      </p:sp>
      <p:sp>
        <p:nvSpPr>
          <p:cNvPr id="21" name="tekst"/>
          <p:cNvSpPr txBox="1"/>
          <p:nvPr/>
        </p:nvSpPr>
        <p:spPr>
          <a:xfrm>
            <a:off x="6180534" y="10353675"/>
            <a:ext cx="82986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WERSJA 1.0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lo/linia"/>
          <p:cNvSpPr/>
          <p:nvPr/>
        </p:nvSpPr>
        <p:spPr>
          <a:xfrm>
            <a:off x="0" y="0"/>
            <a:ext cx="7562850" cy="10696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lo/linia"/>
          <p:cNvSpPr/>
          <p:nvPr/>
        </p:nvSpPr>
        <p:spPr>
          <a:xfrm>
            <a:off x="0" y="0"/>
            <a:ext cx="533400" cy="5334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lo/linia"/>
          <p:cNvSpPr/>
          <p:nvPr/>
        </p:nvSpPr>
        <p:spPr>
          <a:xfrm>
            <a:off x="723900" y="1090612"/>
            <a:ext cx="124390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lo/linia"/>
          <p:cNvSpPr/>
          <p:nvPr/>
        </p:nvSpPr>
        <p:spPr>
          <a:xfrm>
            <a:off x="723900" y="1593354"/>
            <a:ext cx="124390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lo/linia"/>
          <p:cNvSpPr/>
          <p:nvPr/>
        </p:nvSpPr>
        <p:spPr>
          <a:xfrm>
            <a:off x="1967805" y="1090612"/>
            <a:ext cx="160407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lo/linia"/>
          <p:cNvSpPr/>
          <p:nvPr/>
        </p:nvSpPr>
        <p:spPr>
          <a:xfrm>
            <a:off x="1967805" y="1593354"/>
            <a:ext cx="160407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lo/linia"/>
          <p:cNvSpPr/>
          <p:nvPr/>
        </p:nvSpPr>
        <p:spPr>
          <a:xfrm>
            <a:off x="723900" y="2511326"/>
            <a:ext cx="1243905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lo/linia"/>
          <p:cNvSpPr/>
          <p:nvPr/>
        </p:nvSpPr>
        <p:spPr>
          <a:xfrm>
            <a:off x="1967805" y="2511326"/>
            <a:ext cx="160407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lo/linia"/>
          <p:cNvSpPr/>
          <p:nvPr/>
        </p:nvSpPr>
        <p:spPr>
          <a:xfrm>
            <a:off x="723900" y="3429298"/>
            <a:ext cx="1243905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lo/linia"/>
          <p:cNvSpPr/>
          <p:nvPr/>
        </p:nvSpPr>
        <p:spPr>
          <a:xfrm>
            <a:off x="1967805" y="3429298"/>
            <a:ext cx="160407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lo/linia"/>
          <p:cNvSpPr/>
          <p:nvPr/>
        </p:nvSpPr>
        <p:spPr>
          <a:xfrm>
            <a:off x="723900" y="4167783"/>
            <a:ext cx="1243905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lo/linia"/>
          <p:cNvSpPr/>
          <p:nvPr/>
        </p:nvSpPr>
        <p:spPr>
          <a:xfrm>
            <a:off x="1967805" y="4167783"/>
            <a:ext cx="160407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lo/linia"/>
          <p:cNvSpPr/>
          <p:nvPr/>
        </p:nvSpPr>
        <p:spPr>
          <a:xfrm>
            <a:off x="723900" y="4906268"/>
            <a:ext cx="1243905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lo/linia"/>
          <p:cNvSpPr/>
          <p:nvPr/>
        </p:nvSpPr>
        <p:spPr>
          <a:xfrm>
            <a:off x="1967805" y="4906268"/>
            <a:ext cx="160407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lo/linia"/>
          <p:cNvSpPr/>
          <p:nvPr/>
        </p:nvSpPr>
        <p:spPr>
          <a:xfrm>
            <a:off x="723900" y="5644753"/>
            <a:ext cx="1243905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lo/linia"/>
          <p:cNvSpPr/>
          <p:nvPr/>
        </p:nvSpPr>
        <p:spPr>
          <a:xfrm>
            <a:off x="1967805" y="5644753"/>
            <a:ext cx="160407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lo/linia"/>
          <p:cNvSpPr/>
          <p:nvPr/>
        </p:nvSpPr>
        <p:spPr>
          <a:xfrm>
            <a:off x="723900" y="6383238"/>
            <a:ext cx="1243905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lo/linia"/>
          <p:cNvSpPr/>
          <p:nvPr/>
        </p:nvSpPr>
        <p:spPr>
          <a:xfrm>
            <a:off x="1967805" y="6383238"/>
            <a:ext cx="160407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lo/linia"/>
          <p:cNvSpPr/>
          <p:nvPr/>
        </p:nvSpPr>
        <p:spPr>
          <a:xfrm>
            <a:off x="723900" y="7121723"/>
            <a:ext cx="1243905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lo/linia"/>
          <p:cNvSpPr/>
          <p:nvPr/>
        </p:nvSpPr>
        <p:spPr>
          <a:xfrm>
            <a:off x="1967805" y="7121723"/>
            <a:ext cx="160407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lo/linia"/>
          <p:cNvSpPr/>
          <p:nvPr/>
        </p:nvSpPr>
        <p:spPr>
          <a:xfrm>
            <a:off x="723900" y="7860209"/>
            <a:ext cx="1243905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lo/linia"/>
          <p:cNvSpPr/>
          <p:nvPr/>
        </p:nvSpPr>
        <p:spPr>
          <a:xfrm>
            <a:off x="1967805" y="7860209"/>
            <a:ext cx="160407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lo/linia"/>
          <p:cNvSpPr/>
          <p:nvPr/>
        </p:nvSpPr>
        <p:spPr>
          <a:xfrm>
            <a:off x="3990975" y="994395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lo/linia"/>
          <p:cNvSpPr/>
          <p:nvPr/>
        </p:nvSpPr>
        <p:spPr>
          <a:xfrm>
            <a:off x="4010025" y="1322802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lo/linia"/>
          <p:cNvSpPr/>
          <p:nvPr/>
        </p:nvSpPr>
        <p:spPr>
          <a:xfrm>
            <a:off x="4010025" y="1625667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lo/linia"/>
          <p:cNvSpPr/>
          <p:nvPr/>
        </p:nvSpPr>
        <p:spPr>
          <a:xfrm>
            <a:off x="4010025" y="1928533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lo/linia"/>
          <p:cNvSpPr/>
          <p:nvPr/>
        </p:nvSpPr>
        <p:spPr>
          <a:xfrm>
            <a:off x="4010025" y="2231398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lo/linia"/>
          <p:cNvSpPr/>
          <p:nvPr/>
        </p:nvSpPr>
        <p:spPr>
          <a:xfrm>
            <a:off x="4010025" y="2534263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lo/linia"/>
          <p:cNvSpPr/>
          <p:nvPr/>
        </p:nvSpPr>
        <p:spPr>
          <a:xfrm>
            <a:off x="4010025" y="3063794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lo/linia"/>
          <p:cNvSpPr/>
          <p:nvPr/>
        </p:nvSpPr>
        <p:spPr>
          <a:xfrm>
            <a:off x="4010025" y="3366659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lo/linia"/>
          <p:cNvSpPr/>
          <p:nvPr/>
        </p:nvSpPr>
        <p:spPr>
          <a:xfrm>
            <a:off x="3990975" y="3840212"/>
            <a:ext cx="284797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lo/linia"/>
          <p:cNvSpPr/>
          <p:nvPr/>
        </p:nvSpPr>
        <p:spPr>
          <a:xfrm>
            <a:off x="3990975" y="7103194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lo/linia"/>
          <p:cNvSpPr/>
          <p:nvPr/>
        </p:nvSpPr>
        <p:spPr>
          <a:xfrm>
            <a:off x="4010025" y="7431601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lo/linia"/>
          <p:cNvSpPr/>
          <p:nvPr/>
        </p:nvSpPr>
        <p:spPr>
          <a:xfrm>
            <a:off x="4010025" y="7734467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lo/linia"/>
          <p:cNvSpPr/>
          <p:nvPr/>
        </p:nvSpPr>
        <p:spPr>
          <a:xfrm>
            <a:off x="4010025" y="8263997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lo/linia"/>
          <p:cNvSpPr/>
          <p:nvPr/>
        </p:nvSpPr>
        <p:spPr>
          <a:xfrm>
            <a:off x="4010025" y="8566862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lo/linia"/>
          <p:cNvSpPr/>
          <p:nvPr/>
        </p:nvSpPr>
        <p:spPr>
          <a:xfrm>
            <a:off x="4010025" y="8869728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lo/linia"/>
          <p:cNvSpPr/>
          <p:nvPr/>
        </p:nvSpPr>
        <p:spPr>
          <a:xfrm>
            <a:off x="609600" y="10267950"/>
            <a:ext cx="634365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kst"/>
          <p:cNvSpPr txBox="1"/>
          <p:nvPr/>
        </p:nvSpPr>
        <p:spPr>
          <a:xfrm>
            <a:off x="166836" y="161925"/>
            <a:ext cx="256729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300" b="1" i="0">
                <a:solidFill>
                  <a:srgbClr val="000000"/>
                </a:solidFill>
                <a:latin typeface="Overpass Mono"/>
              </a:rPr>
              <a:t>12</a:t>
            </a:r>
          </a:p>
        </p:txBody>
      </p:sp>
      <p:sp>
        <p:nvSpPr>
          <p:cNvPr id="41" name="tekst"/>
          <p:cNvSpPr txBox="1"/>
          <p:nvPr/>
        </p:nvSpPr>
        <p:spPr>
          <a:xfrm>
            <a:off x="762000" y="209550"/>
            <a:ext cx="2066181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CZĘŚĆ I · FUNDAMENTY MARKI</a:t>
            </a:r>
          </a:p>
        </p:txBody>
      </p:sp>
      <p:sp>
        <p:nvSpPr>
          <p:cNvPr id="42" name="tekst"/>
          <p:cNvSpPr txBox="1"/>
          <p:nvPr/>
        </p:nvSpPr>
        <p:spPr>
          <a:xfrm>
            <a:off x="5716935" y="209550"/>
            <a:ext cx="1293465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</a:t>
            </a:r>
          </a:p>
        </p:txBody>
      </p:sp>
      <p:sp>
        <p:nvSpPr>
          <p:cNvPr id="43" name="tekst"/>
          <p:cNvSpPr txBox="1"/>
          <p:nvPr/>
        </p:nvSpPr>
        <p:spPr>
          <a:xfrm>
            <a:off x="723900" y="1185862"/>
            <a:ext cx="1205805" cy="3217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5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DEKLARACJA MARKI</a:t>
            </a:r>
          </a:p>
        </p:txBody>
      </p:sp>
      <p:sp>
        <p:nvSpPr>
          <p:cNvPr id="44" name="tekst"/>
          <p:cNvSpPr txBox="1"/>
          <p:nvPr/>
        </p:nvSpPr>
        <p:spPr>
          <a:xfrm>
            <a:off x="1967805" y="1185862"/>
            <a:ext cx="1565970" cy="3217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5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DOWÓD / REASON TO BELIEVE</a:t>
            </a:r>
          </a:p>
        </p:txBody>
      </p:sp>
      <p:sp>
        <p:nvSpPr>
          <p:cNvPr id="45" name="tekst"/>
          <p:cNvSpPr txBox="1"/>
          <p:nvPr/>
        </p:nvSpPr>
        <p:spPr>
          <a:xfrm>
            <a:off x="723900" y="1698129"/>
            <a:ext cx="1205805" cy="7179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To prawdziwa stara cegła</a:t>
            </a:r>
          </a:p>
        </p:txBody>
      </p:sp>
      <p:sp>
        <p:nvSpPr>
          <p:cNvPr id="46" name="tekst"/>
          <p:cNvSpPr txBox="1"/>
          <p:nvPr/>
        </p:nvSpPr>
        <p:spPr>
          <a:xfrm>
            <a:off x="1967805" y="1698129"/>
            <a:ext cx="1565970" cy="7179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materiał pochodzi z cegły rozbiórkowej, a nie z produkcji imitującej stary wygląd</a:t>
            </a:r>
          </a:p>
        </p:txBody>
      </p:sp>
      <p:sp>
        <p:nvSpPr>
          <p:cNvPr id="47" name="tekst"/>
          <p:cNvSpPr txBox="1"/>
          <p:nvPr/>
        </p:nvSpPr>
        <p:spPr>
          <a:xfrm>
            <a:off x="723900" y="2616101"/>
            <a:ext cx="1205805" cy="7179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Materiał ma autentyczny charakter</a:t>
            </a:r>
          </a:p>
        </p:txBody>
      </p:sp>
      <p:sp>
        <p:nvSpPr>
          <p:cNvPr id="48" name="tekst"/>
          <p:cNvSpPr txBox="1"/>
          <p:nvPr/>
        </p:nvSpPr>
        <p:spPr>
          <a:xfrm>
            <a:off x="1967805" y="2616101"/>
            <a:ext cx="1565970" cy="7179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zachowywane są naturalne różnice koloru, struktury, ślady wieku i pozostałości zaprawy</a:t>
            </a:r>
          </a:p>
        </p:txBody>
      </p:sp>
      <p:sp>
        <p:nvSpPr>
          <p:cNvPr id="49" name="tekst"/>
          <p:cNvSpPr txBox="1"/>
          <p:nvPr/>
        </p:nvSpPr>
        <p:spPr>
          <a:xfrm>
            <a:off x="723900" y="3534073"/>
            <a:ext cx="1205805" cy="538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Produkt jest przygotowany do ponownego użycia</a:t>
            </a:r>
          </a:p>
        </p:txBody>
      </p:sp>
      <p:sp>
        <p:nvSpPr>
          <p:cNvPr id="50" name="tekst"/>
          <p:cNvSpPr txBox="1"/>
          <p:nvPr/>
        </p:nvSpPr>
        <p:spPr>
          <a:xfrm>
            <a:off x="1967805" y="3534073"/>
            <a:ext cx="1565970" cy="538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cegła przechodzi proces selekcji, czyszczenia i obróbki</a:t>
            </a:r>
          </a:p>
        </p:txBody>
      </p:sp>
      <p:sp>
        <p:nvSpPr>
          <p:cNvPr id="51" name="tekst"/>
          <p:cNvSpPr txBox="1"/>
          <p:nvPr/>
        </p:nvSpPr>
        <p:spPr>
          <a:xfrm>
            <a:off x="723900" y="4272558"/>
            <a:ext cx="1205805" cy="538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Marka kontroluje jakość materiału</a:t>
            </a:r>
          </a:p>
        </p:txBody>
      </p:sp>
      <p:sp>
        <p:nvSpPr>
          <p:cNvPr id="52" name="tekst"/>
          <p:cNvSpPr txBox="1"/>
          <p:nvPr/>
        </p:nvSpPr>
        <p:spPr>
          <a:xfrm>
            <a:off x="1967805" y="4272558"/>
            <a:ext cx="1565970" cy="538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surowiec jest sprawdzany przed dalszym przetwarzaniem</a:t>
            </a:r>
          </a:p>
        </p:txBody>
      </p:sp>
      <p:sp>
        <p:nvSpPr>
          <p:cNvPr id="53" name="tekst"/>
          <p:cNvSpPr txBox="1"/>
          <p:nvPr/>
        </p:nvSpPr>
        <p:spPr>
          <a:xfrm>
            <a:off x="723900" y="5011043"/>
            <a:ext cx="1205805" cy="538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Produkt ma szerokie zastosowanie</a:t>
            </a:r>
          </a:p>
        </p:txBody>
      </p:sp>
      <p:sp>
        <p:nvSpPr>
          <p:cNvPr id="54" name="tekst"/>
          <p:cNvSpPr txBox="1"/>
          <p:nvPr/>
        </p:nvSpPr>
        <p:spPr>
          <a:xfrm>
            <a:off x="1967805" y="5011043"/>
            <a:ext cx="1565970" cy="538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dostępne są rozwiązania na ściany, podłogi, elewacje oraz narożniki</a:t>
            </a:r>
          </a:p>
        </p:txBody>
      </p:sp>
      <p:sp>
        <p:nvSpPr>
          <p:cNvPr id="55" name="tekst"/>
          <p:cNvSpPr txBox="1"/>
          <p:nvPr/>
        </p:nvSpPr>
        <p:spPr>
          <a:xfrm>
            <a:off x="723900" y="5749528"/>
            <a:ext cx="1205805" cy="538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Klient może kupić kompletne rozwiązanie</a:t>
            </a:r>
          </a:p>
        </p:txBody>
      </p:sp>
      <p:sp>
        <p:nvSpPr>
          <p:cNvPr id="56" name="tekst"/>
          <p:cNvSpPr txBox="1"/>
          <p:nvPr/>
        </p:nvSpPr>
        <p:spPr>
          <a:xfrm>
            <a:off x="1967805" y="5749528"/>
            <a:ext cx="1565970" cy="538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oferta obejmuje również materiały montażowe i wykończeniowe</a:t>
            </a:r>
          </a:p>
        </p:txBody>
      </p:sp>
      <p:sp>
        <p:nvSpPr>
          <p:cNvPr id="57" name="tekst"/>
          <p:cNvSpPr txBox="1"/>
          <p:nvPr/>
        </p:nvSpPr>
        <p:spPr>
          <a:xfrm>
            <a:off x="723900" y="6488013"/>
            <a:ext cx="1205805" cy="538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Produkt można zweryfikować przed większym zakupem</a:t>
            </a:r>
          </a:p>
        </p:txBody>
      </p:sp>
      <p:sp>
        <p:nvSpPr>
          <p:cNvPr id="58" name="tekst"/>
          <p:cNvSpPr txBox="1"/>
          <p:nvPr/>
        </p:nvSpPr>
        <p:spPr>
          <a:xfrm>
            <a:off x="1967805" y="6488013"/>
            <a:ext cx="1565970" cy="538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możliwość zamówienia próbki</a:t>
            </a:r>
          </a:p>
        </p:txBody>
      </p:sp>
      <p:sp>
        <p:nvSpPr>
          <p:cNvPr id="59" name="tekst"/>
          <p:cNvSpPr txBox="1"/>
          <p:nvPr/>
        </p:nvSpPr>
        <p:spPr>
          <a:xfrm>
            <a:off x="723900" y="7226498"/>
            <a:ext cx="1205805" cy="538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Marka obsługuje sprzedaż bezpośrednią</a:t>
            </a:r>
          </a:p>
        </p:txBody>
      </p:sp>
      <p:sp>
        <p:nvSpPr>
          <p:cNvPr id="60" name="tekst"/>
          <p:cNvSpPr txBox="1"/>
          <p:nvPr/>
        </p:nvSpPr>
        <p:spPr>
          <a:xfrm>
            <a:off x="1967805" y="7226498"/>
            <a:ext cx="1565970" cy="538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klient kupuje bezpośrednio od producenta</a:t>
            </a:r>
          </a:p>
        </p:txBody>
      </p:sp>
      <p:sp>
        <p:nvSpPr>
          <p:cNvPr id="61" name="tekst"/>
          <p:cNvSpPr txBox="1"/>
          <p:nvPr/>
        </p:nvSpPr>
        <p:spPr>
          <a:xfrm>
            <a:off x="723900" y="8084046"/>
            <a:ext cx="2905125" cy="11333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Przewaga</a:t>
            </a:r>
            <a:br/>
            <a:r>
              <a:rPr sz="1050" b="0" i="0">
                <a:solidFill>
                  <a:srgbClr val="000000"/>
                </a:solidFill>
                <a:latin typeface="Hanken Grotesk"/>
              </a:rPr>
              <a:t>Autentyczna stara cegła zamiast imitacji — starannie przygotowana do współczesnego zastosowania, z zachowaniem jej naturalnej historii i charakteru.</a:t>
            </a:r>
          </a:p>
        </p:txBody>
      </p:sp>
      <p:sp>
        <p:nvSpPr>
          <p:cNvPr id="62" name="tekst"/>
          <p:cNvSpPr txBox="1"/>
          <p:nvPr/>
        </p:nvSpPr>
        <p:spPr>
          <a:xfrm>
            <a:off x="4143375" y="952500"/>
            <a:ext cx="1489174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REASONS TO BELIEVE</a:t>
            </a:r>
          </a:p>
        </p:txBody>
      </p:sp>
      <p:sp>
        <p:nvSpPr>
          <p:cNvPr id="63" name="tekst"/>
          <p:cNvSpPr txBox="1"/>
          <p:nvPr/>
        </p:nvSpPr>
        <p:spPr>
          <a:xfrm>
            <a:off x="4181475" y="1226790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oryginalna cegła rozbiórkowa,</a:t>
            </a:r>
          </a:p>
        </p:txBody>
      </p:sp>
      <p:sp>
        <p:nvSpPr>
          <p:cNvPr id="64" name="tekst"/>
          <p:cNvSpPr txBox="1"/>
          <p:nvPr/>
        </p:nvSpPr>
        <p:spPr>
          <a:xfrm>
            <a:off x="4181475" y="1529655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naturalne różnice i ślady czasu,</a:t>
            </a:r>
          </a:p>
        </p:txBody>
      </p:sp>
      <p:sp>
        <p:nvSpPr>
          <p:cNvPr id="65" name="tekst"/>
          <p:cNvSpPr txBox="1"/>
          <p:nvPr/>
        </p:nvSpPr>
        <p:spPr>
          <a:xfrm>
            <a:off x="4181475" y="1832521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selekcja i przygotowanie materiału,</a:t>
            </a:r>
          </a:p>
        </p:txBody>
      </p:sp>
      <p:sp>
        <p:nvSpPr>
          <p:cNvPr id="66" name="tekst"/>
          <p:cNvSpPr txBox="1"/>
          <p:nvPr/>
        </p:nvSpPr>
        <p:spPr>
          <a:xfrm>
            <a:off x="4181475" y="2135386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własna obróbka,</a:t>
            </a:r>
          </a:p>
        </p:txBody>
      </p:sp>
      <p:sp>
        <p:nvSpPr>
          <p:cNvPr id="67" name="tekst"/>
          <p:cNvSpPr txBox="1"/>
          <p:nvPr/>
        </p:nvSpPr>
        <p:spPr>
          <a:xfrm>
            <a:off x="4181475" y="2438251"/>
            <a:ext cx="27146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możliwość zastosowania na różnych powierzchniach,</a:t>
            </a:r>
          </a:p>
        </p:txBody>
      </p:sp>
      <p:sp>
        <p:nvSpPr>
          <p:cNvPr id="68" name="tekst"/>
          <p:cNvSpPr txBox="1"/>
          <p:nvPr/>
        </p:nvSpPr>
        <p:spPr>
          <a:xfrm>
            <a:off x="4181475" y="2967782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kompletne rozwiązania montażowe,</a:t>
            </a:r>
          </a:p>
        </p:txBody>
      </p:sp>
      <p:sp>
        <p:nvSpPr>
          <p:cNvPr id="69" name="tekst"/>
          <p:cNvSpPr txBox="1"/>
          <p:nvPr/>
        </p:nvSpPr>
        <p:spPr>
          <a:xfrm>
            <a:off x="4181475" y="3270647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możliwość zamówienia próbki.</a:t>
            </a:r>
          </a:p>
        </p:txBody>
      </p:sp>
      <p:sp>
        <p:nvSpPr>
          <p:cNvPr id="70" name="tekst"/>
          <p:cNvSpPr txBox="1"/>
          <p:nvPr/>
        </p:nvSpPr>
        <p:spPr>
          <a:xfrm>
            <a:off x="4345037" y="3992612"/>
            <a:ext cx="1468785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600" b="0" i="0" spc="-39">
                <a:solidFill>
                  <a:srgbClr val="000000"/>
                </a:solidFill>
                <a:latin typeface="Hanken Grotesk"/>
              </a:rPr>
              <a:t>Grupy docelowe</a:t>
            </a:r>
          </a:p>
        </p:txBody>
      </p:sp>
      <p:sp>
        <p:nvSpPr>
          <p:cNvPr id="71" name="tekst"/>
          <p:cNvSpPr txBox="1"/>
          <p:nvPr/>
        </p:nvSpPr>
        <p:spPr>
          <a:xfrm>
            <a:off x="3990975" y="4002137"/>
            <a:ext cx="315962" cy="274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 spc="-90">
                <a:solidFill>
                  <a:srgbClr val="ED6842"/>
                </a:solidFill>
                <a:latin typeface="Overpass Mono"/>
              </a:rPr>
              <a:t>12</a:t>
            </a:r>
          </a:p>
        </p:txBody>
      </p:sp>
      <p:sp>
        <p:nvSpPr>
          <p:cNvPr id="72" name="tekst"/>
          <p:cNvSpPr txBox="1"/>
          <p:nvPr/>
        </p:nvSpPr>
        <p:spPr>
          <a:xfrm>
            <a:off x="3990975" y="4543127"/>
            <a:ext cx="2905125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i="0" spc="-12">
                <a:solidFill>
                  <a:srgbClr val="000000"/>
                </a:solidFill>
                <a:latin typeface="Hanken Grotesk"/>
              </a:rPr>
              <a:t>Segment / Klient indywidualny</a:t>
            </a:r>
          </a:p>
        </p:txBody>
      </p:sp>
      <p:sp>
        <p:nvSpPr>
          <p:cNvPr id="73" name="tekst"/>
          <p:cNvSpPr txBox="1"/>
          <p:nvPr/>
        </p:nvSpPr>
        <p:spPr>
          <a:xfrm>
            <a:off x="3990975" y="4847927"/>
            <a:ext cx="2905125" cy="11333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Kim jest</a:t>
            </a:r>
            <a:br/>
            <a:r>
              <a:rPr sz="1050" b="0" i="0">
                <a:solidFill>
                  <a:srgbClr val="000000"/>
                </a:solidFill>
                <a:latin typeface="Hanken Grotesk"/>
              </a:rPr>
              <a:t>Osoba budująca, remontująca lub urządzająca dom/mieszkanie. Szuka charakterystycznego materiału na ścianę, podłogę, kominek lub elewację.</a:t>
            </a:r>
          </a:p>
        </p:txBody>
      </p:sp>
      <p:sp>
        <p:nvSpPr>
          <p:cNvPr id="74" name="tekst"/>
          <p:cNvSpPr txBox="1"/>
          <p:nvPr/>
        </p:nvSpPr>
        <p:spPr>
          <a:xfrm>
            <a:off x="3990975" y="6114604"/>
            <a:ext cx="2905125" cy="6799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Potrzeba</a:t>
            </a:r>
            <a:br/>
            <a:r>
              <a:rPr sz="1050" b="0" i="0">
                <a:solidFill>
                  <a:srgbClr val="000000"/>
                </a:solidFill>
                <a:latin typeface="Hanken Grotesk"/>
              </a:rPr>
              <a:t>Stworzyć wnętrze, które nie wygląda masowo i ma naturalny, autentyczny charakter.</a:t>
            </a:r>
          </a:p>
        </p:txBody>
      </p:sp>
      <p:sp>
        <p:nvSpPr>
          <p:cNvPr id="75" name="tekst"/>
          <p:cNvSpPr txBox="1"/>
          <p:nvPr/>
        </p:nvSpPr>
        <p:spPr>
          <a:xfrm>
            <a:off x="4143375" y="7061299"/>
            <a:ext cx="61406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PROBLEM</a:t>
            </a:r>
          </a:p>
        </p:txBody>
      </p:sp>
      <p:sp>
        <p:nvSpPr>
          <p:cNvPr id="76" name="tekst"/>
          <p:cNvSpPr txBox="1"/>
          <p:nvPr/>
        </p:nvSpPr>
        <p:spPr>
          <a:xfrm>
            <a:off x="4181475" y="7335589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trudno ocenić efekt na podstawie zdjęcia,</a:t>
            </a:r>
          </a:p>
        </p:txBody>
      </p:sp>
      <p:sp>
        <p:nvSpPr>
          <p:cNvPr id="77" name="tekst"/>
          <p:cNvSpPr txBox="1"/>
          <p:nvPr/>
        </p:nvSpPr>
        <p:spPr>
          <a:xfrm>
            <a:off x="4181475" y="7638455"/>
            <a:ext cx="27146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obawa, że cegła będzie wyglądała zbyt rustykalnie,</a:t>
            </a:r>
          </a:p>
        </p:txBody>
      </p:sp>
      <p:sp>
        <p:nvSpPr>
          <p:cNvPr id="78" name="tekst"/>
          <p:cNvSpPr txBox="1"/>
          <p:nvPr/>
        </p:nvSpPr>
        <p:spPr>
          <a:xfrm>
            <a:off x="4181475" y="8167985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niepewność dotycząca montażu,</a:t>
            </a:r>
          </a:p>
        </p:txBody>
      </p:sp>
      <p:sp>
        <p:nvSpPr>
          <p:cNvPr id="79" name="tekst"/>
          <p:cNvSpPr txBox="1"/>
          <p:nvPr/>
        </p:nvSpPr>
        <p:spPr>
          <a:xfrm>
            <a:off x="4181475" y="8470850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trudność z obliczeniem ilości materiału,</a:t>
            </a:r>
          </a:p>
        </p:txBody>
      </p:sp>
      <p:sp>
        <p:nvSpPr>
          <p:cNvPr id="80" name="tekst"/>
          <p:cNvSpPr txBox="1"/>
          <p:nvPr/>
        </p:nvSpPr>
        <p:spPr>
          <a:xfrm>
            <a:off x="4181475" y="8773716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obawa przed różnicami kolorystycznymi.</a:t>
            </a:r>
          </a:p>
        </p:txBody>
      </p:sp>
      <p:sp>
        <p:nvSpPr>
          <p:cNvPr id="81" name="tekst"/>
          <p:cNvSpPr txBox="1"/>
          <p:nvPr/>
        </p:nvSpPr>
        <p:spPr>
          <a:xfrm>
            <a:off x="609600" y="10353675"/>
            <a:ext cx="229790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 · BRAND BOOK</a:t>
            </a:r>
          </a:p>
        </p:txBody>
      </p:sp>
      <p:sp>
        <p:nvSpPr>
          <p:cNvPr id="82" name="tekst"/>
          <p:cNvSpPr txBox="1"/>
          <p:nvPr/>
        </p:nvSpPr>
        <p:spPr>
          <a:xfrm>
            <a:off x="6180534" y="10353675"/>
            <a:ext cx="82986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WERSJA 1.0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lo/linia"/>
          <p:cNvSpPr/>
          <p:nvPr/>
        </p:nvSpPr>
        <p:spPr>
          <a:xfrm>
            <a:off x="0" y="0"/>
            <a:ext cx="7562850" cy="10696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lo/linia"/>
          <p:cNvSpPr/>
          <p:nvPr/>
        </p:nvSpPr>
        <p:spPr>
          <a:xfrm>
            <a:off x="0" y="0"/>
            <a:ext cx="533400" cy="5334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lo/linia"/>
          <p:cNvSpPr/>
          <p:nvPr/>
        </p:nvSpPr>
        <p:spPr>
          <a:xfrm>
            <a:off x="723900" y="2167756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lo/linia"/>
          <p:cNvSpPr/>
          <p:nvPr/>
        </p:nvSpPr>
        <p:spPr>
          <a:xfrm>
            <a:off x="742950" y="2496163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lo/linia"/>
          <p:cNvSpPr/>
          <p:nvPr/>
        </p:nvSpPr>
        <p:spPr>
          <a:xfrm>
            <a:off x="742950" y="2799028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lo/linia"/>
          <p:cNvSpPr/>
          <p:nvPr/>
        </p:nvSpPr>
        <p:spPr>
          <a:xfrm>
            <a:off x="742950" y="3101894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lo/linia"/>
          <p:cNvSpPr/>
          <p:nvPr/>
        </p:nvSpPr>
        <p:spPr>
          <a:xfrm>
            <a:off x="742950" y="3404759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lo/linia"/>
          <p:cNvSpPr/>
          <p:nvPr/>
        </p:nvSpPr>
        <p:spPr>
          <a:xfrm>
            <a:off x="742950" y="3707624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lo/linia"/>
          <p:cNvSpPr/>
          <p:nvPr/>
        </p:nvSpPr>
        <p:spPr>
          <a:xfrm>
            <a:off x="742950" y="4237155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lo/linia"/>
          <p:cNvSpPr/>
          <p:nvPr/>
        </p:nvSpPr>
        <p:spPr>
          <a:xfrm>
            <a:off x="723900" y="4676403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lo/linia"/>
          <p:cNvSpPr/>
          <p:nvPr/>
        </p:nvSpPr>
        <p:spPr>
          <a:xfrm>
            <a:off x="742950" y="5004810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lo/linia"/>
          <p:cNvSpPr/>
          <p:nvPr/>
        </p:nvSpPr>
        <p:spPr>
          <a:xfrm>
            <a:off x="742950" y="5307675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lo/linia"/>
          <p:cNvSpPr/>
          <p:nvPr/>
        </p:nvSpPr>
        <p:spPr>
          <a:xfrm>
            <a:off x="742950" y="5610541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lo/linia"/>
          <p:cNvSpPr/>
          <p:nvPr/>
        </p:nvSpPr>
        <p:spPr>
          <a:xfrm>
            <a:off x="742950" y="5913406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lo/linia"/>
          <p:cNvSpPr/>
          <p:nvPr/>
        </p:nvSpPr>
        <p:spPr>
          <a:xfrm>
            <a:off x="742950" y="6216271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lo/linia"/>
          <p:cNvSpPr/>
          <p:nvPr/>
        </p:nvSpPr>
        <p:spPr>
          <a:xfrm>
            <a:off x="742950" y="6519136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lo/linia"/>
          <p:cNvSpPr/>
          <p:nvPr/>
        </p:nvSpPr>
        <p:spPr>
          <a:xfrm>
            <a:off x="742950" y="6822001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lo/linia"/>
          <p:cNvSpPr/>
          <p:nvPr/>
        </p:nvSpPr>
        <p:spPr>
          <a:xfrm>
            <a:off x="742950" y="7124867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lo/linia"/>
          <p:cNvSpPr/>
          <p:nvPr/>
        </p:nvSpPr>
        <p:spPr>
          <a:xfrm>
            <a:off x="723900" y="7564115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lo/linia"/>
          <p:cNvSpPr/>
          <p:nvPr/>
        </p:nvSpPr>
        <p:spPr>
          <a:xfrm>
            <a:off x="742950" y="7892522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lo/linia"/>
          <p:cNvSpPr/>
          <p:nvPr/>
        </p:nvSpPr>
        <p:spPr>
          <a:xfrm>
            <a:off x="742950" y="8422053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lo/linia"/>
          <p:cNvSpPr/>
          <p:nvPr/>
        </p:nvSpPr>
        <p:spPr>
          <a:xfrm>
            <a:off x="742950" y="8724918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lo/linia"/>
          <p:cNvSpPr/>
          <p:nvPr/>
        </p:nvSpPr>
        <p:spPr>
          <a:xfrm>
            <a:off x="742950" y="9027783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lo/linia"/>
          <p:cNvSpPr/>
          <p:nvPr/>
        </p:nvSpPr>
        <p:spPr>
          <a:xfrm>
            <a:off x="742950" y="9330648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lo/linia"/>
          <p:cNvSpPr/>
          <p:nvPr/>
        </p:nvSpPr>
        <p:spPr>
          <a:xfrm>
            <a:off x="742950" y="9633514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lo/linia"/>
          <p:cNvSpPr/>
          <p:nvPr/>
        </p:nvSpPr>
        <p:spPr>
          <a:xfrm>
            <a:off x="3990975" y="994395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lo/linia"/>
          <p:cNvSpPr/>
          <p:nvPr/>
        </p:nvSpPr>
        <p:spPr>
          <a:xfrm>
            <a:off x="4010025" y="1322802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lo/linia"/>
          <p:cNvSpPr/>
          <p:nvPr/>
        </p:nvSpPr>
        <p:spPr>
          <a:xfrm>
            <a:off x="4010025" y="1852333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lo/linia"/>
          <p:cNvSpPr/>
          <p:nvPr/>
        </p:nvSpPr>
        <p:spPr>
          <a:xfrm>
            <a:off x="4010025" y="2155198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lo/linia"/>
          <p:cNvSpPr/>
          <p:nvPr/>
        </p:nvSpPr>
        <p:spPr>
          <a:xfrm>
            <a:off x="4010025" y="2684728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lo/linia"/>
          <p:cNvSpPr/>
          <p:nvPr/>
        </p:nvSpPr>
        <p:spPr>
          <a:xfrm>
            <a:off x="3990975" y="3123977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lo/linia"/>
          <p:cNvSpPr/>
          <p:nvPr/>
        </p:nvSpPr>
        <p:spPr>
          <a:xfrm>
            <a:off x="3990975" y="6276454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lo/linia"/>
          <p:cNvSpPr/>
          <p:nvPr/>
        </p:nvSpPr>
        <p:spPr>
          <a:xfrm>
            <a:off x="4010025" y="6604861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lo/linia"/>
          <p:cNvSpPr/>
          <p:nvPr/>
        </p:nvSpPr>
        <p:spPr>
          <a:xfrm>
            <a:off x="4010025" y="6907726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lo/linia"/>
          <p:cNvSpPr/>
          <p:nvPr/>
        </p:nvSpPr>
        <p:spPr>
          <a:xfrm>
            <a:off x="4010025" y="7437257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lo/linia"/>
          <p:cNvSpPr/>
          <p:nvPr/>
        </p:nvSpPr>
        <p:spPr>
          <a:xfrm>
            <a:off x="4010025" y="7740122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lo/linia"/>
          <p:cNvSpPr/>
          <p:nvPr/>
        </p:nvSpPr>
        <p:spPr>
          <a:xfrm>
            <a:off x="609600" y="10267950"/>
            <a:ext cx="634365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kst"/>
          <p:cNvSpPr txBox="1"/>
          <p:nvPr/>
        </p:nvSpPr>
        <p:spPr>
          <a:xfrm>
            <a:off x="166836" y="161925"/>
            <a:ext cx="256729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300" b="1" i="0">
                <a:solidFill>
                  <a:srgbClr val="000000"/>
                </a:solidFill>
                <a:latin typeface="Overpass Mono"/>
              </a:rPr>
              <a:t>13</a:t>
            </a:r>
          </a:p>
        </p:txBody>
      </p:sp>
      <p:sp>
        <p:nvSpPr>
          <p:cNvPr id="40" name="tekst"/>
          <p:cNvSpPr txBox="1"/>
          <p:nvPr/>
        </p:nvSpPr>
        <p:spPr>
          <a:xfrm>
            <a:off x="762000" y="209550"/>
            <a:ext cx="2066181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CZĘŚĆ I · FUNDAMENTY MARKI</a:t>
            </a:r>
          </a:p>
        </p:txBody>
      </p:sp>
      <p:sp>
        <p:nvSpPr>
          <p:cNvPr id="41" name="tekst"/>
          <p:cNvSpPr txBox="1"/>
          <p:nvPr/>
        </p:nvSpPr>
        <p:spPr>
          <a:xfrm>
            <a:off x="5716935" y="209550"/>
            <a:ext cx="1293465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</a:t>
            </a:r>
          </a:p>
        </p:txBody>
      </p:sp>
      <p:sp>
        <p:nvSpPr>
          <p:cNvPr id="42" name="tekst"/>
          <p:cNvSpPr txBox="1"/>
          <p:nvPr/>
        </p:nvSpPr>
        <p:spPr>
          <a:xfrm>
            <a:off x="723900" y="952500"/>
            <a:ext cx="2905125" cy="9066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To szczególnie ważne przy starej cegle, bo każda partia może różnić się kolorem, strukturą czy wymiarem - marka sama komunikuje, że jest to naturalna cecha produktu.</a:t>
            </a:r>
          </a:p>
        </p:txBody>
      </p:sp>
      <p:sp>
        <p:nvSpPr>
          <p:cNvPr id="43" name="tekst"/>
          <p:cNvSpPr txBox="1"/>
          <p:nvPr/>
        </p:nvSpPr>
        <p:spPr>
          <a:xfrm>
            <a:off x="876300" y="2125861"/>
            <a:ext cx="133007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TRIGGER ZAKUPOWY</a:t>
            </a:r>
          </a:p>
        </p:txBody>
      </p:sp>
      <p:sp>
        <p:nvSpPr>
          <p:cNvPr id="44" name="tekst"/>
          <p:cNvSpPr txBox="1"/>
          <p:nvPr/>
        </p:nvSpPr>
        <p:spPr>
          <a:xfrm>
            <a:off x="914400" y="2400151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remont salonu lub kuchni,</a:t>
            </a:r>
          </a:p>
        </p:txBody>
      </p:sp>
      <p:sp>
        <p:nvSpPr>
          <p:cNvPr id="45" name="tekst"/>
          <p:cNvSpPr txBox="1"/>
          <p:nvPr/>
        </p:nvSpPr>
        <p:spPr>
          <a:xfrm>
            <a:off x="914400" y="2703016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budowa domu,</a:t>
            </a:r>
          </a:p>
        </p:txBody>
      </p:sp>
      <p:sp>
        <p:nvSpPr>
          <p:cNvPr id="46" name="tekst"/>
          <p:cNvSpPr txBox="1"/>
          <p:nvPr/>
        </p:nvSpPr>
        <p:spPr>
          <a:xfrm>
            <a:off x="914400" y="3005882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projekt kominka,</a:t>
            </a:r>
          </a:p>
        </p:txBody>
      </p:sp>
      <p:sp>
        <p:nvSpPr>
          <p:cNvPr id="47" name="tekst"/>
          <p:cNvSpPr txBox="1"/>
          <p:nvPr/>
        </p:nvSpPr>
        <p:spPr>
          <a:xfrm>
            <a:off x="914400" y="3308747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wykończenie elewacji,</a:t>
            </a:r>
          </a:p>
        </p:txBody>
      </p:sp>
      <p:sp>
        <p:nvSpPr>
          <p:cNvPr id="48" name="tekst"/>
          <p:cNvSpPr txBox="1"/>
          <p:nvPr/>
        </p:nvSpPr>
        <p:spPr>
          <a:xfrm>
            <a:off x="914400" y="3611612"/>
            <a:ext cx="27146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inspiracja znaleziona na Pinterest/Instagramie,</a:t>
            </a:r>
          </a:p>
        </p:txBody>
      </p:sp>
      <p:sp>
        <p:nvSpPr>
          <p:cNvPr id="49" name="tekst"/>
          <p:cNvSpPr txBox="1"/>
          <p:nvPr/>
        </p:nvSpPr>
        <p:spPr>
          <a:xfrm>
            <a:off x="914400" y="4141143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zobaczenie podobnej realizacji u kogoś.</a:t>
            </a:r>
          </a:p>
        </p:txBody>
      </p:sp>
      <p:sp>
        <p:nvSpPr>
          <p:cNvPr id="50" name="tekst"/>
          <p:cNvSpPr txBox="1"/>
          <p:nvPr/>
        </p:nvSpPr>
        <p:spPr>
          <a:xfrm>
            <a:off x="876300" y="4634508"/>
            <a:ext cx="1250454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KRYTERIA WYBORU</a:t>
            </a:r>
          </a:p>
        </p:txBody>
      </p:sp>
      <p:sp>
        <p:nvSpPr>
          <p:cNvPr id="51" name="tekst"/>
          <p:cNvSpPr txBox="1"/>
          <p:nvPr/>
        </p:nvSpPr>
        <p:spPr>
          <a:xfrm>
            <a:off x="914400" y="4908798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efekt wizualny,</a:t>
            </a:r>
          </a:p>
        </p:txBody>
      </p:sp>
      <p:sp>
        <p:nvSpPr>
          <p:cNvPr id="52" name="tekst"/>
          <p:cNvSpPr txBox="1"/>
          <p:nvPr/>
        </p:nvSpPr>
        <p:spPr>
          <a:xfrm>
            <a:off x="914400" y="5211663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autentyczność materiału,</a:t>
            </a:r>
          </a:p>
        </p:txBody>
      </p:sp>
      <p:sp>
        <p:nvSpPr>
          <p:cNvPr id="53" name="tekst"/>
          <p:cNvSpPr txBox="1"/>
          <p:nvPr/>
        </p:nvSpPr>
        <p:spPr>
          <a:xfrm>
            <a:off x="914400" y="5514529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cena za m²,</a:t>
            </a:r>
          </a:p>
        </p:txBody>
      </p:sp>
      <p:sp>
        <p:nvSpPr>
          <p:cNvPr id="54" name="tekst"/>
          <p:cNvSpPr txBox="1"/>
          <p:nvPr/>
        </p:nvSpPr>
        <p:spPr>
          <a:xfrm>
            <a:off x="914400" y="5817394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dostępność próbki,</a:t>
            </a:r>
          </a:p>
        </p:txBody>
      </p:sp>
      <p:sp>
        <p:nvSpPr>
          <p:cNvPr id="55" name="tekst"/>
          <p:cNvSpPr txBox="1"/>
          <p:nvPr/>
        </p:nvSpPr>
        <p:spPr>
          <a:xfrm>
            <a:off x="914400" y="6120259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zdjęcia realizacji,</a:t>
            </a:r>
          </a:p>
        </p:txBody>
      </p:sp>
      <p:sp>
        <p:nvSpPr>
          <p:cNvPr id="56" name="tekst"/>
          <p:cNvSpPr txBox="1"/>
          <p:nvPr/>
        </p:nvSpPr>
        <p:spPr>
          <a:xfrm>
            <a:off x="914400" y="6423124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łatwość montażu,</a:t>
            </a:r>
          </a:p>
        </p:txBody>
      </p:sp>
      <p:sp>
        <p:nvSpPr>
          <p:cNvPr id="57" name="tekst"/>
          <p:cNvSpPr txBox="1"/>
          <p:nvPr/>
        </p:nvSpPr>
        <p:spPr>
          <a:xfrm>
            <a:off x="914400" y="6725989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dostępność chemii,</a:t>
            </a:r>
          </a:p>
        </p:txBody>
      </p:sp>
      <p:sp>
        <p:nvSpPr>
          <p:cNvPr id="58" name="tekst"/>
          <p:cNvSpPr txBox="1"/>
          <p:nvPr/>
        </p:nvSpPr>
        <p:spPr>
          <a:xfrm>
            <a:off x="914400" y="7028855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koszt dostawy.</a:t>
            </a:r>
          </a:p>
        </p:txBody>
      </p:sp>
      <p:sp>
        <p:nvSpPr>
          <p:cNvPr id="59" name="tekst"/>
          <p:cNvSpPr txBox="1"/>
          <p:nvPr/>
        </p:nvSpPr>
        <p:spPr>
          <a:xfrm>
            <a:off x="876300" y="7522220"/>
            <a:ext cx="693688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OBIEKCJE</a:t>
            </a:r>
          </a:p>
        </p:txBody>
      </p:sp>
      <p:sp>
        <p:nvSpPr>
          <p:cNvPr id="60" name="tekst"/>
          <p:cNvSpPr txBox="1"/>
          <p:nvPr/>
        </p:nvSpPr>
        <p:spPr>
          <a:xfrm>
            <a:off x="914400" y="7796510"/>
            <a:ext cx="27146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Czy na żywo będzie wyglądało tak jak na zdjęciu?</a:t>
            </a:r>
          </a:p>
        </p:txBody>
      </p:sp>
      <p:sp>
        <p:nvSpPr>
          <p:cNvPr id="61" name="tekst"/>
          <p:cNvSpPr txBox="1"/>
          <p:nvPr/>
        </p:nvSpPr>
        <p:spPr>
          <a:xfrm>
            <a:off x="914400" y="8326041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Czy kolor będzie równy?</a:t>
            </a:r>
          </a:p>
        </p:txBody>
      </p:sp>
      <p:sp>
        <p:nvSpPr>
          <p:cNvPr id="62" name="tekst"/>
          <p:cNvSpPr txBox="1"/>
          <p:nvPr/>
        </p:nvSpPr>
        <p:spPr>
          <a:xfrm>
            <a:off x="914400" y="8628906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Czy poradzimy sobie z montażem?</a:t>
            </a:r>
          </a:p>
        </p:txBody>
      </p:sp>
      <p:sp>
        <p:nvSpPr>
          <p:cNvPr id="63" name="tekst"/>
          <p:cNvSpPr txBox="1"/>
          <p:nvPr/>
        </p:nvSpPr>
        <p:spPr>
          <a:xfrm>
            <a:off x="914400" y="8931771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Czy cegła nie będzie się kruszyć?</a:t>
            </a:r>
          </a:p>
        </p:txBody>
      </p:sp>
      <p:sp>
        <p:nvSpPr>
          <p:cNvPr id="64" name="tekst"/>
          <p:cNvSpPr txBox="1"/>
          <p:nvPr/>
        </p:nvSpPr>
        <p:spPr>
          <a:xfrm>
            <a:off x="914400" y="9234636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Czy nie będzie za ciężka?</a:t>
            </a:r>
          </a:p>
        </p:txBody>
      </p:sp>
      <p:sp>
        <p:nvSpPr>
          <p:cNvPr id="65" name="tekst"/>
          <p:cNvSpPr txBox="1"/>
          <p:nvPr/>
        </p:nvSpPr>
        <p:spPr>
          <a:xfrm>
            <a:off x="914400" y="9537502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Czy łatwo ją utrzymać w czystości?</a:t>
            </a:r>
          </a:p>
        </p:txBody>
      </p:sp>
      <p:sp>
        <p:nvSpPr>
          <p:cNvPr id="66" name="tekst"/>
          <p:cNvSpPr txBox="1"/>
          <p:nvPr/>
        </p:nvSpPr>
        <p:spPr>
          <a:xfrm>
            <a:off x="4143375" y="952500"/>
            <a:ext cx="61406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BARIERY</a:t>
            </a:r>
          </a:p>
        </p:txBody>
      </p:sp>
      <p:sp>
        <p:nvSpPr>
          <p:cNvPr id="67" name="tekst"/>
          <p:cNvSpPr txBox="1"/>
          <p:nvPr/>
        </p:nvSpPr>
        <p:spPr>
          <a:xfrm>
            <a:off x="4181475" y="1226790"/>
            <a:ext cx="27146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brak możliwości zobaczenia produktu na żywo,</a:t>
            </a:r>
          </a:p>
        </p:txBody>
      </p:sp>
      <p:sp>
        <p:nvSpPr>
          <p:cNvPr id="68" name="tekst"/>
          <p:cNvSpPr txBox="1"/>
          <p:nvPr/>
        </p:nvSpPr>
        <p:spPr>
          <a:xfrm>
            <a:off x="4181475" y="1756321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naturalna zmienność starej cegły,</a:t>
            </a:r>
          </a:p>
        </p:txBody>
      </p:sp>
      <p:sp>
        <p:nvSpPr>
          <p:cNvPr id="69" name="tekst"/>
          <p:cNvSpPr txBox="1"/>
          <p:nvPr/>
        </p:nvSpPr>
        <p:spPr>
          <a:xfrm>
            <a:off x="4181475" y="2059186"/>
            <a:ext cx="27146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większy ciężar i trudniejszy montaż niż lekkiej imitacji,</a:t>
            </a:r>
          </a:p>
        </p:txBody>
      </p:sp>
      <p:sp>
        <p:nvSpPr>
          <p:cNvPr id="70" name="tekst"/>
          <p:cNvSpPr txBox="1"/>
          <p:nvPr/>
        </p:nvSpPr>
        <p:spPr>
          <a:xfrm>
            <a:off x="4181475" y="2588716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niepewność, ile materiału zamówić.</a:t>
            </a:r>
          </a:p>
        </p:txBody>
      </p:sp>
      <p:sp>
        <p:nvSpPr>
          <p:cNvPr id="71" name="tekst"/>
          <p:cNvSpPr txBox="1"/>
          <p:nvPr/>
        </p:nvSpPr>
        <p:spPr>
          <a:xfrm>
            <a:off x="4143375" y="3082082"/>
            <a:ext cx="1250454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ŚCIEŻKA DECYZJI</a:t>
            </a:r>
          </a:p>
        </p:txBody>
      </p:sp>
      <p:sp>
        <p:nvSpPr>
          <p:cNvPr id="72" name="tekst"/>
          <p:cNvSpPr txBox="1"/>
          <p:nvPr/>
        </p:nvSpPr>
        <p:spPr>
          <a:xfrm>
            <a:off x="3990975" y="3356372"/>
            <a:ext cx="2905125" cy="9066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Inspiracja - wyszukiwanie „stara cegła na ścianę”- oglądanie realizacji - porównanie modeli - próbka - kalkulacja m² i kosztów- konsultacja -zakup.</a:t>
            </a:r>
          </a:p>
        </p:txBody>
      </p:sp>
      <p:sp>
        <p:nvSpPr>
          <p:cNvPr id="73" name="tekst"/>
          <p:cNvSpPr txBox="1"/>
          <p:nvPr/>
        </p:nvSpPr>
        <p:spPr>
          <a:xfrm>
            <a:off x="3990975" y="4529733"/>
            <a:ext cx="2905125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i="0" spc="-12">
                <a:solidFill>
                  <a:srgbClr val="000000"/>
                </a:solidFill>
                <a:latin typeface="Hanken Grotesk"/>
              </a:rPr>
              <a:t>Segment 2/ Architekt / projektant wnętrz</a:t>
            </a:r>
          </a:p>
        </p:txBody>
      </p:sp>
      <p:sp>
        <p:nvSpPr>
          <p:cNvPr id="74" name="tekst"/>
          <p:cNvSpPr txBox="1"/>
          <p:nvPr/>
        </p:nvSpPr>
        <p:spPr>
          <a:xfrm>
            <a:off x="3990975" y="4834533"/>
            <a:ext cx="2905125" cy="11333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Potrzeba</a:t>
            </a:r>
            <a:br/>
            <a:r>
              <a:rPr sz="1050" b="0" i="0">
                <a:solidFill>
                  <a:srgbClr val="000000"/>
                </a:solidFill>
                <a:latin typeface="Hanken Grotesk"/>
              </a:rPr>
              <a:t>Znaleźć charakterystyczny materiał, który wnosi do projektu autentyczność i pozwala stworzyć realizację inną niż typowe wnętrza katalogowe.</a:t>
            </a:r>
          </a:p>
        </p:txBody>
      </p:sp>
      <p:sp>
        <p:nvSpPr>
          <p:cNvPr id="75" name="tekst"/>
          <p:cNvSpPr txBox="1"/>
          <p:nvPr/>
        </p:nvSpPr>
        <p:spPr>
          <a:xfrm>
            <a:off x="4143375" y="6234559"/>
            <a:ext cx="61406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PROBLEM</a:t>
            </a:r>
          </a:p>
        </p:txBody>
      </p:sp>
      <p:sp>
        <p:nvSpPr>
          <p:cNvPr id="76" name="tekst"/>
          <p:cNvSpPr txBox="1"/>
          <p:nvPr/>
        </p:nvSpPr>
        <p:spPr>
          <a:xfrm>
            <a:off x="4181475" y="6508849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musi przewidzieć efekt końcowy,</a:t>
            </a:r>
          </a:p>
        </p:txBody>
      </p:sp>
      <p:sp>
        <p:nvSpPr>
          <p:cNvPr id="77" name="tekst"/>
          <p:cNvSpPr txBox="1"/>
          <p:nvPr/>
        </p:nvSpPr>
        <p:spPr>
          <a:xfrm>
            <a:off x="4181475" y="6811714"/>
            <a:ext cx="27146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potrzebuje wiarygodnych informacji technicznych,</a:t>
            </a:r>
          </a:p>
        </p:txBody>
      </p:sp>
      <p:sp>
        <p:nvSpPr>
          <p:cNvPr id="78" name="tekst"/>
          <p:cNvSpPr txBox="1"/>
          <p:nvPr/>
        </p:nvSpPr>
        <p:spPr>
          <a:xfrm>
            <a:off x="4181475" y="7341245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materiał musi pasować do koncepcji,</a:t>
            </a:r>
          </a:p>
        </p:txBody>
      </p:sp>
      <p:sp>
        <p:nvSpPr>
          <p:cNvPr id="79" name="tekst"/>
          <p:cNvSpPr txBox="1"/>
          <p:nvPr/>
        </p:nvSpPr>
        <p:spPr>
          <a:xfrm>
            <a:off x="4181475" y="7644110"/>
            <a:ext cx="27146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klient musi zaakceptować naturalne różnice starej cegły.</a:t>
            </a:r>
          </a:p>
        </p:txBody>
      </p:sp>
      <p:sp>
        <p:nvSpPr>
          <p:cNvPr id="80" name="tekst"/>
          <p:cNvSpPr txBox="1"/>
          <p:nvPr/>
        </p:nvSpPr>
        <p:spPr>
          <a:xfrm>
            <a:off x="609600" y="10353675"/>
            <a:ext cx="229790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 · BRAND BOOK</a:t>
            </a:r>
          </a:p>
        </p:txBody>
      </p:sp>
      <p:sp>
        <p:nvSpPr>
          <p:cNvPr id="81" name="tekst"/>
          <p:cNvSpPr txBox="1"/>
          <p:nvPr/>
        </p:nvSpPr>
        <p:spPr>
          <a:xfrm>
            <a:off x="6180534" y="10353675"/>
            <a:ext cx="82986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WERSJA 1.0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lo/linia"/>
          <p:cNvSpPr/>
          <p:nvPr/>
        </p:nvSpPr>
        <p:spPr>
          <a:xfrm>
            <a:off x="0" y="0"/>
            <a:ext cx="7562850" cy="10696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lo/linia"/>
          <p:cNvSpPr/>
          <p:nvPr/>
        </p:nvSpPr>
        <p:spPr>
          <a:xfrm>
            <a:off x="0" y="0"/>
            <a:ext cx="533400" cy="5334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lo/linia"/>
          <p:cNvSpPr/>
          <p:nvPr/>
        </p:nvSpPr>
        <p:spPr>
          <a:xfrm>
            <a:off x="742950" y="1635192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lo/linia"/>
          <p:cNvSpPr/>
          <p:nvPr/>
        </p:nvSpPr>
        <p:spPr>
          <a:xfrm>
            <a:off x="742950" y="1938058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lo/linia"/>
          <p:cNvSpPr/>
          <p:nvPr/>
        </p:nvSpPr>
        <p:spPr>
          <a:xfrm>
            <a:off x="742950" y="2240923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lo/linia"/>
          <p:cNvSpPr/>
          <p:nvPr/>
        </p:nvSpPr>
        <p:spPr>
          <a:xfrm>
            <a:off x="742950" y="2543788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lo/linia"/>
          <p:cNvSpPr/>
          <p:nvPr/>
        </p:nvSpPr>
        <p:spPr>
          <a:xfrm>
            <a:off x="742950" y="2846653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lo/linia"/>
          <p:cNvSpPr/>
          <p:nvPr/>
        </p:nvSpPr>
        <p:spPr>
          <a:xfrm>
            <a:off x="742950" y="3149519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lo/linia"/>
          <p:cNvSpPr/>
          <p:nvPr/>
        </p:nvSpPr>
        <p:spPr>
          <a:xfrm>
            <a:off x="723900" y="3588767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lo/linia"/>
          <p:cNvSpPr/>
          <p:nvPr/>
        </p:nvSpPr>
        <p:spPr>
          <a:xfrm>
            <a:off x="742950" y="3917174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lo/linia"/>
          <p:cNvSpPr/>
          <p:nvPr/>
        </p:nvSpPr>
        <p:spPr>
          <a:xfrm>
            <a:off x="742950" y="4220039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lo/linia"/>
          <p:cNvSpPr/>
          <p:nvPr/>
        </p:nvSpPr>
        <p:spPr>
          <a:xfrm>
            <a:off x="742950" y="4522905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lo/linia"/>
          <p:cNvSpPr/>
          <p:nvPr/>
        </p:nvSpPr>
        <p:spPr>
          <a:xfrm>
            <a:off x="742950" y="4825770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lo/linia"/>
          <p:cNvSpPr/>
          <p:nvPr/>
        </p:nvSpPr>
        <p:spPr>
          <a:xfrm>
            <a:off x="742950" y="5128635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lo/linia"/>
          <p:cNvSpPr/>
          <p:nvPr/>
        </p:nvSpPr>
        <p:spPr>
          <a:xfrm>
            <a:off x="742950" y="5431500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lo/linia"/>
          <p:cNvSpPr/>
          <p:nvPr/>
        </p:nvSpPr>
        <p:spPr>
          <a:xfrm>
            <a:off x="742950" y="5734366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lo/linia"/>
          <p:cNvSpPr/>
          <p:nvPr/>
        </p:nvSpPr>
        <p:spPr>
          <a:xfrm>
            <a:off x="742950" y="6037231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lo/linia"/>
          <p:cNvSpPr/>
          <p:nvPr/>
        </p:nvSpPr>
        <p:spPr>
          <a:xfrm>
            <a:off x="742950" y="6340096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lo/linia"/>
          <p:cNvSpPr/>
          <p:nvPr/>
        </p:nvSpPr>
        <p:spPr>
          <a:xfrm>
            <a:off x="723900" y="7838405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lo/linia"/>
          <p:cNvSpPr/>
          <p:nvPr/>
        </p:nvSpPr>
        <p:spPr>
          <a:xfrm>
            <a:off x="742950" y="8166812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lo/linia"/>
          <p:cNvSpPr/>
          <p:nvPr/>
        </p:nvSpPr>
        <p:spPr>
          <a:xfrm>
            <a:off x="742950" y="8469678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lo/linia"/>
          <p:cNvSpPr/>
          <p:nvPr/>
        </p:nvSpPr>
        <p:spPr>
          <a:xfrm>
            <a:off x="742950" y="8772543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lo/linia"/>
          <p:cNvSpPr/>
          <p:nvPr/>
        </p:nvSpPr>
        <p:spPr>
          <a:xfrm>
            <a:off x="742950" y="9302073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lo/linia"/>
          <p:cNvSpPr/>
          <p:nvPr/>
        </p:nvSpPr>
        <p:spPr>
          <a:xfrm>
            <a:off x="3990975" y="994395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lo/linia"/>
          <p:cNvSpPr/>
          <p:nvPr/>
        </p:nvSpPr>
        <p:spPr>
          <a:xfrm>
            <a:off x="4010025" y="1322802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lo/linia"/>
          <p:cNvSpPr/>
          <p:nvPr/>
        </p:nvSpPr>
        <p:spPr>
          <a:xfrm>
            <a:off x="4010025" y="1625667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lo/linia"/>
          <p:cNvSpPr/>
          <p:nvPr/>
        </p:nvSpPr>
        <p:spPr>
          <a:xfrm>
            <a:off x="4010025" y="1928533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lo/linia"/>
          <p:cNvSpPr/>
          <p:nvPr/>
        </p:nvSpPr>
        <p:spPr>
          <a:xfrm>
            <a:off x="4010025" y="2231398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lo/linia"/>
          <p:cNvSpPr/>
          <p:nvPr/>
        </p:nvSpPr>
        <p:spPr>
          <a:xfrm>
            <a:off x="3990975" y="2670646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lo/linia"/>
          <p:cNvSpPr/>
          <p:nvPr/>
        </p:nvSpPr>
        <p:spPr>
          <a:xfrm>
            <a:off x="3990975" y="5786958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lo/linia"/>
          <p:cNvSpPr/>
          <p:nvPr/>
        </p:nvSpPr>
        <p:spPr>
          <a:xfrm>
            <a:off x="4010025" y="6115366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lo/linia"/>
          <p:cNvSpPr/>
          <p:nvPr/>
        </p:nvSpPr>
        <p:spPr>
          <a:xfrm>
            <a:off x="4010025" y="6418231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lo/linia"/>
          <p:cNvSpPr/>
          <p:nvPr/>
        </p:nvSpPr>
        <p:spPr>
          <a:xfrm>
            <a:off x="4010025" y="6947761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lo/linia"/>
          <p:cNvSpPr/>
          <p:nvPr/>
        </p:nvSpPr>
        <p:spPr>
          <a:xfrm>
            <a:off x="4010025" y="7250626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lo/linia"/>
          <p:cNvSpPr/>
          <p:nvPr/>
        </p:nvSpPr>
        <p:spPr>
          <a:xfrm>
            <a:off x="4010025" y="7553492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lo/linia"/>
          <p:cNvSpPr/>
          <p:nvPr/>
        </p:nvSpPr>
        <p:spPr>
          <a:xfrm>
            <a:off x="609600" y="10267950"/>
            <a:ext cx="634365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kst"/>
          <p:cNvSpPr txBox="1"/>
          <p:nvPr/>
        </p:nvSpPr>
        <p:spPr>
          <a:xfrm>
            <a:off x="166836" y="161925"/>
            <a:ext cx="256729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300" b="1" i="0">
                <a:solidFill>
                  <a:srgbClr val="000000"/>
                </a:solidFill>
                <a:latin typeface="Overpass Mono"/>
              </a:rPr>
              <a:t>14</a:t>
            </a:r>
          </a:p>
        </p:txBody>
      </p:sp>
      <p:sp>
        <p:nvSpPr>
          <p:cNvPr id="39" name="tekst"/>
          <p:cNvSpPr txBox="1"/>
          <p:nvPr/>
        </p:nvSpPr>
        <p:spPr>
          <a:xfrm>
            <a:off x="762000" y="209550"/>
            <a:ext cx="2066181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CZĘŚĆ I · FUNDAMENTY MARKI</a:t>
            </a:r>
          </a:p>
        </p:txBody>
      </p:sp>
      <p:sp>
        <p:nvSpPr>
          <p:cNvPr id="40" name="tekst"/>
          <p:cNvSpPr txBox="1"/>
          <p:nvPr/>
        </p:nvSpPr>
        <p:spPr>
          <a:xfrm>
            <a:off x="5716935" y="209550"/>
            <a:ext cx="1293465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</a:t>
            </a:r>
          </a:p>
        </p:txBody>
      </p:sp>
      <p:sp>
        <p:nvSpPr>
          <p:cNvPr id="41" name="tekst"/>
          <p:cNvSpPr txBox="1"/>
          <p:nvPr/>
        </p:nvSpPr>
        <p:spPr>
          <a:xfrm>
            <a:off x="723900" y="952500"/>
            <a:ext cx="29051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Trigger zakupowy</a:t>
            </a:r>
            <a:br/>
            <a:r>
              <a:rPr sz="1050" b="0" i="0">
                <a:solidFill>
                  <a:srgbClr val="000000"/>
                </a:solidFill>
                <a:latin typeface="Hanken Grotesk"/>
              </a:rPr>
              <a:t>Nowy projekt:</a:t>
            </a:r>
          </a:p>
        </p:txBody>
      </p:sp>
      <p:sp>
        <p:nvSpPr>
          <p:cNvPr id="42" name="tekst"/>
          <p:cNvSpPr txBox="1"/>
          <p:nvPr/>
        </p:nvSpPr>
        <p:spPr>
          <a:xfrm>
            <a:off x="914400" y="1539180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domu,</a:t>
            </a:r>
          </a:p>
        </p:txBody>
      </p:sp>
      <p:sp>
        <p:nvSpPr>
          <p:cNvPr id="43" name="tekst"/>
          <p:cNvSpPr txBox="1"/>
          <p:nvPr/>
        </p:nvSpPr>
        <p:spPr>
          <a:xfrm>
            <a:off x="914400" y="1842046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apartamentu,</a:t>
            </a:r>
          </a:p>
        </p:txBody>
      </p:sp>
      <p:sp>
        <p:nvSpPr>
          <p:cNvPr id="44" name="tekst"/>
          <p:cNvSpPr txBox="1"/>
          <p:nvPr/>
        </p:nvSpPr>
        <p:spPr>
          <a:xfrm>
            <a:off x="914400" y="2144911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restauracji,</a:t>
            </a:r>
          </a:p>
        </p:txBody>
      </p:sp>
      <p:sp>
        <p:nvSpPr>
          <p:cNvPr id="45" name="tekst"/>
          <p:cNvSpPr txBox="1"/>
          <p:nvPr/>
        </p:nvSpPr>
        <p:spPr>
          <a:xfrm>
            <a:off x="914400" y="2447776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hotelu,</a:t>
            </a:r>
          </a:p>
        </p:txBody>
      </p:sp>
      <p:sp>
        <p:nvSpPr>
          <p:cNvPr id="46" name="tekst"/>
          <p:cNvSpPr txBox="1"/>
          <p:nvPr/>
        </p:nvSpPr>
        <p:spPr>
          <a:xfrm>
            <a:off x="914400" y="2750641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biura,</a:t>
            </a:r>
          </a:p>
        </p:txBody>
      </p:sp>
      <p:sp>
        <p:nvSpPr>
          <p:cNvPr id="47" name="tekst"/>
          <p:cNvSpPr txBox="1"/>
          <p:nvPr/>
        </p:nvSpPr>
        <p:spPr>
          <a:xfrm>
            <a:off x="914400" y="3053507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przestrzeni komercyjnej.</a:t>
            </a:r>
          </a:p>
        </p:txBody>
      </p:sp>
      <p:sp>
        <p:nvSpPr>
          <p:cNvPr id="48" name="tekst"/>
          <p:cNvSpPr txBox="1"/>
          <p:nvPr/>
        </p:nvSpPr>
        <p:spPr>
          <a:xfrm>
            <a:off x="876300" y="3546872"/>
            <a:ext cx="1250454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KRYTERIA WYBORU</a:t>
            </a:r>
          </a:p>
        </p:txBody>
      </p:sp>
      <p:sp>
        <p:nvSpPr>
          <p:cNvPr id="49" name="tekst"/>
          <p:cNvSpPr txBox="1"/>
          <p:nvPr/>
        </p:nvSpPr>
        <p:spPr>
          <a:xfrm>
            <a:off x="914400" y="3821162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estetyka,</a:t>
            </a:r>
          </a:p>
        </p:txBody>
      </p:sp>
      <p:sp>
        <p:nvSpPr>
          <p:cNvPr id="50" name="tekst"/>
          <p:cNvSpPr txBox="1"/>
          <p:nvPr/>
        </p:nvSpPr>
        <p:spPr>
          <a:xfrm>
            <a:off x="914400" y="4124027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autentyczność,</a:t>
            </a:r>
          </a:p>
        </p:txBody>
      </p:sp>
      <p:sp>
        <p:nvSpPr>
          <p:cNvPr id="51" name="tekst"/>
          <p:cNvSpPr txBox="1"/>
          <p:nvPr/>
        </p:nvSpPr>
        <p:spPr>
          <a:xfrm>
            <a:off x="914400" y="4426893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dostępne warianty,</a:t>
            </a:r>
          </a:p>
        </p:txBody>
      </p:sp>
      <p:sp>
        <p:nvSpPr>
          <p:cNvPr id="52" name="tekst"/>
          <p:cNvSpPr txBox="1"/>
          <p:nvPr/>
        </p:nvSpPr>
        <p:spPr>
          <a:xfrm>
            <a:off x="914400" y="4729758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przewidywalność efektu,</a:t>
            </a:r>
          </a:p>
        </p:txBody>
      </p:sp>
      <p:sp>
        <p:nvSpPr>
          <p:cNvPr id="53" name="tekst"/>
          <p:cNvSpPr txBox="1"/>
          <p:nvPr/>
        </p:nvSpPr>
        <p:spPr>
          <a:xfrm>
            <a:off x="914400" y="5032623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dane techniczne,</a:t>
            </a:r>
          </a:p>
        </p:txBody>
      </p:sp>
      <p:sp>
        <p:nvSpPr>
          <p:cNvPr id="54" name="tekst"/>
          <p:cNvSpPr txBox="1"/>
          <p:nvPr/>
        </p:nvSpPr>
        <p:spPr>
          <a:xfrm>
            <a:off x="914400" y="5335488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możliwość zamówienia próbek,</a:t>
            </a:r>
          </a:p>
        </p:txBody>
      </p:sp>
      <p:sp>
        <p:nvSpPr>
          <p:cNvPr id="55" name="tekst"/>
          <p:cNvSpPr txBox="1"/>
          <p:nvPr/>
        </p:nvSpPr>
        <p:spPr>
          <a:xfrm>
            <a:off x="914400" y="5638354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dostępność produktu,</a:t>
            </a:r>
          </a:p>
        </p:txBody>
      </p:sp>
      <p:sp>
        <p:nvSpPr>
          <p:cNvPr id="56" name="tekst"/>
          <p:cNvSpPr txBox="1"/>
          <p:nvPr/>
        </p:nvSpPr>
        <p:spPr>
          <a:xfrm>
            <a:off x="914400" y="5941219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pomoc producenta,</a:t>
            </a:r>
          </a:p>
        </p:txBody>
      </p:sp>
      <p:sp>
        <p:nvSpPr>
          <p:cNvPr id="57" name="tekst"/>
          <p:cNvSpPr txBox="1"/>
          <p:nvPr/>
        </p:nvSpPr>
        <p:spPr>
          <a:xfrm>
            <a:off x="914400" y="6244084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zdjęcia dobrze wykonanych realizacji.</a:t>
            </a:r>
          </a:p>
        </p:txBody>
      </p:sp>
      <p:sp>
        <p:nvSpPr>
          <p:cNvPr id="58" name="tekst"/>
          <p:cNvSpPr txBox="1"/>
          <p:nvPr/>
        </p:nvSpPr>
        <p:spPr>
          <a:xfrm>
            <a:off x="723900" y="6623149"/>
            <a:ext cx="2905125" cy="9066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Marka już oferuje próbki oraz możliwość dobrania produktu o podobnej kolorystyce do przesłanego zdjęcia, co może być bardzo użyteczne dla projektanta.</a:t>
            </a:r>
          </a:p>
        </p:txBody>
      </p:sp>
      <p:sp>
        <p:nvSpPr>
          <p:cNvPr id="59" name="tekst"/>
          <p:cNvSpPr txBox="1"/>
          <p:nvPr/>
        </p:nvSpPr>
        <p:spPr>
          <a:xfrm>
            <a:off x="876300" y="7796510"/>
            <a:ext cx="693688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OBIEKCJE</a:t>
            </a:r>
          </a:p>
        </p:txBody>
      </p:sp>
      <p:sp>
        <p:nvSpPr>
          <p:cNvPr id="60" name="tekst"/>
          <p:cNvSpPr txBox="1"/>
          <p:nvPr/>
        </p:nvSpPr>
        <p:spPr>
          <a:xfrm>
            <a:off x="914400" y="8070800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Czy kolejna partia będzie podobna?</a:t>
            </a:r>
          </a:p>
        </p:txBody>
      </p:sp>
      <p:sp>
        <p:nvSpPr>
          <p:cNvPr id="61" name="tekst"/>
          <p:cNvSpPr txBox="1"/>
          <p:nvPr/>
        </p:nvSpPr>
        <p:spPr>
          <a:xfrm>
            <a:off x="914400" y="8373666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Czy klient zaakceptuje różnice?</a:t>
            </a:r>
          </a:p>
        </p:txBody>
      </p:sp>
      <p:sp>
        <p:nvSpPr>
          <p:cNvPr id="62" name="tekst"/>
          <p:cNvSpPr txBox="1"/>
          <p:nvPr/>
        </p:nvSpPr>
        <p:spPr>
          <a:xfrm>
            <a:off x="914400" y="8676531"/>
            <a:ext cx="27146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Czy producent dostarczy odpowiednią ilość?</a:t>
            </a:r>
          </a:p>
        </p:txBody>
      </p:sp>
      <p:sp>
        <p:nvSpPr>
          <p:cNvPr id="63" name="tekst"/>
          <p:cNvSpPr txBox="1"/>
          <p:nvPr/>
        </p:nvSpPr>
        <p:spPr>
          <a:xfrm>
            <a:off x="914400" y="9206061"/>
            <a:ext cx="27146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Czy materiał sprawdzi się technicznie w tym miejscu?</a:t>
            </a:r>
          </a:p>
        </p:txBody>
      </p:sp>
      <p:sp>
        <p:nvSpPr>
          <p:cNvPr id="64" name="tekst"/>
          <p:cNvSpPr txBox="1"/>
          <p:nvPr/>
        </p:nvSpPr>
        <p:spPr>
          <a:xfrm>
            <a:off x="4143375" y="952500"/>
            <a:ext cx="61406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BARIERY</a:t>
            </a:r>
          </a:p>
        </p:txBody>
      </p:sp>
      <p:sp>
        <p:nvSpPr>
          <p:cNvPr id="65" name="tekst"/>
          <p:cNvSpPr txBox="1"/>
          <p:nvPr/>
        </p:nvSpPr>
        <p:spPr>
          <a:xfrm>
            <a:off x="4181475" y="1226790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brak dokumentacji technicznej,</a:t>
            </a:r>
          </a:p>
        </p:txBody>
      </p:sp>
      <p:sp>
        <p:nvSpPr>
          <p:cNvPr id="66" name="tekst"/>
          <p:cNvSpPr txBox="1"/>
          <p:nvPr/>
        </p:nvSpPr>
        <p:spPr>
          <a:xfrm>
            <a:off x="4181475" y="1529655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brak próbnika dla projektanta,</a:t>
            </a:r>
          </a:p>
        </p:txBody>
      </p:sp>
      <p:sp>
        <p:nvSpPr>
          <p:cNvPr id="67" name="tekst"/>
          <p:cNvSpPr txBox="1"/>
          <p:nvPr/>
        </p:nvSpPr>
        <p:spPr>
          <a:xfrm>
            <a:off x="4181475" y="1832521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brak dobrej biblioteki zdjęć,</a:t>
            </a:r>
          </a:p>
        </p:txBody>
      </p:sp>
      <p:sp>
        <p:nvSpPr>
          <p:cNvPr id="68" name="tekst"/>
          <p:cNvSpPr txBox="1"/>
          <p:nvPr/>
        </p:nvSpPr>
        <p:spPr>
          <a:xfrm>
            <a:off x="4181475" y="2135386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nieprzewidywalność naturalnego materiału.</a:t>
            </a:r>
          </a:p>
        </p:txBody>
      </p:sp>
      <p:sp>
        <p:nvSpPr>
          <p:cNvPr id="69" name="tekst"/>
          <p:cNvSpPr txBox="1"/>
          <p:nvPr/>
        </p:nvSpPr>
        <p:spPr>
          <a:xfrm>
            <a:off x="4143375" y="2628751"/>
            <a:ext cx="1250454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ŚCIEŻKA DECYZJI</a:t>
            </a:r>
          </a:p>
        </p:txBody>
      </p:sp>
      <p:sp>
        <p:nvSpPr>
          <p:cNvPr id="70" name="tekst"/>
          <p:cNvSpPr txBox="1"/>
          <p:nvPr/>
        </p:nvSpPr>
        <p:spPr>
          <a:xfrm>
            <a:off x="3990975" y="2903041"/>
            <a:ext cx="2905125" cy="9066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Koncepcja projektu - research materiałów - próbki - prezentacja klientowi - uzgodnienie kolorystyki - specyfikacja produktu - wycena - zamówienie.</a:t>
            </a:r>
          </a:p>
        </p:txBody>
      </p:sp>
      <p:sp>
        <p:nvSpPr>
          <p:cNvPr id="71" name="tekst"/>
          <p:cNvSpPr txBox="1"/>
          <p:nvPr/>
        </p:nvSpPr>
        <p:spPr>
          <a:xfrm>
            <a:off x="3990975" y="4076402"/>
            <a:ext cx="2905125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i="0" spc="-12">
                <a:solidFill>
                  <a:srgbClr val="000000"/>
                </a:solidFill>
                <a:latin typeface="Hanken Grotesk"/>
              </a:rPr>
              <a:t>Segment 3 / Wykonawca / firma remontowa</a:t>
            </a:r>
          </a:p>
        </p:txBody>
      </p:sp>
      <p:sp>
        <p:nvSpPr>
          <p:cNvPr id="72" name="tekst"/>
          <p:cNvSpPr txBox="1"/>
          <p:nvPr/>
        </p:nvSpPr>
        <p:spPr>
          <a:xfrm>
            <a:off x="3990975" y="4571702"/>
            <a:ext cx="2905125" cy="9066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Potrzeba</a:t>
            </a:r>
            <a:br/>
            <a:r>
              <a:rPr sz="1050" b="0" i="0">
                <a:solidFill>
                  <a:srgbClr val="000000"/>
                </a:solidFill>
                <a:latin typeface="Hanken Grotesk"/>
              </a:rPr>
              <a:t>Materiał, który da się poprawnie zamontować i do którego są odpowiednie produkty montażowe.</a:t>
            </a:r>
          </a:p>
        </p:txBody>
      </p:sp>
      <p:sp>
        <p:nvSpPr>
          <p:cNvPr id="73" name="tekst"/>
          <p:cNvSpPr txBox="1"/>
          <p:nvPr/>
        </p:nvSpPr>
        <p:spPr>
          <a:xfrm>
            <a:off x="4143375" y="5745063"/>
            <a:ext cx="61406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PROBLEM</a:t>
            </a:r>
          </a:p>
        </p:txBody>
      </p:sp>
      <p:sp>
        <p:nvSpPr>
          <p:cNvPr id="74" name="tekst"/>
          <p:cNvSpPr txBox="1"/>
          <p:nvPr/>
        </p:nvSpPr>
        <p:spPr>
          <a:xfrm>
            <a:off x="4181475" y="6019354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różna grubość płytek,</a:t>
            </a:r>
          </a:p>
        </p:txBody>
      </p:sp>
      <p:sp>
        <p:nvSpPr>
          <p:cNvPr id="75" name="tekst"/>
          <p:cNvSpPr txBox="1"/>
          <p:nvPr/>
        </p:nvSpPr>
        <p:spPr>
          <a:xfrm>
            <a:off x="4181475" y="6322219"/>
            <a:ext cx="27146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konieczność odpowiedniego przygotowania podłoża,</a:t>
            </a:r>
          </a:p>
        </p:txBody>
      </p:sp>
      <p:sp>
        <p:nvSpPr>
          <p:cNvPr id="76" name="tekst"/>
          <p:cNvSpPr txBox="1"/>
          <p:nvPr/>
        </p:nvSpPr>
        <p:spPr>
          <a:xfrm>
            <a:off x="4181475" y="6851749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fugowanie,</a:t>
            </a:r>
          </a:p>
        </p:txBody>
      </p:sp>
      <p:sp>
        <p:nvSpPr>
          <p:cNvPr id="77" name="tekst"/>
          <p:cNvSpPr txBox="1"/>
          <p:nvPr/>
        </p:nvSpPr>
        <p:spPr>
          <a:xfrm>
            <a:off x="4181475" y="7154614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impregnacja,</a:t>
            </a:r>
          </a:p>
        </p:txBody>
      </p:sp>
      <p:sp>
        <p:nvSpPr>
          <p:cNvPr id="78" name="tekst"/>
          <p:cNvSpPr txBox="1"/>
          <p:nvPr/>
        </p:nvSpPr>
        <p:spPr>
          <a:xfrm>
            <a:off x="4181475" y="7457480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odpowiedzialność za efekt końcowy.</a:t>
            </a:r>
          </a:p>
        </p:txBody>
      </p:sp>
      <p:sp>
        <p:nvSpPr>
          <p:cNvPr id="79" name="tekst"/>
          <p:cNvSpPr txBox="1"/>
          <p:nvPr/>
        </p:nvSpPr>
        <p:spPr>
          <a:xfrm>
            <a:off x="609600" y="10353675"/>
            <a:ext cx="229790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 · BRAND BOOK</a:t>
            </a:r>
          </a:p>
        </p:txBody>
      </p:sp>
      <p:sp>
        <p:nvSpPr>
          <p:cNvPr id="80" name="tekst"/>
          <p:cNvSpPr txBox="1"/>
          <p:nvPr/>
        </p:nvSpPr>
        <p:spPr>
          <a:xfrm>
            <a:off x="6180534" y="10353675"/>
            <a:ext cx="82986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WERSJA 1.0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lo/linia"/>
          <p:cNvSpPr/>
          <p:nvPr/>
        </p:nvSpPr>
        <p:spPr>
          <a:xfrm>
            <a:off x="0" y="0"/>
            <a:ext cx="7562850" cy="10696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lo/linia"/>
          <p:cNvSpPr/>
          <p:nvPr/>
        </p:nvSpPr>
        <p:spPr>
          <a:xfrm>
            <a:off x="0" y="0"/>
            <a:ext cx="533400" cy="5334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lo/linia"/>
          <p:cNvSpPr/>
          <p:nvPr/>
        </p:nvSpPr>
        <p:spPr>
          <a:xfrm>
            <a:off x="723900" y="3567782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lo/linia"/>
          <p:cNvSpPr/>
          <p:nvPr/>
        </p:nvSpPr>
        <p:spPr>
          <a:xfrm>
            <a:off x="742950" y="3896189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lo/linia"/>
          <p:cNvSpPr/>
          <p:nvPr/>
        </p:nvSpPr>
        <p:spPr>
          <a:xfrm>
            <a:off x="742950" y="4199055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lo/linia"/>
          <p:cNvSpPr/>
          <p:nvPr/>
        </p:nvSpPr>
        <p:spPr>
          <a:xfrm>
            <a:off x="742950" y="4501920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lo/linia"/>
          <p:cNvSpPr/>
          <p:nvPr/>
        </p:nvSpPr>
        <p:spPr>
          <a:xfrm>
            <a:off x="742950" y="4804785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lo/linia"/>
          <p:cNvSpPr/>
          <p:nvPr/>
        </p:nvSpPr>
        <p:spPr>
          <a:xfrm>
            <a:off x="742950" y="5107650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lo/linia"/>
          <p:cNvSpPr/>
          <p:nvPr/>
        </p:nvSpPr>
        <p:spPr>
          <a:xfrm>
            <a:off x="742950" y="5410516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lo/linia"/>
          <p:cNvSpPr/>
          <p:nvPr/>
        </p:nvSpPr>
        <p:spPr>
          <a:xfrm>
            <a:off x="723900" y="5849764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lo/linia"/>
          <p:cNvSpPr/>
          <p:nvPr/>
        </p:nvSpPr>
        <p:spPr>
          <a:xfrm>
            <a:off x="742950" y="6178171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lo/linia"/>
          <p:cNvSpPr/>
          <p:nvPr/>
        </p:nvSpPr>
        <p:spPr>
          <a:xfrm>
            <a:off x="742950" y="6481036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lo/linia"/>
          <p:cNvSpPr/>
          <p:nvPr/>
        </p:nvSpPr>
        <p:spPr>
          <a:xfrm>
            <a:off x="742950" y="6783901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lo/linia"/>
          <p:cNvSpPr/>
          <p:nvPr/>
        </p:nvSpPr>
        <p:spPr>
          <a:xfrm>
            <a:off x="742950" y="7086767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lo/linia"/>
          <p:cNvSpPr/>
          <p:nvPr/>
        </p:nvSpPr>
        <p:spPr>
          <a:xfrm>
            <a:off x="742950" y="9092523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lo/linia"/>
          <p:cNvSpPr/>
          <p:nvPr/>
        </p:nvSpPr>
        <p:spPr>
          <a:xfrm>
            <a:off x="742950" y="9395389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lo/linia"/>
          <p:cNvSpPr/>
          <p:nvPr/>
        </p:nvSpPr>
        <p:spPr>
          <a:xfrm>
            <a:off x="4010025" y="1048512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lo/linia"/>
          <p:cNvSpPr/>
          <p:nvPr/>
        </p:nvSpPr>
        <p:spPr>
          <a:xfrm>
            <a:off x="4010025" y="1351377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lo/linia"/>
          <p:cNvSpPr/>
          <p:nvPr/>
        </p:nvSpPr>
        <p:spPr>
          <a:xfrm>
            <a:off x="3990975" y="1790626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lo/linia"/>
          <p:cNvSpPr/>
          <p:nvPr/>
        </p:nvSpPr>
        <p:spPr>
          <a:xfrm>
            <a:off x="3990975" y="5493618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lo/linia"/>
          <p:cNvSpPr/>
          <p:nvPr/>
        </p:nvSpPr>
        <p:spPr>
          <a:xfrm>
            <a:off x="4010025" y="5822025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lo/linia"/>
          <p:cNvSpPr/>
          <p:nvPr/>
        </p:nvSpPr>
        <p:spPr>
          <a:xfrm>
            <a:off x="4010025" y="6351556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lo/linia"/>
          <p:cNvSpPr/>
          <p:nvPr/>
        </p:nvSpPr>
        <p:spPr>
          <a:xfrm>
            <a:off x="4010025" y="6654421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lo/linia"/>
          <p:cNvSpPr/>
          <p:nvPr/>
        </p:nvSpPr>
        <p:spPr>
          <a:xfrm>
            <a:off x="4010025" y="7183951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lo/linia"/>
          <p:cNvSpPr/>
          <p:nvPr/>
        </p:nvSpPr>
        <p:spPr>
          <a:xfrm>
            <a:off x="609600" y="10267950"/>
            <a:ext cx="634365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kst"/>
          <p:cNvSpPr txBox="1"/>
          <p:nvPr/>
        </p:nvSpPr>
        <p:spPr>
          <a:xfrm>
            <a:off x="166836" y="161925"/>
            <a:ext cx="256729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300" b="1" i="0">
                <a:solidFill>
                  <a:srgbClr val="000000"/>
                </a:solidFill>
                <a:latin typeface="Overpass Mono"/>
              </a:rPr>
              <a:t>15</a:t>
            </a:r>
          </a:p>
        </p:txBody>
      </p:sp>
      <p:sp>
        <p:nvSpPr>
          <p:cNvPr id="28" name="tekst"/>
          <p:cNvSpPr txBox="1"/>
          <p:nvPr/>
        </p:nvSpPr>
        <p:spPr>
          <a:xfrm>
            <a:off x="762000" y="209550"/>
            <a:ext cx="2066181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CZĘŚĆ I · FUNDAMENTY MARKI</a:t>
            </a:r>
          </a:p>
        </p:txBody>
      </p:sp>
      <p:sp>
        <p:nvSpPr>
          <p:cNvPr id="29" name="tekst"/>
          <p:cNvSpPr txBox="1"/>
          <p:nvPr/>
        </p:nvSpPr>
        <p:spPr>
          <a:xfrm>
            <a:off x="5716935" y="209550"/>
            <a:ext cx="1293465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</a:t>
            </a:r>
          </a:p>
        </p:txBody>
      </p:sp>
      <p:sp>
        <p:nvSpPr>
          <p:cNvPr id="30" name="tekst"/>
          <p:cNvSpPr txBox="1"/>
          <p:nvPr/>
        </p:nvSpPr>
        <p:spPr>
          <a:xfrm>
            <a:off x="723900" y="952500"/>
            <a:ext cx="2905125" cy="11333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Na stronie Ceglany Renesans sam wskazuje, że przy płytkach podłogowych różnice grubości są naturalne i powinny być wyrównane odpowiednim klejem przez doświadczonego wykonawcę.</a:t>
            </a:r>
          </a:p>
        </p:txBody>
      </p:sp>
      <p:sp>
        <p:nvSpPr>
          <p:cNvPr id="31" name="tekst"/>
          <p:cNvSpPr txBox="1"/>
          <p:nvPr/>
        </p:nvSpPr>
        <p:spPr>
          <a:xfrm>
            <a:off x="723900" y="2219176"/>
            <a:ext cx="2905125" cy="6799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Trigger zakupowy</a:t>
            </a:r>
            <a:br/>
            <a:r>
              <a:rPr sz="1050" b="0" i="0">
                <a:solidFill>
                  <a:srgbClr val="000000"/>
                </a:solidFill>
                <a:latin typeface="Hanken Grotesk"/>
              </a:rPr>
              <a:t>Klient pokazuje projekt lub konkretną płytkę i pyta wykonawcę:</a:t>
            </a:r>
          </a:p>
        </p:txBody>
      </p:sp>
      <p:sp>
        <p:nvSpPr>
          <p:cNvPr id="32" name="tekst"/>
          <p:cNvSpPr txBox="1"/>
          <p:nvPr/>
        </p:nvSpPr>
        <p:spPr>
          <a:xfrm>
            <a:off x="723900" y="3032522"/>
            <a:ext cx="29051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Czy możemy to położyć?</a:t>
            </a:r>
          </a:p>
        </p:txBody>
      </p:sp>
      <p:sp>
        <p:nvSpPr>
          <p:cNvPr id="33" name="tekst"/>
          <p:cNvSpPr txBox="1"/>
          <p:nvPr/>
        </p:nvSpPr>
        <p:spPr>
          <a:xfrm>
            <a:off x="876300" y="3525887"/>
            <a:ext cx="1250454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KRYTERIA WYBORU</a:t>
            </a:r>
          </a:p>
        </p:txBody>
      </p:sp>
      <p:sp>
        <p:nvSpPr>
          <p:cNvPr id="34" name="tekst"/>
          <p:cNvSpPr txBox="1"/>
          <p:nvPr/>
        </p:nvSpPr>
        <p:spPr>
          <a:xfrm>
            <a:off x="914400" y="3800177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parametry produktu,</a:t>
            </a:r>
          </a:p>
        </p:txBody>
      </p:sp>
      <p:sp>
        <p:nvSpPr>
          <p:cNvPr id="35" name="tekst"/>
          <p:cNvSpPr txBox="1"/>
          <p:nvPr/>
        </p:nvSpPr>
        <p:spPr>
          <a:xfrm>
            <a:off x="914400" y="4103043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łatwość montażu,</a:t>
            </a:r>
          </a:p>
        </p:txBody>
      </p:sp>
      <p:sp>
        <p:nvSpPr>
          <p:cNvPr id="36" name="tekst"/>
          <p:cNvSpPr txBox="1"/>
          <p:nvPr/>
        </p:nvSpPr>
        <p:spPr>
          <a:xfrm>
            <a:off x="914400" y="4405908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dostępność kleju, fugi i impregnatu,</a:t>
            </a:r>
          </a:p>
        </p:txBody>
      </p:sp>
      <p:sp>
        <p:nvSpPr>
          <p:cNvPr id="37" name="tekst"/>
          <p:cNvSpPr txBox="1"/>
          <p:nvPr/>
        </p:nvSpPr>
        <p:spPr>
          <a:xfrm>
            <a:off x="914400" y="4708773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instrukcje,</a:t>
            </a:r>
          </a:p>
        </p:txBody>
      </p:sp>
      <p:sp>
        <p:nvSpPr>
          <p:cNvPr id="38" name="tekst"/>
          <p:cNvSpPr txBox="1"/>
          <p:nvPr/>
        </p:nvSpPr>
        <p:spPr>
          <a:xfrm>
            <a:off x="914400" y="5011638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możliwość konsultacji,</a:t>
            </a:r>
          </a:p>
        </p:txBody>
      </p:sp>
      <p:sp>
        <p:nvSpPr>
          <p:cNvPr id="39" name="tekst"/>
          <p:cNvSpPr txBox="1"/>
          <p:nvPr/>
        </p:nvSpPr>
        <p:spPr>
          <a:xfrm>
            <a:off x="914400" y="5314504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szybka dostępność materiału.</a:t>
            </a:r>
          </a:p>
        </p:txBody>
      </p:sp>
      <p:sp>
        <p:nvSpPr>
          <p:cNvPr id="40" name="tekst"/>
          <p:cNvSpPr txBox="1"/>
          <p:nvPr/>
        </p:nvSpPr>
        <p:spPr>
          <a:xfrm>
            <a:off x="876300" y="5807869"/>
            <a:ext cx="693688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OBIEKCJE</a:t>
            </a:r>
          </a:p>
        </p:txBody>
      </p:sp>
      <p:sp>
        <p:nvSpPr>
          <p:cNvPr id="41" name="tekst"/>
          <p:cNvSpPr txBox="1"/>
          <p:nvPr/>
        </p:nvSpPr>
        <p:spPr>
          <a:xfrm>
            <a:off x="914400" y="6082159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Będzie dużo docinania.</a:t>
            </a:r>
          </a:p>
        </p:txBody>
      </p:sp>
      <p:sp>
        <p:nvSpPr>
          <p:cNvPr id="42" name="tekst"/>
          <p:cNvSpPr txBox="1"/>
          <p:nvPr/>
        </p:nvSpPr>
        <p:spPr>
          <a:xfrm>
            <a:off x="914400" y="6385024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Płytki są nierówne.</a:t>
            </a:r>
          </a:p>
        </p:txBody>
      </p:sp>
      <p:sp>
        <p:nvSpPr>
          <p:cNvPr id="43" name="tekst"/>
          <p:cNvSpPr txBox="1"/>
          <p:nvPr/>
        </p:nvSpPr>
        <p:spPr>
          <a:xfrm>
            <a:off x="914400" y="6687889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Montaż potrwa dłużej.</a:t>
            </a:r>
          </a:p>
        </p:txBody>
      </p:sp>
      <p:sp>
        <p:nvSpPr>
          <p:cNvPr id="44" name="tekst"/>
          <p:cNvSpPr txBox="1"/>
          <p:nvPr/>
        </p:nvSpPr>
        <p:spPr>
          <a:xfrm>
            <a:off x="914400" y="6990755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Klient będzie reklamował naturalne różnice.</a:t>
            </a:r>
          </a:p>
        </p:txBody>
      </p:sp>
      <p:sp>
        <p:nvSpPr>
          <p:cNvPr id="45" name="tekst"/>
          <p:cNvSpPr txBox="1"/>
          <p:nvPr/>
        </p:nvSpPr>
        <p:spPr>
          <a:xfrm>
            <a:off x="723900" y="7369820"/>
            <a:ext cx="2905125" cy="9066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Bariery</a:t>
            </a:r>
            <a:br/>
            <a:r>
              <a:rPr sz="1050" b="0" i="0">
                <a:solidFill>
                  <a:srgbClr val="000000"/>
                </a:solidFill>
                <a:latin typeface="Hanken Grotesk"/>
              </a:rPr>
              <a:t>Największa: wykonawca może</a:t>
            </a:r>
            <a:r>
              <a:rPr sz="1050" b="1" i="0">
                <a:solidFill>
                  <a:srgbClr val="000000"/>
                </a:solidFill>
                <a:latin typeface="Hanken Grotesk"/>
              </a:rPr>
              <a:t> odradzić produkt klientowi</a:t>
            </a:r>
            <a:r>
              <a:rPr sz="1050" b="0" i="0">
                <a:solidFill>
                  <a:srgbClr val="000000"/>
                </a:solidFill>
                <a:latin typeface="Hanken Grotesk"/>
              </a:rPr>
              <a:t> , jeśli nie czuje się pewnie z montażem.</a:t>
            </a:r>
          </a:p>
        </p:txBody>
      </p:sp>
      <p:sp>
        <p:nvSpPr>
          <p:cNvPr id="46" name="tekst"/>
          <p:cNvSpPr txBox="1"/>
          <p:nvPr/>
        </p:nvSpPr>
        <p:spPr>
          <a:xfrm>
            <a:off x="723900" y="8409831"/>
            <a:ext cx="29051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Dlatego ta grupa powinna mieć własne materiały:</a:t>
            </a:r>
          </a:p>
        </p:txBody>
      </p:sp>
      <p:sp>
        <p:nvSpPr>
          <p:cNvPr id="47" name="tekst"/>
          <p:cNvSpPr txBox="1"/>
          <p:nvPr/>
        </p:nvSpPr>
        <p:spPr>
          <a:xfrm>
            <a:off x="914400" y="8996511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instrukcję montażu,</a:t>
            </a:r>
          </a:p>
        </p:txBody>
      </p:sp>
      <p:sp>
        <p:nvSpPr>
          <p:cNvPr id="48" name="tekst"/>
          <p:cNvSpPr txBox="1"/>
          <p:nvPr/>
        </p:nvSpPr>
        <p:spPr>
          <a:xfrm>
            <a:off x="914400" y="9299377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rekomendowaną chemię,</a:t>
            </a:r>
          </a:p>
        </p:txBody>
      </p:sp>
      <p:sp>
        <p:nvSpPr>
          <p:cNvPr id="49" name="tekst"/>
          <p:cNvSpPr txBox="1"/>
          <p:nvPr/>
        </p:nvSpPr>
        <p:spPr>
          <a:xfrm>
            <a:off x="4181475" y="952500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FAQ techniczne,</a:t>
            </a:r>
          </a:p>
        </p:txBody>
      </p:sp>
      <p:sp>
        <p:nvSpPr>
          <p:cNvPr id="50" name="tekst"/>
          <p:cNvSpPr txBox="1"/>
          <p:nvPr/>
        </p:nvSpPr>
        <p:spPr>
          <a:xfrm>
            <a:off x="4181475" y="1255365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poradniki wideo.</a:t>
            </a:r>
          </a:p>
        </p:txBody>
      </p:sp>
      <p:sp>
        <p:nvSpPr>
          <p:cNvPr id="51" name="tekst"/>
          <p:cNvSpPr txBox="1"/>
          <p:nvPr/>
        </p:nvSpPr>
        <p:spPr>
          <a:xfrm>
            <a:off x="4143375" y="1748730"/>
            <a:ext cx="1250454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ŚCIEŻKA DECYZJI</a:t>
            </a:r>
          </a:p>
        </p:txBody>
      </p:sp>
      <p:sp>
        <p:nvSpPr>
          <p:cNvPr id="52" name="tekst"/>
          <p:cNvSpPr txBox="1"/>
          <p:nvPr/>
        </p:nvSpPr>
        <p:spPr>
          <a:xfrm>
            <a:off x="3990975" y="2023021"/>
            <a:ext cx="2905125" cy="6799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Projekt klienta - weryfikacja techniczna- konsultacja produktu - dobór chemii -zamówienie - montaż.</a:t>
            </a:r>
          </a:p>
        </p:txBody>
      </p:sp>
      <p:sp>
        <p:nvSpPr>
          <p:cNvPr id="53" name="tekst"/>
          <p:cNvSpPr txBox="1"/>
          <p:nvPr/>
        </p:nvSpPr>
        <p:spPr>
          <a:xfrm>
            <a:off x="3990975" y="2969716"/>
            <a:ext cx="2905125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i="0" spc="-12">
                <a:solidFill>
                  <a:srgbClr val="000000"/>
                </a:solidFill>
                <a:latin typeface="Hanken Grotesk"/>
              </a:rPr>
              <a:t>Segment 4/ Inwestor komercyjny / HoReCa / właściciel lokalu</a:t>
            </a:r>
          </a:p>
        </p:txBody>
      </p:sp>
      <p:sp>
        <p:nvSpPr>
          <p:cNvPr id="54" name="tekst"/>
          <p:cNvSpPr txBox="1"/>
          <p:nvPr/>
        </p:nvSpPr>
        <p:spPr>
          <a:xfrm>
            <a:off x="3990975" y="3465016"/>
            <a:ext cx="2905125" cy="9066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Tu widzę potencjał dla restauracji, hoteli, apartamentów, salonów i innych wnętrz, w których materiał ma budować charakter miejsca.</a:t>
            </a:r>
          </a:p>
        </p:txBody>
      </p:sp>
      <p:sp>
        <p:nvSpPr>
          <p:cNvPr id="55" name="tekst"/>
          <p:cNvSpPr txBox="1"/>
          <p:nvPr/>
        </p:nvSpPr>
        <p:spPr>
          <a:xfrm>
            <a:off x="3990975" y="4505027"/>
            <a:ext cx="2905125" cy="6799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Potrzeba</a:t>
            </a:r>
            <a:br/>
            <a:r>
              <a:rPr sz="1050" b="0" i="0">
                <a:solidFill>
                  <a:srgbClr val="000000"/>
                </a:solidFill>
                <a:latin typeface="Hanken Grotesk"/>
              </a:rPr>
              <a:t>Stworzyć przestrzeń, która wyróżnia się wizualnie i wspiera wizerunek lokalu.</a:t>
            </a:r>
          </a:p>
        </p:txBody>
      </p:sp>
      <p:sp>
        <p:nvSpPr>
          <p:cNvPr id="56" name="tekst"/>
          <p:cNvSpPr txBox="1"/>
          <p:nvPr/>
        </p:nvSpPr>
        <p:spPr>
          <a:xfrm>
            <a:off x="4143375" y="5451723"/>
            <a:ext cx="61406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PROBLEM</a:t>
            </a:r>
          </a:p>
        </p:txBody>
      </p:sp>
      <p:sp>
        <p:nvSpPr>
          <p:cNvPr id="57" name="tekst"/>
          <p:cNvSpPr txBox="1"/>
          <p:nvPr/>
        </p:nvSpPr>
        <p:spPr>
          <a:xfrm>
            <a:off x="4181475" y="5726013"/>
            <a:ext cx="27146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materiał musi dobrze wyglądać przy większej powierzchni,</a:t>
            </a:r>
          </a:p>
        </p:txBody>
      </p:sp>
      <p:sp>
        <p:nvSpPr>
          <p:cNvPr id="58" name="tekst"/>
          <p:cNvSpPr txBox="1"/>
          <p:nvPr/>
        </p:nvSpPr>
        <p:spPr>
          <a:xfrm>
            <a:off x="4181475" y="6255544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inwestor musi pilnować budżetu,</a:t>
            </a:r>
          </a:p>
        </p:txBody>
      </p:sp>
      <p:sp>
        <p:nvSpPr>
          <p:cNvPr id="59" name="tekst"/>
          <p:cNvSpPr txBox="1"/>
          <p:nvPr/>
        </p:nvSpPr>
        <p:spPr>
          <a:xfrm>
            <a:off x="4181475" y="6558409"/>
            <a:ext cx="27146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potrzebuje przewidywalnego terminu dostawy,</a:t>
            </a:r>
          </a:p>
        </p:txBody>
      </p:sp>
      <p:sp>
        <p:nvSpPr>
          <p:cNvPr id="60" name="tekst"/>
          <p:cNvSpPr txBox="1"/>
          <p:nvPr/>
        </p:nvSpPr>
        <p:spPr>
          <a:xfrm>
            <a:off x="4181475" y="7087939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zależy mu na trwałości.</a:t>
            </a:r>
          </a:p>
        </p:txBody>
      </p:sp>
      <p:sp>
        <p:nvSpPr>
          <p:cNvPr id="61" name="tekst"/>
          <p:cNvSpPr txBox="1"/>
          <p:nvPr/>
        </p:nvSpPr>
        <p:spPr>
          <a:xfrm>
            <a:off x="609600" y="10353675"/>
            <a:ext cx="229790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 · BRAND BOOK</a:t>
            </a:r>
          </a:p>
        </p:txBody>
      </p:sp>
      <p:sp>
        <p:nvSpPr>
          <p:cNvPr id="62" name="tekst"/>
          <p:cNvSpPr txBox="1"/>
          <p:nvPr/>
        </p:nvSpPr>
        <p:spPr>
          <a:xfrm>
            <a:off x="6180534" y="10353675"/>
            <a:ext cx="82986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WERSJA 1.0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lo/linia"/>
          <p:cNvSpPr/>
          <p:nvPr/>
        </p:nvSpPr>
        <p:spPr>
          <a:xfrm>
            <a:off x="0" y="0"/>
            <a:ext cx="7562850" cy="10696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lo/linia"/>
          <p:cNvSpPr/>
          <p:nvPr/>
        </p:nvSpPr>
        <p:spPr>
          <a:xfrm>
            <a:off x="0" y="0"/>
            <a:ext cx="533400" cy="5334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lo/linia"/>
          <p:cNvSpPr/>
          <p:nvPr/>
        </p:nvSpPr>
        <p:spPr>
          <a:xfrm>
            <a:off x="723900" y="1261095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lo/linia"/>
          <p:cNvSpPr/>
          <p:nvPr/>
        </p:nvSpPr>
        <p:spPr>
          <a:xfrm>
            <a:off x="742950" y="1589502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lo/linia"/>
          <p:cNvSpPr/>
          <p:nvPr/>
        </p:nvSpPr>
        <p:spPr>
          <a:xfrm>
            <a:off x="742950" y="1892367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lo/linia"/>
          <p:cNvSpPr/>
          <p:nvPr/>
        </p:nvSpPr>
        <p:spPr>
          <a:xfrm>
            <a:off x="742950" y="2195233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lo/linia"/>
          <p:cNvSpPr/>
          <p:nvPr/>
        </p:nvSpPr>
        <p:spPr>
          <a:xfrm>
            <a:off x="742950" y="2498098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lo/linia"/>
          <p:cNvSpPr/>
          <p:nvPr/>
        </p:nvSpPr>
        <p:spPr>
          <a:xfrm>
            <a:off x="723900" y="2937346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lo/linia"/>
          <p:cNvSpPr/>
          <p:nvPr/>
        </p:nvSpPr>
        <p:spPr>
          <a:xfrm>
            <a:off x="742950" y="3265753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lo/linia"/>
          <p:cNvSpPr/>
          <p:nvPr/>
        </p:nvSpPr>
        <p:spPr>
          <a:xfrm>
            <a:off x="742950" y="3568619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lo/linia"/>
          <p:cNvSpPr/>
          <p:nvPr/>
        </p:nvSpPr>
        <p:spPr>
          <a:xfrm>
            <a:off x="742950" y="3871484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lo/linia"/>
          <p:cNvSpPr/>
          <p:nvPr/>
        </p:nvSpPr>
        <p:spPr>
          <a:xfrm>
            <a:off x="742950" y="4174349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lo/linia"/>
          <p:cNvSpPr/>
          <p:nvPr/>
        </p:nvSpPr>
        <p:spPr>
          <a:xfrm>
            <a:off x="742950" y="4477214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lo/linia"/>
          <p:cNvSpPr/>
          <p:nvPr/>
        </p:nvSpPr>
        <p:spPr>
          <a:xfrm>
            <a:off x="742950" y="4780080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lo/linia"/>
          <p:cNvSpPr/>
          <p:nvPr/>
        </p:nvSpPr>
        <p:spPr>
          <a:xfrm>
            <a:off x="742950" y="5082945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lo/linia"/>
          <p:cNvSpPr/>
          <p:nvPr/>
        </p:nvSpPr>
        <p:spPr>
          <a:xfrm>
            <a:off x="723900" y="6581254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lo/linia"/>
          <p:cNvSpPr/>
          <p:nvPr/>
        </p:nvSpPr>
        <p:spPr>
          <a:xfrm>
            <a:off x="742950" y="6909661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lo/linia"/>
          <p:cNvSpPr/>
          <p:nvPr/>
        </p:nvSpPr>
        <p:spPr>
          <a:xfrm>
            <a:off x="742950" y="7439192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lo/linia"/>
          <p:cNvSpPr/>
          <p:nvPr/>
        </p:nvSpPr>
        <p:spPr>
          <a:xfrm>
            <a:off x="742950" y="7742057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lo/linia"/>
          <p:cNvSpPr/>
          <p:nvPr/>
        </p:nvSpPr>
        <p:spPr>
          <a:xfrm>
            <a:off x="742950" y="8044922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lo/linia"/>
          <p:cNvSpPr/>
          <p:nvPr/>
        </p:nvSpPr>
        <p:spPr>
          <a:xfrm>
            <a:off x="723900" y="8484171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lo/linia"/>
          <p:cNvSpPr/>
          <p:nvPr/>
        </p:nvSpPr>
        <p:spPr>
          <a:xfrm>
            <a:off x="742950" y="8812578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lo/linia"/>
          <p:cNvSpPr/>
          <p:nvPr/>
        </p:nvSpPr>
        <p:spPr>
          <a:xfrm>
            <a:off x="742950" y="9115443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lo/linia"/>
          <p:cNvSpPr/>
          <p:nvPr/>
        </p:nvSpPr>
        <p:spPr>
          <a:xfrm>
            <a:off x="742950" y="9418308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lo/linia"/>
          <p:cNvSpPr/>
          <p:nvPr/>
        </p:nvSpPr>
        <p:spPr>
          <a:xfrm>
            <a:off x="3990975" y="994395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lo/linia"/>
          <p:cNvSpPr/>
          <p:nvPr/>
        </p:nvSpPr>
        <p:spPr>
          <a:xfrm>
            <a:off x="3990975" y="2044898"/>
            <a:ext cx="868412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lo/linia"/>
          <p:cNvSpPr/>
          <p:nvPr/>
        </p:nvSpPr>
        <p:spPr>
          <a:xfrm>
            <a:off x="3990975" y="2713286"/>
            <a:ext cx="868412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lo/linia"/>
          <p:cNvSpPr/>
          <p:nvPr/>
        </p:nvSpPr>
        <p:spPr>
          <a:xfrm>
            <a:off x="4859387" y="2044898"/>
            <a:ext cx="1085404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lo/linia"/>
          <p:cNvSpPr/>
          <p:nvPr/>
        </p:nvSpPr>
        <p:spPr>
          <a:xfrm>
            <a:off x="4859387" y="2713286"/>
            <a:ext cx="1085404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lo/linia"/>
          <p:cNvSpPr/>
          <p:nvPr/>
        </p:nvSpPr>
        <p:spPr>
          <a:xfrm>
            <a:off x="5944791" y="2044898"/>
            <a:ext cx="894159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lo/linia"/>
          <p:cNvSpPr/>
          <p:nvPr/>
        </p:nvSpPr>
        <p:spPr>
          <a:xfrm>
            <a:off x="5944791" y="2713286"/>
            <a:ext cx="894159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lo/linia"/>
          <p:cNvSpPr/>
          <p:nvPr/>
        </p:nvSpPr>
        <p:spPr>
          <a:xfrm>
            <a:off x="3990975" y="3451771"/>
            <a:ext cx="868412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lo/linia"/>
          <p:cNvSpPr/>
          <p:nvPr/>
        </p:nvSpPr>
        <p:spPr>
          <a:xfrm>
            <a:off x="4859387" y="3451771"/>
            <a:ext cx="1085404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lo/linia"/>
          <p:cNvSpPr/>
          <p:nvPr/>
        </p:nvSpPr>
        <p:spPr>
          <a:xfrm>
            <a:off x="5944791" y="3451771"/>
            <a:ext cx="894159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lo/linia"/>
          <p:cNvSpPr/>
          <p:nvPr/>
        </p:nvSpPr>
        <p:spPr>
          <a:xfrm>
            <a:off x="3990975" y="4369743"/>
            <a:ext cx="868412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lo/linia"/>
          <p:cNvSpPr/>
          <p:nvPr/>
        </p:nvSpPr>
        <p:spPr>
          <a:xfrm>
            <a:off x="4859387" y="4369743"/>
            <a:ext cx="1085404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lo/linia"/>
          <p:cNvSpPr/>
          <p:nvPr/>
        </p:nvSpPr>
        <p:spPr>
          <a:xfrm>
            <a:off x="5944791" y="4369743"/>
            <a:ext cx="894159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lo/linia"/>
          <p:cNvSpPr/>
          <p:nvPr/>
        </p:nvSpPr>
        <p:spPr>
          <a:xfrm>
            <a:off x="3990975" y="5108228"/>
            <a:ext cx="868412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lo/linia"/>
          <p:cNvSpPr/>
          <p:nvPr/>
        </p:nvSpPr>
        <p:spPr>
          <a:xfrm>
            <a:off x="4859387" y="5108228"/>
            <a:ext cx="1085404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lo/linia"/>
          <p:cNvSpPr/>
          <p:nvPr/>
        </p:nvSpPr>
        <p:spPr>
          <a:xfrm>
            <a:off x="5944791" y="5108228"/>
            <a:ext cx="894159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lo/linia"/>
          <p:cNvSpPr/>
          <p:nvPr/>
        </p:nvSpPr>
        <p:spPr>
          <a:xfrm>
            <a:off x="3990975" y="5846713"/>
            <a:ext cx="868412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lo/linia"/>
          <p:cNvSpPr/>
          <p:nvPr/>
        </p:nvSpPr>
        <p:spPr>
          <a:xfrm>
            <a:off x="4859387" y="5846713"/>
            <a:ext cx="1085404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lo/linia"/>
          <p:cNvSpPr/>
          <p:nvPr/>
        </p:nvSpPr>
        <p:spPr>
          <a:xfrm>
            <a:off x="5944791" y="5846713"/>
            <a:ext cx="894159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lo/linia"/>
          <p:cNvSpPr/>
          <p:nvPr/>
        </p:nvSpPr>
        <p:spPr>
          <a:xfrm>
            <a:off x="609600" y="10267950"/>
            <a:ext cx="634365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kst"/>
          <p:cNvSpPr txBox="1"/>
          <p:nvPr/>
        </p:nvSpPr>
        <p:spPr>
          <a:xfrm>
            <a:off x="166836" y="161925"/>
            <a:ext cx="256729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300" b="1" i="0">
                <a:solidFill>
                  <a:srgbClr val="000000"/>
                </a:solidFill>
                <a:latin typeface="Overpass Mono"/>
              </a:rPr>
              <a:t>16</a:t>
            </a:r>
          </a:p>
        </p:txBody>
      </p:sp>
      <p:sp>
        <p:nvSpPr>
          <p:cNvPr id="47" name="tekst"/>
          <p:cNvSpPr txBox="1"/>
          <p:nvPr/>
        </p:nvSpPr>
        <p:spPr>
          <a:xfrm>
            <a:off x="762000" y="209550"/>
            <a:ext cx="2066181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CZĘŚĆ I · FUNDAMENTY MARKI</a:t>
            </a:r>
          </a:p>
        </p:txBody>
      </p:sp>
      <p:sp>
        <p:nvSpPr>
          <p:cNvPr id="48" name="tekst"/>
          <p:cNvSpPr txBox="1"/>
          <p:nvPr/>
        </p:nvSpPr>
        <p:spPr>
          <a:xfrm>
            <a:off x="5716935" y="209550"/>
            <a:ext cx="1293465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</a:t>
            </a:r>
          </a:p>
        </p:txBody>
      </p:sp>
      <p:sp>
        <p:nvSpPr>
          <p:cNvPr id="49" name="tekst"/>
          <p:cNvSpPr txBox="1"/>
          <p:nvPr/>
        </p:nvSpPr>
        <p:spPr>
          <a:xfrm>
            <a:off x="876300" y="1219200"/>
            <a:ext cx="1330077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TRIGGER ZAKUPOWY</a:t>
            </a:r>
          </a:p>
        </p:txBody>
      </p:sp>
      <p:sp>
        <p:nvSpPr>
          <p:cNvPr id="50" name="tekst"/>
          <p:cNvSpPr txBox="1"/>
          <p:nvPr/>
        </p:nvSpPr>
        <p:spPr>
          <a:xfrm>
            <a:off x="914400" y="1493490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otwarcie nowego lokalu,</a:t>
            </a:r>
          </a:p>
        </p:txBody>
      </p:sp>
      <p:sp>
        <p:nvSpPr>
          <p:cNvPr id="51" name="tekst"/>
          <p:cNvSpPr txBox="1"/>
          <p:nvPr/>
        </p:nvSpPr>
        <p:spPr>
          <a:xfrm>
            <a:off x="914400" y="1796355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generalny remont,</a:t>
            </a:r>
          </a:p>
        </p:txBody>
      </p:sp>
      <p:sp>
        <p:nvSpPr>
          <p:cNvPr id="52" name="tekst"/>
          <p:cNvSpPr txBox="1"/>
          <p:nvPr/>
        </p:nvSpPr>
        <p:spPr>
          <a:xfrm>
            <a:off x="914400" y="2099221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rebranding wnętrza,</a:t>
            </a:r>
          </a:p>
        </p:txBody>
      </p:sp>
      <p:sp>
        <p:nvSpPr>
          <p:cNvPr id="53" name="tekst"/>
          <p:cNvSpPr txBox="1"/>
          <p:nvPr/>
        </p:nvSpPr>
        <p:spPr>
          <a:xfrm>
            <a:off x="914400" y="2402086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projekt architektoniczny.</a:t>
            </a:r>
          </a:p>
        </p:txBody>
      </p:sp>
      <p:sp>
        <p:nvSpPr>
          <p:cNvPr id="54" name="tekst"/>
          <p:cNvSpPr txBox="1"/>
          <p:nvPr/>
        </p:nvSpPr>
        <p:spPr>
          <a:xfrm>
            <a:off x="876300" y="2895451"/>
            <a:ext cx="1250454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KRYTERIA WYBORU</a:t>
            </a:r>
          </a:p>
        </p:txBody>
      </p:sp>
      <p:sp>
        <p:nvSpPr>
          <p:cNvPr id="55" name="tekst"/>
          <p:cNvSpPr txBox="1"/>
          <p:nvPr/>
        </p:nvSpPr>
        <p:spPr>
          <a:xfrm>
            <a:off x="914400" y="3169741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efekt końcowy,</a:t>
            </a:r>
          </a:p>
        </p:txBody>
      </p:sp>
      <p:sp>
        <p:nvSpPr>
          <p:cNvPr id="56" name="tekst"/>
          <p:cNvSpPr txBox="1"/>
          <p:nvPr/>
        </p:nvSpPr>
        <p:spPr>
          <a:xfrm>
            <a:off x="914400" y="3472607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koszt całej realizacji,</a:t>
            </a:r>
          </a:p>
        </p:txBody>
      </p:sp>
      <p:sp>
        <p:nvSpPr>
          <p:cNvPr id="57" name="tekst"/>
          <p:cNvSpPr txBox="1"/>
          <p:nvPr/>
        </p:nvSpPr>
        <p:spPr>
          <a:xfrm>
            <a:off x="914400" y="3775472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możliwość zamówienia większej partii,</a:t>
            </a:r>
          </a:p>
        </p:txBody>
      </p:sp>
      <p:sp>
        <p:nvSpPr>
          <p:cNvPr id="58" name="tekst"/>
          <p:cNvSpPr txBox="1"/>
          <p:nvPr/>
        </p:nvSpPr>
        <p:spPr>
          <a:xfrm>
            <a:off x="914400" y="4078337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termin dostawy,</a:t>
            </a:r>
          </a:p>
        </p:txBody>
      </p:sp>
      <p:sp>
        <p:nvSpPr>
          <p:cNvPr id="59" name="tekst"/>
          <p:cNvSpPr txBox="1"/>
          <p:nvPr/>
        </p:nvSpPr>
        <p:spPr>
          <a:xfrm>
            <a:off x="914400" y="4381202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dostępność produktu,</a:t>
            </a:r>
          </a:p>
        </p:txBody>
      </p:sp>
      <p:sp>
        <p:nvSpPr>
          <p:cNvPr id="60" name="tekst"/>
          <p:cNvSpPr txBox="1"/>
          <p:nvPr/>
        </p:nvSpPr>
        <p:spPr>
          <a:xfrm>
            <a:off x="914400" y="4684068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trwałość,</a:t>
            </a:r>
          </a:p>
        </p:txBody>
      </p:sp>
      <p:sp>
        <p:nvSpPr>
          <p:cNvPr id="61" name="tekst"/>
          <p:cNvSpPr txBox="1"/>
          <p:nvPr/>
        </p:nvSpPr>
        <p:spPr>
          <a:xfrm>
            <a:off x="914400" y="4986933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wsparcie techniczne.</a:t>
            </a:r>
          </a:p>
        </p:txBody>
      </p:sp>
      <p:sp>
        <p:nvSpPr>
          <p:cNvPr id="62" name="tekst"/>
          <p:cNvSpPr txBox="1"/>
          <p:nvPr/>
        </p:nvSpPr>
        <p:spPr>
          <a:xfrm>
            <a:off x="723900" y="5365998"/>
            <a:ext cx="2905125" cy="9066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Przy większych zamówieniach firma deklaruje osobne terminy realizacji, np. dla zamówień powyżej 100 m², co jest istotne dla tego segmentu.</a:t>
            </a:r>
          </a:p>
        </p:txBody>
      </p:sp>
      <p:sp>
        <p:nvSpPr>
          <p:cNvPr id="63" name="tekst"/>
          <p:cNvSpPr txBox="1"/>
          <p:nvPr/>
        </p:nvSpPr>
        <p:spPr>
          <a:xfrm>
            <a:off x="876300" y="6539359"/>
            <a:ext cx="693688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OBIEKCJE</a:t>
            </a:r>
          </a:p>
        </p:txBody>
      </p:sp>
      <p:sp>
        <p:nvSpPr>
          <p:cNvPr id="64" name="tekst"/>
          <p:cNvSpPr txBox="1"/>
          <p:nvPr/>
        </p:nvSpPr>
        <p:spPr>
          <a:xfrm>
            <a:off x="914400" y="6813649"/>
            <a:ext cx="27146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Czy dostaniemy 150–300 m² w odpowiednio spójnej tonacji?</a:t>
            </a:r>
          </a:p>
        </p:txBody>
      </p:sp>
      <p:sp>
        <p:nvSpPr>
          <p:cNvPr id="65" name="tekst"/>
          <p:cNvSpPr txBox="1"/>
          <p:nvPr/>
        </p:nvSpPr>
        <p:spPr>
          <a:xfrm>
            <a:off x="914400" y="7343180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Czy materiał dotrze na czas?</a:t>
            </a:r>
          </a:p>
        </p:txBody>
      </p:sp>
      <p:sp>
        <p:nvSpPr>
          <p:cNvPr id="66" name="tekst"/>
          <p:cNvSpPr txBox="1"/>
          <p:nvPr/>
        </p:nvSpPr>
        <p:spPr>
          <a:xfrm>
            <a:off x="914400" y="7646045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Jak wygląda cena dla dużej inwestycji?</a:t>
            </a:r>
          </a:p>
        </p:txBody>
      </p:sp>
      <p:sp>
        <p:nvSpPr>
          <p:cNvPr id="67" name="tekst"/>
          <p:cNvSpPr txBox="1"/>
          <p:nvPr/>
        </p:nvSpPr>
        <p:spPr>
          <a:xfrm>
            <a:off x="914400" y="7948910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Jak później uzupełnić materiał?</a:t>
            </a:r>
          </a:p>
        </p:txBody>
      </p:sp>
      <p:sp>
        <p:nvSpPr>
          <p:cNvPr id="68" name="tekst"/>
          <p:cNvSpPr txBox="1"/>
          <p:nvPr/>
        </p:nvSpPr>
        <p:spPr>
          <a:xfrm>
            <a:off x="876300" y="8442275"/>
            <a:ext cx="614065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BARIERY</a:t>
            </a:r>
          </a:p>
        </p:txBody>
      </p:sp>
      <p:sp>
        <p:nvSpPr>
          <p:cNvPr id="69" name="tekst"/>
          <p:cNvSpPr txBox="1"/>
          <p:nvPr/>
        </p:nvSpPr>
        <p:spPr>
          <a:xfrm>
            <a:off x="914400" y="8716566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większe ryzyko inwestycyjne,</a:t>
            </a:r>
          </a:p>
        </p:txBody>
      </p:sp>
      <p:sp>
        <p:nvSpPr>
          <p:cNvPr id="70" name="tekst"/>
          <p:cNvSpPr txBox="1"/>
          <p:nvPr/>
        </p:nvSpPr>
        <p:spPr>
          <a:xfrm>
            <a:off x="914400" y="9019431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naturalna zmienność materiału,</a:t>
            </a:r>
          </a:p>
        </p:txBody>
      </p:sp>
      <p:sp>
        <p:nvSpPr>
          <p:cNvPr id="71" name="tekst"/>
          <p:cNvSpPr txBox="1"/>
          <p:nvPr/>
        </p:nvSpPr>
        <p:spPr>
          <a:xfrm>
            <a:off x="914400" y="9322296"/>
            <a:ext cx="27146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konieczność wcześniejszego planowania dostawy.</a:t>
            </a:r>
          </a:p>
        </p:txBody>
      </p:sp>
      <p:sp>
        <p:nvSpPr>
          <p:cNvPr id="72" name="tekst"/>
          <p:cNvSpPr txBox="1"/>
          <p:nvPr/>
        </p:nvSpPr>
        <p:spPr>
          <a:xfrm>
            <a:off x="4143375" y="952500"/>
            <a:ext cx="1250454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ŚCIEŻKA DECYZJI</a:t>
            </a:r>
          </a:p>
        </p:txBody>
      </p:sp>
      <p:sp>
        <p:nvSpPr>
          <p:cNvPr id="73" name="tekst"/>
          <p:cNvSpPr txBox="1"/>
          <p:nvPr/>
        </p:nvSpPr>
        <p:spPr>
          <a:xfrm>
            <a:off x="3990975" y="1226790"/>
            <a:ext cx="2905125" cy="6799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Projekt - specyfikacja materiału - próbki - wycena- ustalenie dostępności i terminu - akceptacja inwestora- zamówienie - dostawa.</a:t>
            </a:r>
          </a:p>
        </p:txBody>
      </p:sp>
      <p:sp>
        <p:nvSpPr>
          <p:cNvPr id="74" name="tekst"/>
          <p:cNvSpPr txBox="1"/>
          <p:nvPr/>
        </p:nvSpPr>
        <p:spPr>
          <a:xfrm>
            <a:off x="3990975" y="2140148"/>
            <a:ext cx="830312" cy="487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5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SEGMENT</a:t>
            </a:r>
          </a:p>
        </p:txBody>
      </p:sp>
      <p:sp>
        <p:nvSpPr>
          <p:cNvPr id="75" name="tekst"/>
          <p:cNvSpPr txBox="1"/>
          <p:nvPr/>
        </p:nvSpPr>
        <p:spPr>
          <a:xfrm>
            <a:off x="4859387" y="2140148"/>
            <a:ext cx="1047304" cy="487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5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GŁÓWNA POTRZEBA</a:t>
            </a:r>
          </a:p>
        </p:txBody>
      </p:sp>
      <p:sp>
        <p:nvSpPr>
          <p:cNvPr id="76" name="tekst"/>
          <p:cNvSpPr txBox="1"/>
          <p:nvPr/>
        </p:nvSpPr>
        <p:spPr>
          <a:xfrm>
            <a:off x="5944791" y="2140148"/>
            <a:ext cx="856059" cy="487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5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CO DECYDUJE O ZAKUPIE</a:t>
            </a:r>
          </a:p>
        </p:txBody>
      </p:sp>
      <p:sp>
        <p:nvSpPr>
          <p:cNvPr id="77" name="tekst"/>
          <p:cNvSpPr txBox="1"/>
          <p:nvPr/>
        </p:nvSpPr>
        <p:spPr>
          <a:xfrm>
            <a:off x="3990975" y="2818061"/>
            <a:ext cx="830312" cy="538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Klient indywidualny</a:t>
            </a:r>
          </a:p>
        </p:txBody>
      </p:sp>
      <p:sp>
        <p:nvSpPr>
          <p:cNvPr id="78" name="tekst"/>
          <p:cNvSpPr txBox="1"/>
          <p:nvPr/>
        </p:nvSpPr>
        <p:spPr>
          <a:xfrm>
            <a:off x="4859387" y="2818061"/>
            <a:ext cx="1047304" cy="538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wnętrze z charakterem</a:t>
            </a:r>
          </a:p>
        </p:txBody>
      </p:sp>
      <p:sp>
        <p:nvSpPr>
          <p:cNvPr id="79" name="tekst"/>
          <p:cNvSpPr txBox="1"/>
          <p:nvPr/>
        </p:nvSpPr>
        <p:spPr>
          <a:xfrm>
            <a:off x="5944791" y="2818061"/>
            <a:ext cx="856059" cy="538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wygląd, próbka, cena, realizacje</a:t>
            </a:r>
          </a:p>
        </p:txBody>
      </p:sp>
      <p:sp>
        <p:nvSpPr>
          <p:cNvPr id="80" name="tekst"/>
          <p:cNvSpPr txBox="1"/>
          <p:nvPr/>
        </p:nvSpPr>
        <p:spPr>
          <a:xfrm>
            <a:off x="3990975" y="3556546"/>
            <a:ext cx="830312" cy="7179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Architekt / projektant</a:t>
            </a:r>
          </a:p>
        </p:txBody>
      </p:sp>
      <p:sp>
        <p:nvSpPr>
          <p:cNvPr id="81" name="tekst"/>
          <p:cNvSpPr txBox="1"/>
          <p:nvPr/>
        </p:nvSpPr>
        <p:spPr>
          <a:xfrm>
            <a:off x="4859387" y="3556546"/>
            <a:ext cx="1047304" cy="7179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autentyczny materiał do projektu</a:t>
            </a:r>
          </a:p>
        </p:txBody>
      </p:sp>
      <p:sp>
        <p:nvSpPr>
          <p:cNvPr id="82" name="tekst"/>
          <p:cNvSpPr txBox="1"/>
          <p:nvPr/>
        </p:nvSpPr>
        <p:spPr>
          <a:xfrm>
            <a:off x="5944791" y="3556546"/>
            <a:ext cx="856059" cy="7179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próbki, estetyka, dane techniczne</a:t>
            </a:r>
          </a:p>
        </p:txBody>
      </p:sp>
      <p:sp>
        <p:nvSpPr>
          <p:cNvPr id="83" name="tekst"/>
          <p:cNvSpPr txBox="1"/>
          <p:nvPr/>
        </p:nvSpPr>
        <p:spPr>
          <a:xfrm>
            <a:off x="3990975" y="4474518"/>
            <a:ext cx="830312" cy="538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Wykonawca</a:t>
            </a:r>
          </a:p>
        </p:txBody>
      </p:sp>
      <p:sp>
        <p:nvSpPr>
          <p:cNvPr id="84" name="tekst"/>
          <p:cNvSpPr txBox="1"/>
          <p:nvPr/>
        </p:nvSpPr>
        <p:spPr>
          <a:xfrm>
            <a:off x="4859387" y="4474518"/>
            <a:ext cx="1047304" cy="538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bezproblemowy montaż</a:t>
            </a:r>
          </a:p>
        </p:txBody>
      </p:sp>
      <p:sp>
        <p:nvSpPr>
          <p:cNvPr id="85" name="tekst"/>
          <p:cNvSpPr txBox="1"/>
          <p:nvPr/>
        </p:nvSpPr>
        <p:spPr>
          <a:xfrm>
            <a:off x="5944791" y="4474518"/>
            <a:ext cx="856059" cy="538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parametry, chemia, instrukcje</a:t>
            </a:r>
          </a:p>
        </p:txBody>
      </p:sp>
      <p:sp>
        <p:nvSpPr>
          <p:cNvPr id="86" name="tekst"/>
          <p:cNvSpPr txBox="1"/>
          <p:nvPr/>
        </p:nvSpPr>
        <p:spPr>
          <a:xfrm>
            <a:off x="3990975" y="5213003"/>
            <a:ext cx="830312" cy="538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Inwestor komercyjny</a:t>
            </a:r>
          </a:p>
        </p:txBody>
      </p:sp>
      <p:sp>
        <p:nvSpPr>
          <p:cNvPr id="87" name="tekst"/>
          <p:cNvSpPr txBox="1"/>
          <p:nvPr/>
        </p:nvSpPr>
        <p:spPr>
          <a:xfrm>
            <a:off x="4859387" y="5213003"/>
            <a:ext cx="1047304" cy="538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wyróżniająca się przestrzeń</a:t>
            </a:r>
          </a:p>
        </p:txBody>
      </p:sp>
      <p:sp>
        <p:nvSpPr>
          <p:cNvPr id="88" name="tekst"/>
          <p:cNvSpPr txBox="1"/>
          <p:nvPr/>
        </p:nvSpPr>
        <p:spPr>
          <a:xfrm>
            <a:off x="5944791" y="5213003"/>
            <a:ext cx="856059" cy="5384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efekt, cena, dostępność, termin</a:t>
            </a:r>
          </a:p>
        </p:txBody>
      </p:sp>
      <p:sp>
        <p:nvSpPr>
          <p:cNvPr id="89" name="tekst"/>
          <p:cNvSpPr txBox="1"/>
          <p:nvPr/>
        </p:nvSpPr>
        <p:spPr>
          <a:xfrm>
            <a:off x="609600" y="10353675"/>
            <a:ext cx="229790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 · BRAND BOOK</a:t>
            </a:r>
          </a:p>
        </p:txBody>
      </p:sp>
      <p:sp>
        <p:nvSpPr>
          <p:cNvPr id="90" name="tekst"/>
          <p:cNvSpPr txBox="1"/>
          <p:nvPr/>
        </p:nvSpPr>
        <p:spPr>
          <a:xfrm>
            <a:off x="6180534" y="10353675"/>
            <a:ext cx="82986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WERSJA 1.0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lo/linia"/>
          <p:cNvSpPr/>
          <p:nvPr/>
        </p:nvSpPr>
        <p:spPr>
          <a:xfrm>
            <a:off x="0" y="0"/>
            <a:ext cx="7562850" cy="10696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lo/linia"/>
          <p:cNvSpPr/>
          <p:nvPr/>
        </p:nvSpPr>
        <p:spPr>
          <a:xfrm>
            <a:off x="0" y="0"/>
            <a:ext cx="533400" cy="5334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lo/linia"/>
          <p:cNvSpPr/>
          <p:nvPr/>
        </p:nvSpPr>
        <p:spPr>
          <a:xfrm>
            <a:off x="723900" y="1295400"/>
            <a:ext cx="284797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lo/linia"/>
          <p:cNvSpPr/>
          <p:nvPr/>
        </p:nvSpPr>
        <p:spPr>
          <a:xfrm>
            <a:off x="723900" y="1907828"/>
            <a:ext cx="830759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lo/linia"/>
          <p:cNvSpPr/>
          <p:nvPr/>
        </p:nvSpPr>
        <p:spPr>
          <a:xfrm>
            <a:off x="723900" y="2410569"/>
            <a:ext cx="830759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lo/linia"/>
          <p:cNvSpPr/>
          <p:nvPr/>
        </p:nvSpPr>
        <p:spPr>
          <a:xfrm>
            <a:off x="1554659" y="1907828"/>
            <a:ext cx="840432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lo/linia"/>
          <p:cNvSpPr/>
          <p:nvPr/>
        </p:nvSpPr>
        <p:spPr>
          <a:xfrm>
            <a:off x="1554659" y="2410569"/>
            <a:ext cx="840432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lo/linia"/>
          <p:cNvSpPr/>
          <p:nvPr/>
        </p:nvSpPr>
        <p:spPr>
          <a:xfrm>
            <a:off x="2395091" y="1907828"/>
            <a:ext cx="1176784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lo/linia"/>
          <p:cNvSpPr/>
          <p:nvPr/>
        </p:nvSpPr>
        <p:spPr>
          <a:xfrm>
            <a:off x="2395091" y="2410569"/>
            <a:ext cx="1176784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lo/linia"/>
          <p:cNvSpPr/>
          <p:nvPr/>
        </p:nvSpPr>
        <p:spPr>
          <a:xfrm>
            <a:off x="723900" y="3687514"/>
            <a:ext cx="830759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lo/linia"/>
          <p:cNvSpPr/>
          <p:nvPr/>
        </p:nvSpPr>
        <p:spPr>
          <a:xfrm>
            <a:off x="1554659" y="3687514"/>
            <a:ext cx="840432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lo/linia"/>
          <p:cNvSpPr/>
          <p:nvPr/>
        </p:nvSpPr>
        <p:spPr>
          <a:xfrm>
            <a:off x="2395091" y="3687514"/>
            <a:ext cx="1176784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lo/linia"/>
          <p:cNvSpPr/>
          <p:nvPr/>
        </p:nvSpPr>
        <p:spPr>
          <a:xfrm>
            <a:off x="723900" y="4964460"/>
            <a:ext cx="830759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lo/linia"/>
          <p:cNvSpPr/>
          <p:nvPr/>
        </p:nvSpPr>
        <p:spPr>
          <a:xfrm>
            <a:off x="1554659" y="4964460"/>
            <a:ext cx="840432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lo/linia"/>
          <p:cNvSpPr/>
          <p:nvPr/>
        </p:nvSpPr>
        <p:spPr>
          <a:xfrm>
            <a:off x="2395091" y="4964460"/>
            <a:ext cx="1176784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lo/linia"/>
          <p:cNvSpPr/>
          <p:nvPr/>
        </p:nvSpPr>
        <p:spPr>
          <a:xfrm>
            <a:off x="723900" y="6600379"/>
            <a:ext cx="830759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lo/linia"/>
          <p:cNvSpPr/>
          <p:nvPr/>
        </p:nvSpPr>
        <p:spPr>
          <a:xfrm>
            <a:off x="1554659" y="6600379"/>
            <a:ext cx="840432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lo/linia"/>
          <p:cNvSpPr/>
          <p:nvPr/>
        </p:nvSpPr>
        <p:spPr>
          <a:xfrm>
            <a:off x="2395091" y="6600379"/>
            <a:ext cx="1176784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lo/linia"/>
          <p:cNvSpPr/>
          <p:nvPr/>
        </p:nvSpPr>
        <p:spPr>
          <a:xfrm>
            <a:off x="723900" y="7877324"/>
            <a:ext cx="830759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lo/linia"/>
          <p:cNvSpPr/>
          <p:nvPr/>
        </p:nvSpPr>
        <p:spPr>
          <a:xfrm>
            <a:off x="1554659" y="7877324"/>
            <a:ext cx="840432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lo/linia"/>
          <p:cNvSpPr/>
          <p:nvPr/>
        </p:nvSpPr>
        <p:spPr>
          <a:xfrm>
            <a:off x="2395091" y="7877324"/>
            <a:ext cx="1176784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lo/linia"/>
          <p:cNvSpPr/>
          <p:nvPr/>
        </p:nvSpPr>
        <p:spPr>
          <a:xfrm>
            <a:off x="723900" y="9154269"/>
            <a:ext cx="830759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lo/linia"/>
          <p:cNvSpPr/>
          <p:nvPr/>
        </p:nvSpPr>
        <p:spPr>
          <a:xfrm>
            <a:off x="1554659" y="9154269"/>
            <a:ext cx="840432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lo/linia"/>
          <p:cNvSpPr/>
          <p:nvPr/>
        </p:nvSpPr>
        <p:spPr>
          <a:xfrm>
            <a:off x="2395091" y="9154269"/>
            <a:ext cx="1176784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lo/linia"/>
          <p:cNvSpPr/>
          <p:nvPr/>
        </p:nvSpPr>
        <p:spPr>
          <a:xfrm>
            <a:off x="3990975" y="994395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lo/linia"/>
          <p:cNvSpPr/>
          <p:nvPr/>
        </p:nvSpPr>
        <p:spPr>
          <a:xfrm>
            <a:off x="4010025" y="2140017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lo/linia"/>
          <p:cNvSpPr/>
          <p:nvPr/>
        </p:nvSpPr>
        <p:spPr>
          <a:xfrm>
            <a:off x="4010025" y="2442883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lo/linia"/>
          <p:cNvSpPr/>
          <p:nvPr/>
        </p:nvSpPr>
        <p:spPr>
          <a:xfrm>
            <a:off x="4010025" y="2745748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lo/linia"/>
          <p:cNvSpPr/>
          <p:nvPr/>
        </p:nvSpPr>
        <p:spPr>
          <a:xfrm>
            <a:off x="4010025" y="3275278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lo/linia"/>
          <p:cNvSpPr/>
          <p:nvPr/>
        </p:nvSpPr>
        <p:spPr>
          <a:xfrm>
            <a:off x="609600" y="10267950"/>
            <a:ext cx="634365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kst"/>
          <p:cNvSpPr txBox="1"/>
          <p:nvPr/>
        </p:nvSpPr>
        <p:spPr>
          <a:xfrm>
            <a:off x="166836" y="161925"/>
            <a:ext cx="256729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300" b="1" i="0">
                <a:solidFill>
                  <a:srgbClr val="000000"/>
                </a:solidFill>
                <a:latin typeface="Overpass Mono"/>
              </a:rPr>
              <a:t>17</a:t>
            </a:r>
          </a:p>
        </p:txBody>
      </p:sp>
      <p:sp>
        <p:nvSpPr>
          <p:cNvPr id="33" name="tekst"/>
          <p:cNvSpPr txBox="1"/>
          <p:nvPr/>
        </p:nvSpPr>
        <p:spPr>
          <a:xfrm>
            <a:off x="762000" y="209550"/>
            <a:ext cx="2066181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CZĘŚĆ I · FUNDAMENTY MARKI</a:t>
            </a:r>
          </a:p>
        </p:txBody>
      </p:sp>
      <p:sp>
        <p:nvSpPr>
          <p:cNvPr id="34" name="tekst"/>
          <p:cNvSpPr txBox="1"/>
          <p:nvPr/>
        </p:nvSpPr>
        <p:spPr>
          <a:xfrm>
            <a:off x="5716935" y="209550"/>
            <a:ext cx="1293465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</a:t>
            </a:r>
          </a:p>
        </p:txBody>
      </p:sp>
      <p:sp>
        <p:nvSpPr>
          <p:cNvPr id="35" name="tekst"/>
          <p:cNvSpPr txBox="1"/>
          <p:nvPr/>
        </p:nvSpPr>
        <p:spPr>
          <a:xfrm>
            <a:off x="1077962" y="1447800"/>
            <a:ext cx="1598414" cy="257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89"/>
              </a:lnSpc>
            </a:pPr>
            <a:r>
              <a:rPr sz="1600" b="0" i="0" spc="-39">
                <a:solidFill>
                  <a:srgbClr val="000000"/>
                </a:solidFill>
                <a:latin typeface="Hanken Grotesk"/>
              </a:rPr>
              <a:t>Osobowość marki</a:t>
            </a:r>
          </a:p>
        </p:txBody>
      </p:sp>
      <p:sp>
        <p:nvSpPr>
          <p:cNvPr id="36" name="tekst"/>
          <p:cNvSpPr txBox="1"/>
          <p:nvPr/>
        </p:nvSpPr>
        <p:spPr>
          <a:xfrm>
            <a:off x="723900" y="1457325"/>
            <a:ext cx="315962" cy="2742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800" b="0" i="0" spc="-90">
                <a:solidFill>
                  <a:srgbClr val="ED6842"/>
                </a:solidFill>
                <a:latin typeface="Overpass Mono"/>
              </a:rPr>
              <a:t>13</a:t>
            </a:r>
          </a:p>
        </p:txBody>
      </p:sp>
      <p:sp>
        <p:nvSpPr>
          <p:cNvPr id="37" name="tekst"/>
          <p:cNvSpPr txBox="1"/>
          <p:nvPr/>
        </p:nvSpPr>
        <p:spPr>
          <a:xfrm>
            <a:off x="723900" y="2003078"/>
            <a:ext cx="792659" cy="3217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5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OŚ</a:t>
            </a:r>
          </a:p>
        </p:txBody>
      </p:sp>
      <p:sp>
        <p:nvSpPr>
          <p:cNvPr id="38" name="tekst"/>
          <p:cNvSpPr txBox="1"/>
          <p:nvPr/>
        </p:nvSpPr>
        <p:spPr>
          <a:xfrm>
            <a:off x="1554659" y="2003078"/>
            <a:ext cx="802332" cy="3217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5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POZYCJA MARKI</a:t>
            </a:r>
          </a:p>
        </p:txBody>
      </p:sp>
      <p:sp>
        <p:nvSpPr>
          <p:cNvPr id="39" name="tekst"/>
          <p:cNvSpPr txBox="1"/>
          <p:nvPr/>
        </p:nvSpPr>
        <p:spPr>
          <a:xfrm>
            <a:off x="2395091" y="2003078"/>
            <a:ext cx="1138684" cy="3217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5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UZASADNIENIE</a:t>
            </a:r>
          </a:p>
        </p:txBody>
      </p:sp>
      <p:sp>
        <p:nvSpPr>
          <p:cNvPr id="40" name="tekst"/>
          <p:cNvSpPr txBox="1"/>
          <p:nvPr/>
        </p:nvSpPr>
        <p:spPr>
          <a:xfrm>
            <a:off x="723900" y="2515344"/>
            <a:ext cx="792659" cy="1076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Ekspercka — dostępna</a:t>
            </a:r>
          </a:p>
        </p:txBody>
      </p:sp>
      <p:sp>
        <p:nvSpPr>
          <p:cNvPr id="41" name="tekst"/>
          <p:cNvSpPr txBox="1"/>
          <p:nvPr/>
        </p:nvSpPr>
        <p:spPr>
          <a:xfrm>
            <a:off x="1554659" y="2515344"/>
            <a:ext cx="802332" cy="1076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65% ekspercka / 35% dostępna</a:t>
            </a:r>
          </a:p>
        </p:txBody>
      </p:sp>
      <p:sp>
        <p:nvSpPr>
          <p:cNvPr id="42" name="tekst"/>
          <p:cNvSpPr txBox="1"/>
          <p:nvPr/>
        </p:nvSpPr>
        <p:spPr>
          <a:xfrm>
            <a:off x="2395091" y="2515344"/>
            <a:ext cx="1138684" cy="1076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Marka powinna znać materiał, montaż i zastosowanie, ale komunikować to prostym językiem.</a:t>
            </a:r>
          </a:p>
        </p:txBody>
      </p:sp>
      <p:sp>
        <p:nvSpPr>
          <p:cNvPr id="43" name="tekst"/>
          <p:cNvSpPr txBox="1"/>
          <p:nvPr/>
        </p:nvSpPr>
        <p:spPr>
          <a:xfrm>
            <a:off x="723900" y="3792289"/>
            <a:ext cx="792659" cy="1076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Formalna — swobodna</a:t>
            </a:r>
          </a:p>
        </p:txBody>
      </p:sp>
      <p:sp>
        <p:nvSpPr>
          <p:cNvPr id="44" name="tekst"/>
          <p:cNvSpPr txBox="1"/>
          <p:nvPr/>
        </p:nvSpPr>
        <p:spPr>
          <a:xfrm>
            <a:off x="1554659" y="3792289"/>
            <a:ext cx="802332" cy="1076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35% formalna / 65% swobodna</a:t>
            </a:r>
          </a:p>
        </p:txBody>
      </p:sp>
      <p:sp>
        <p:nvSpPr>
          <p:cNvPr id="45" name="tekst"/>
          <p:cNvSpPr txBox="1"/>
          <p:nvPr/>
        </p:nvSpPr>
        <p:spPr>
          <a:xfrm>
            <a:off x="2395091" y="3792289"/>
            <a:ext cx="1138684" cy="1076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Komunikacja powinna być naturalna i bez dystansu, ale nie potoczna ani żartobliwa.</a:t>
            </a:r>
          </a:p>
        </p:txBody>
      </p:sp>
      <p:sp>
        <p:nvSpPr>
          <p:cNvPr id="46" name="tekst"/>
          <p:cNvSpPr txBox="1"/>
          <p:nvPr/>
        </p:nvSpPr>
        <p:spPr>
          <a:xfrm>
            <a:off x="723900" y="5069235"/>
            <a:ext cx="792659" cy="14358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Spokojna — dynamiczna</a:t>
            </a:r>
          </a:p>
        </p:txBody>
      </p:sp>
      <p:sp>
        <p:nvSpPr>
          <p:cNvPr id="47" name="tekst"/>
          <p:cNvSpPr txBox="1"/>
          <p:nvPr/>
        </p:nvSpPr>
        <p:spPr>
          <a:xfrm>
            <a:off x="1554659" y="5069235"/>
            <a:ext cx="802332" cy="14358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75% spokojna / 25% dynamiczna</a:t>
            </a:r>
          </a:p>
        </p:txBody>
      </p:sp>
      <p:sp>
        <p:nvSpPr>
          <p:cNvPr id="48" name="tekst"/>
          <p:cNvSpPr txBox="1"/>
          <p:nvPr/>
        </p:nvSpPr>
        <p:spPr>
          <a:xfrm>
            <a:off x="2395091" y="5069235"/>
            <a:ext cx="1138684" cy="14358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Historia materiału, trwałość i ponadczasowość lepiej współgrają ze spokojnym charakterem niż agresywną sprzedażą.</a:t>
            </a:r>
          </a:p>
        </p:txBody>
      </p:sp>
      <p:sp>
        <p:nvSpPr>
          <p:cNvPr id="49" name="tekst"/>
          <p:cNvSpPr txBox="1"/>
          <p:nvPr/>
        </p:nvSpPr>
        <p:spPr>
          <a:xfrm>
            <a:off x="723900" y="6705154"/>
            <a:ext cx="792659" cy="1076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Tradycyjna — progresywna</a:t>
            </a:r>
          </a:p>
        </p:txBody>
      </p:sp>
      <p:sp>
        <p:nvSpPr>
          <p:cNvPr id="50" name="tekst"/>
          <p:cNvSpPr txBox="1"/>
          <p:nvPr/>
        </p:nvSpPr>
        <p:spPr>
          <a:xfrm>
            <a:off x="1554659" y="6705154"/>
            <a:ext cx="802332" cy="1076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45% tradycyjna / 55% progresywna</a:t>
            </a:r>
          </a:p>
        </p:txBody>
      </p:sp>
      <p:sp>
        <p:nvSpPr>
          <p:cNvPr id="51" name="tekst"/>
          <p:cNvSpPr txBox="1"/>
          <p:nvPr/>
        </p:nvSpPr>
        <p:spPr>
          <a:xfrm>
            <a:off x="2395091" y="6705154"/>
            <a:ext cx="1138684" cy="1076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Marka pracuje z historycznym materiałem, ale pokazuje go w nowoczesnym zastosowaniu.</a:t>
            </a:r>
          </a:p>
        </p:txBody>
      </p:sp>
      <p:sp>
        <p:nvSpPr>
          <p:cNvPr id="52" name="tekst"/>
          <p:cNvSpPr txBox="1"/>
          <p:nvPr/>
        </p:nvSpPr>
        <p:spPr>
          <a:xfrm>
            <a:off x="723900" y="7982099"/>
            <a:ext cx="792659" cy="1076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Premium — masowa</a:t>
            </a:r>
          </a:p>
        </p:txBody>
      </p:sp>
      <p:sp>
        <p:nvSpPr>
          <p:cNvPr id="53" name="tekst"/>
          <p:cNvSpPr txBox="1"/>
          <p:nvPr/>
        </p:nvSpPr>
        <p:spPr>
          <a:xfrm>
            <a:off x="1554659" y="7982099"/>
            <a:ext cx="802332" cy="1076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65% premium / 35% masowa</a:t>
            </a:r>
          </a:p>
        </p:txBody>
      </p:sp>
      <p:sp>
        <p:nvSpPr>
          <p:cNvPr id="54" name="tekst"/>
          <p:cNvSpPr txBox="1"/>
          <p:nvPr/>
        </p:nvSpPr>
        <p:spPr>
          <a:xfrm>
            <a:off x="2395091" y="7982099"/>
            <a:ext cx="1138684" cy="1076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13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Produkt powinien być postrzegany jako autentyczny i wartościowy, ale nie jako elitarny czy niedostępny.</a:t>
            </a:r>
          </a:p>
        </p:txBody>
      </p:sp>
      <p:sp>
        <p:nvSpPr>
          <p:cNvPr id="55" name="tekst"/>
          <p:cNvSpPr txBox="1"/>
          <p:nvPr/>
        </p:nvSpPr>
        <p:spPr>
          <a:xfrm>
            <a:off x="4143375" y="952500"/>
            <a:ext cx="1966466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CO TO OZNACZA W PRAKTYCE</a:t>
            </a:r>
          </a:p>
        </p:txBody>
      </p:sp>
      <p:sp>
        <p:nvSpPr>
          <p:cNvPr id="56" name="tekst"/>
          <p:cNvSpPr txBox="1"/>
          <p:nvPr/>
        </p:nvSpPr>
        <p:spPr>
          <a:xfrm>
            <a:off x="3990975" y="1379190"/>
            <a:ext cx="2905125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i="0" spc="-12">
                <a:solidFill>
                  <a:srgbClr val="000000"/>
                </a:solidFill>
                <a:latin typeface="Hanken Grotesk"/>
              </a:rPr>
              <a:t>Ekspercka, ale dostępna</a:t>
            </a:r>
          </a:p>
        </p:txBody>
      </p:sp>
      <p:sp>
        <p:nvSpPr>
          <p:cNvPr id="57" name="tekst"/>
          <p:cNvSpPr txBox="1"/>
          <p:nvPr/>
        </p:nvSpPr>
        <p:spPr>
          <a:xfrm>
            <a:off x="3990975" y="1683990"/>
            <a:ext cx="29051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Marka:</a:t>
            </a:r>
          </a:p>
        </p:txBody>
      </p:sp>
      <p:sp>
        <p:nvSpPr>
          <p:cNvPr id="58" name="tekst"/>
          <p:cNvSpPr txBox="1"/>
          <p:nvPr/>
        </p:nvSpPr>
        <p:spPr>
          <a:xfrm>
            <a:off x="4181475" y="2044005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zna właściwości starej cegły,</a:t>
            </a:r>
          </a:p>
        </p:txBody>
      </p:sp>
      <p:sp>
        <p:nvSpPr>
          <p:cNvPr id="59" name="tekst"/>
          <p:cNvSpPr txBox="1"/>
          <p:nvPr/>
        </p:nvSpPr>
        <p:spPr>
          <a:xfrm>
            <a:off x="4181475" y="2346871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potrafi doradzić,</a:t>
            </a:r>
          </a:p>
        </p:txBody>
      </p:sp>
      <p:sp>
        <p:nvSpPr>
          <p:cNvPr id="60" name="tekst"/>
          <p:cNvSpPr txBox="1"/>
          <p:nvPr/>
        </p:nvSpPr>
        <p:spPr>
          <a:xfrm>
            <a:off x="4181475" y="2649736"/>
            <a:ext cx="27146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wyjaśnia różnice między materiałem autentycznym a imitacją,</a:t>
            </a:r>
          </a:p>
        </p:txBody>
      </p:sp>
      <p:sp>
        <p:nvSpPr>
          <p:cNvPr id="61" name="tekst"/>
          <p:cNvSpPr txBox="1"/>
          <p:nvPr/>
        </p:nvSpPr>
        <p:spPr>
          <a:xfrm>
            <a:off x="4181475" y="3179266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edukuje w zakresie montażu i pielęgnacji.</a:t>
            </a:r>
          </a:p>
        </p:txBody>
      </p:sp>
      <p:sp>
        <p:nvSpPr>
          <p:cNvPr id="62" name="tekst"/>
          <p:cNvSpPr txBox="1"/>
          <p:nvPr/>
        </p:nvSpPr>
        <p:spPr>
          <a:xfrm>
            <a:off x="3990975" y="3558332"/>
            <a:ext cx="29051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Ale nie mówimy językiem technicznym tam, gdzie nie jest to konieczne.</a:t>
            </a:r>
          </a:p>
        </p:txBody>
      </p:sp>
      <p:sp>
        <p:nvSpPr>
          <p:cNvPr id="63" name="tekst"/>
          <p:cNvSpPr txBox="1"/>
          <p:nvPr/>
        </p:nvSpPr>
        <p:spPr>
          <a:xfrm>
            <a:off x="3990975" y="4145012"/>
            <a:ext cx="2905125" cy="6799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Tak:</a:t>
            </a:r>
            <a:br/>
            <a:r>
              <a:rPr sz="1050" b="0" i="0">
                <a:solidFill>
                  <a:srgbClr val="000000"/>
                </a:solidFill>
                <a:latin typeface="Hanken Grotesk"/>
              </a:rPr>
              <a:t>Naturalne różnice kolorystyczne są cechą starej cegły i wynikają z jej pochodzenia.</a:t>
            </a:r>
          </a:p>
        </p:txBody>
      </p:sp>
      <p:sp>
        <p:nvSpPr>
          <p:cNvPr id="64" name="tekst"/>
          <p:cNvSpPr txBox="1"/>
          <p:nvPr/>
        </p:nvSpPr>
        <p:spPr>
          <a:xfrm>
            <a:off x="3990975" y="4958358"/>
            <a:ext cx="2905125" cy="6799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Nie:</a:t>
            </a:r>
            <a:br/>
            <a:r>
              <a:rPr sz="1050" b="0" i="0">
                <a:solidFill>
                  <a:srgbClr val="000000"/>
                </a:solidFill>
                <a:latin typeface="Hanken Grotesk"/>
              </a:rPr>
              <a:t>Ze względu na heterogeniczność strukturalną materiału możliwe są odchylenia chromatyczne.</a:t>
            </a:r>
          </a:p>
        </p:txBody>
      </p:sp>
      <p:sp>
        <p:nvSpPr>
          <p:cNvPr id="65" name="tekst"/>
          <p:cNvSpPr txBox="1"/>
          <p:nvPr/>
        </p:nvSpPr>
        <p:spPr>
          <a:xfrm>
            <a:off x="3990975" y="5905054"/>
            <a:ext cx="2905125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i="0" spc="-12">
                <a:solidFill>
                  <a:srgbClr val="000000"/>
                </a:solidFill>
                <a:latin typeface="Hanken Grotesk"/>
              </a:rPr>
              <a:t>Swobodna, ale nie potoczna</a:t>
            </a:r>
          </a:p>
        </p:txBody>
      </p:sp>
      <p:sp>
        <p:nvSpPr>
          <p:cNvPr id="66" name="tekst"/>
          <p:cNvSpPr txBox="1"/>
          <p:nvPr/>
        </p:nvSpPr>
        <p:spPr>
          <a:xfrm>
            <a:off x="3990975" y="6209854"/>
            <a:ext cx="29051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Ceglany Renesans nie powinien brzmieć jak duża korporacja.</a:t>
            </a:r>
          </a:p>
        </p:txBody>
      </p:sp>
      <p:sp>
        <p:nvSpPr>
          <p:cNvPr id="67" name="tekst"/>
          <p:cNvSpPr txBox="1"/>
          <p:nvPr/>
        </p:nvSpPr>
        <p:spPr>
          <a:xfrm>
            <a:off x="3990975" y="6796534"/>
            <a:ext cx="29051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Unijamy:</a:t>
            </a:r>
            <a:br/>
            <a:r>
              <a:rPr sz="1050" b="0" i="0">
                <a:solidFill>
                  <a:srgbClr val="000000"/>
                </a:solidFill>
                <a:latin typeface="Hanken Grotesk"/>
              </a:rPr>
              <a:t>Szanowni Państwo, pragniemy zaoferować...</a:t>
            </a:r>
          </a:p>
        </p:txBody>
      </p:sp>
      <p:sp>
        <p:nvSpPr>
          <p:cNvPr id="68" name="tekst"/>
          <p:cNvSpPr txBox="1"/>
          <p:nvPr/>
        </p:nvSpPr>
        <p:spPr>
          <a:xfrm>
            <a:off x="3990975" y="7383214"/>
            <a:ext cx="29051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Ale również:</a:t>
            </a:r>
            <a:br/>
            <a:r>
              <a:rPr sz="1050" b="0" i="0">
                <a:solidFill>
                  <a:srgbClr val="000000"/>
                </a:solidFill>
                <a:latin typeface="Hanken Grotesk"/>
              </a:rPr>
              <a:t>Ta cegła robi robotę.</a:t>
            </a:r>
          </a:p>
        </p:txBody>
      </p:sp>
      <p:sp>
        <p:nvSpPr>
          <p:cNvPr id="69" name="tekst"/>
          <p:cNvSpPr txBox="1"/>
          <p:nvPr/>
        </p:nvSpPr>
        <p:spPr>
          <a:xfrm>
            <a:off x="3990975" y="7969895"/>
            <a:ext cx="2905125" cy="6799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Mówimy:</a:t>
            </a:r>
            <a:br/>
            <a:r>
              <a:rPr sz="1050" b="0" i="0">
                <a:solidFill>
                  <a:srgbClr val="000000"/>
                </a:solidFill>
                <a:latin typeface="Hanken Grotesk"/>
              </a:rPr>
              <a:t>Każda partia starej cegły jest trochę inna. I właśnie na tym polega jej charakter.</a:t>
            </a:r>
          </a:p>
        </p:txBody>
      </p:sp>
      <p:sp>
        <p:nvSpPr>
          <p:cNvPr id="70" name="tekst"/>
          <p:cNvSpPr txBox="1"/>
          <p:nvPr/>
        </p:nvSpPr>
        <p:spPr>
          <a:xfrm>
            <a:off x="609600" y="10353675"/>
            <a:ext cx="229790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 · BRAND BOOK</a:t>
            </a:r>
          </a:p>
        </p:txBody>
      </p:sp>
      <p:sp>
        <p:nvSpPr>
          <p:cNvPr id="71" name="tekst"/>
          <p:cNvSpPr txBox="1"/>
          <p:nvPr/>
        </p:nvSpPr>
        <p:spPr>
          <a:xfrm>
            <a:off x="6180534" y="10353675"/>
            <a:ext cx="82986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WERSJA 1.0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lo/linia"/>
          <p:cNvSpPr/>
          <p:nvPr/>
        </p:nvSpPr>
        <p:spPr>
          <a:xfrm>
            <a:off x="0" y="0"/>
            <a:ext cx="7562850" cy="10696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lo/linia"/>
          <p:cNvSpPr/>
          <p:nvPr/>
        </p:nvSpPr>
        <p:spPr>
          <a:xfrm>
            <a:off x="0" y="0"/>
            <a:ext cx="533400" cy="5334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lo/linia"/>
          <p:cNvSpPr/>
          <p:nvPr/>
        </p:nvSpPr>
        <p:spPr>
          <a:xfrm>
            <a:off x="742950" y="7075456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lo/linia"/>
          <p:cNvSpPr/>
          <p:nvPr/>
        </p:nvSpPr>
        <p:spPr>
          <a:xfrm>
            <a:off x="742950" y="7378321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lo/linia"/>
          <p:cNvSpPr/>
          <p:nvPr/>
        </p:nvSpPr>
        <p:spPr>
          <a:xfrm>
            <a:off x="742950" y="7681186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lo/linia"/>
          <p:cNvSpPr/>
          <p:nvPr/>
        </p:nvSpPr>
        <p:spPr>
          <a:xfrm>
            <a:off x="742950" y="7984051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lo/linia"/>
          <p:cNvSpPr/>
          <p:nvPr/>
        </p:nvSpPr>
        <p:spPr>
          <a:xfrm>
            <a:off x="742950" y="8286917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lo/linia"/>
          <p:cNvSpPr/>
          <p:nvPr/>
        </p:nvSpPr>
        <p:spPr>
          <a:xfrm>
            <a:off x="4010025" y="3700034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lo/linia"/>
          <p:cNvSpPr/>
          <p:nvPr/>
        </p:nvSpPr>
        <p:spPr>
          <a:xfrm>
            <a:off x="4010025" y="4002899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lo/linia"/>
          <p:cNvSpPr/>
          <p:nvPr/>
        </p:nvSpPr>
        <p:spPr>
          <a:xfrm>
            <a:off x="4010025" y="4305764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lo/linia"/>
          <p:cNvSpPr/>
          <p:nvPr/>
        </p:nvSpPr>
        <p:spPr>
          <a:xfrm>
            <a:off x="4010025" y="4608630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lo/linia"/>
          <p:cNvSpPr/>
          <p:nvPr/>
        </p:nvSpPr>
        <p:spPr>
          <a:xfrm>
            <a:off x="4010025" y="5347710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lo/linia"/>
          <p:cNvSpPr/>
          <p:nvPr/>
        </p:nvSpPr>
        <p:spPr>
          <a:xfrm>
            <a:off x="4010025" y="5650575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lo/linia"/>
          <p:cNvSpPr/>
          <p:nvPr/>
        </p:nvSpPr>
        <p:spPr>
          <a:xfrm>
            <a:off x="4010025" y="5953441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lo/linia"/>
          <p:cNvSpPr/>
          <p:nvPr/>
        </p:nvSpPr>
        <p:spPr>
          <a:xfrm>
            <a:off x="4010025" y="6256306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lo/linia"/>
          <p:cNvSpPr/>
          <p:nvPr/>
        </p:nvSpPr>
        <p:spPr>
          <a:xfrm>
            <a:off x="4010025" y="7641151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lo/linia"/>
          <p:cNvSpPr/>
          <p:nvPr/>
        </p:nvSpPr>
        <p:spPr>
          <a:xfrm>
            <a:off x="4010025" y="7944017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lo/linia"/>
          <p:cNvSpPr/>
          <p:nvPr/>
        </p:nvSpPr>
        <p:spPr>
          <a:xfrm>
            <a:off x="4010025" y="8246882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lo/linia"/>
          <p:cNvSpPr/>
          <p:nvPr/>
        </p:nvSpPr>
        <p:spPr>
          <a:xfrm>
            <a:off x="4010025" y="8549747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lo/linia"/>
          <p:cNvSpPr/>
          <p:nvPr/>
        </p:nvSpPr>
        <p:spPr>
          <a:xfrm>
            <a:off x="4010025" y="8852612"/>
            <a:ext cx="47625" cy="47625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lo/linia"/>
          <p:cNvSpPr/>
          <p:nvPr/>
        </p:nvSpPr>
        <p:spPr>
          <a:xfrm>
            <a:off x="609600" y="10267950"/>
            <a:ext cx="634365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kst"/>
          <p:cNvSpPr txBox="1"/>
          <p:nvPr/>
        </p:nvSpPr>
        <p:spPr>
          <a:xfrm>
            <a:off x="166836" y="161925"/>
            <a:ext cx="256729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300" b="1" i="0">
                <a:solidFill>
                  <a:srgbClr val="000000"/>
                </a:solidFill>
                <a:latin typeface="Overpass Mono"/>
              </a:rPr>
              <a:t>18</a:t>
            </a:r>
          </a:p>
        </p:txBody>
      </p:sp>
      <p:sp>
        <p:nvSpPr>
          <p:cNvPr id="24" name="tekst"/>
          <p:cNvSpPr txBox="1"/>
          <p:nvPr/>
        </p:nvSpPr>
        <p:spPr>
          <a:xfrm>
            <a:off x="762000" y="209550"/>
            <a:ext cx="2066181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CZĘŚĆ I · FUNDAMENTY MARKI</a:t>
            </a:r>
          </a:p>
        </p:txBody>
      </p:sp>
      <p:sp>
        <p:nvSpPr>
          <p:cNvPr id="25" name="tekst"/>
          <p:cNvSpPr txBox="1"/>
          <p:nvPr/>
        </p:nvSpPr>
        <p:spPr>
          <a:xfrm>
            <a:off x="5716935" y="209550"/>
            <a:ext cx="1293465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</a:t>
            </a:r>
          </a:p>
        </p:txBody>
      </p:sp>
      <p:sp>
        <p:nvSpPr>
          <p:cNvPr id="26" name="tekst"/>
          <p:cNvSpPr txBox="1"/>
          <p:nvPr/>
        </p:nvSpPr>
        <p:spPr>
          <a:xfrm>
            <a:off x="723900" y="1219200"/>
            <a:ext cx="2905125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i="0" spc="-12">
                <a:solidFill>
                  <a:srgbClr val="000000"/>
                </a:solidFill>
                <a:latin typeface="Hanken Grotesk"/>
              </a:rPr>
              <a:t>Spokojna, nie agresywna</a:t>
            </a:r>
          </a:p>
        </p:txBody>
      </p:sp>
      <p:sp>
        <p:nvSpPr>
          <p:cNvPr id="27" name="tekst"/>
          <p:cNvSpPr txBox="1"/>
          <p:nvPr/>
        </p:nvSpPr>
        <p:spPr>
          <a:xfrm>
            <a:off x="723900" y="1524000"/>
            <a:ext cx="29051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Marka powinna przede wszystkim</a:t>
            </a:r>
            <a:r>
              <a:rPr sz="1050" b="1" i="0">
                <a:solidFill>
                  <a:srgbClr val="000000"/>
                </a:solidFill>
                <a:latin typeface="Hanken Grotesk"/>
              </a:rPr>
              <a:t> pokazywać materiał i pozwalać mu pracować wizualnie</a:t>
            </a:r>
            <a:r>
              <a:rPr sz="1050" b="0" i="0">
                <a:solidFill>
                  <a:srgbClr val="000000"/>
                </a:solidFill>
                <a:latin typeface="Hanken Grotesk"/>
              </a:rPr>
              <a:t> .</a:t>
            </a:r>
          </a:p>
        </p:txBody>
      </p:sp>
      <p:sp>
        <p:nvSpPr>
          <p:cNvPr id="28" name="tekst"/>
          <p:cNvSpPr txBox="1"/>
          <p:nvPr/>
        </p:nvSpPr>
        <p:spPr>
          <a:xfrm>
            <a:off x="723900" y="2110680"/>
            <a:ext cx="29051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Mniej:</a:t>
            </a:r>
            <a:br/>
            <a:r>
              <a:rPr sz="1050" b="0" i="0">
                <a:solidFill>
                  <a:srgbClr val="000000"/>
                </a:solidFill>
                <a:latin typeface="Hanken Grotesk"/>
              </a:rPr>
              <a:t>KUP TERAZ! OSTATNIA SZANSA! -40%</a:t>
            </a:r>
          </a:p>
        </p:txBody>
      </p:sp>
      <p:sp>
        <p:nvSpPr>
          <p:cNvPr id="29" name="tekst"/>
          <p:cNvSpPr txBox="1"/>
          <p:nvPr/>
        </p:nvSpPr>
        <p:spPr>
          <a:xfrm>
            <a:off x="723900" y="2697361"/>
            <a:ext cx="2905125" cy="6799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Więcej:</a:t>
            </a:r>
            <a:br/>
            <a:r>
              <a:rPr sz="1050" b="0" i="0">
                <a:solidFill>
                  <a:srgbClr val="000000"/>
                </a:solidFill>
                <a:latin typeface="Hanken Grotesk"/>
              </a:rPr>
              <a:t>Ponad 100 lat historii. Teraz może stać się częścią Twojego wnętrza.</a:t>
            </a:r>
          </a:p>
        </p:txBody>
      </p:sp>
      <p:sp>
        <p:nvSpPr>
          <p:cNvPr id="30" name="tekst"/>
          <p:cNvSpPr txBox="1"/>
          <p:nvPr/>
        </p:nvSpPr>
        <p:spPr>
          <a:xfrm>
            <a:off x="723900" y="3510707"/>
            <a:ext cx="29051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Promocje mogą istnieć, ale nie powinny definiować charakteru komunikacji marki.</a:t>
            </a:r>
          </a:p>
        </p:txBody>
      </p:sp>
      <p:sp>
        <p:nvSpPr>
          <p:cNvPr id="31" name="tekst"/>
          <p:cNvSpPr txBox="1"/>
          <p:nvPr/>
        </p:nvSpPr>
        <p:spPr>
          <a:xfrm>
            <a:off x="723900" y="4230737"/>
            <a:ext cx="2905125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i="0" spc="-12">
                <a:solidFill>
                  <a:srgbClr val="000000"/>
                </a:solidFill>
                <a:latin typeface="Hanken Grotesk"/>
              </a:rPr>
              <a:t>Tradycyjna w materiale, progresywna w zastosowaniu</a:t>
            </a:r>
          </a:p>
        </p:txBody>
      </p:sp>
      <p:sp>
        <p:nvSpPr>
          <p:cNvPr id="32" name="tekst"/>
          <p:cNvSpPr txBox="1"/>
          <p:nvPr/>
        </p:nvSpPr>
        <p:spPr>
          <a:xfrm>
            <a:off x="723900" y="4726037"/>
            <a:ext cx="29051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Marka nie jest:</a:t>
            </a:r>
          </a:p>
        </p:txBody>
      </p:sp>
      <p:sp>
        <p:nvSpPr>
          <p:cNvPr id="33" name="tekst"/>
          <p:cNvSpPr txBox="1"/>
          <p:nvPr/>
        </p:nvSpPr>
        <p:spPr>
          <a:xfrm>
            <a:off x="723900" y="5086052"/>
            <a:ext cx="29051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„rustykalną firmą sprzedającą starą cegłę”.</a:t>
            </a:r>
          </a:p>
        </p:txBody>
      </p:sp>
      <p:sp>
        <p:nvSpPr>
          <p:cNvPr id="34" name="tekst"/>
          <p:cNvSpPr txBox="1"/>
          <p:nvPr/>
        </p:nvSpPr>
        <p:spPr>
          <a:xfrm>
            <a:off x="723900" y="5446068"/>
            <a:ext cx="29051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Bardziej:</a:t>
            </a:r>
          </a:p>
        </p:txBody>
      </p:sp>
      <p:sp>
        <p:nvSpPr>
          <p:cNvPr id="35" name="tekst"/>
          <p:cNvSpPr txBox="1"/>
          <p:nvPr/>
        </p:nvSpPr>
        <p:spPr>
          <a:xfrm>
            <a:off x="723900" y="5806083"/>
            <a:ext cx="29051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„współczesną marką pracującą z materiałem historycznym”.</a:t>
            </a:r>
          </a:p>
        </p:txBody>
      </p:sp>
      <p:sp>
        <p:nvSpPr>
          <p:cNvPr id="36" name="tekst"/>
          <p:cNvSpPr txBox="1"/>
          <p:nvPr/>
        </p:nvSpPr>
        <p:spPr>
          <a:xfrm>
            <a:off x="723900" y="6392763"/>
            <a:ext cx="29051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Dlatego fotografia, strona i komunikacja powinny pokazywać starą cegłę również w:</a:t>
            </a:r>
          </a:p>
        </p:txBody>
      </p:sp>
      <p:sp>
        <p:nvSpPr>
          <p:cNvPr id="37" name="tekst"/>
          <p:cNvSpPr txBox="1"/>
          <p:nvPr/>
        </p:nvSpPr>
        <p:spPr>
          <a:xfrm>
            <a:off x="914400" y="6979444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nowoczesnych kuchniach,</a:t>
            </a:r>
          </a:p>
        </p:txBody>
      </p:sp>
      <p:sp>
        <p:nvSpPr>
          <p:cNvPr id="38" name="tekst"/>
          <p:cNvSpPr txBox="1"/>
          <p:nvPr/>
        </p:nvSpPr>
        <p:spPr>
          <a:xfrm>
            <a:off x="914400" y="7282309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minimalistycznych salonach,</a:t>
            </a:r>
          </a:p>
        </p:txBody>
      </p:sp>
      <p:sp>
        <p:nvSpPr>
          <p:cNvPr id="39" name="tekst"/>
          <p:cNvSpPr txBox="1"/>
          <p:nvPr/>
        </p:nvSpPr>
        <p:spPr>
          <a:xfrm>
            <a:off x="914400" y="7585174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restauracjach,</a:t>
            </a:r>
          </a:p>
        </p:txBody>
      </p:sp>
      <p:sp>
        <p:nvSpPr>
          <p:cNvPr id="40" name="tekst"/>
          <p:cNvSpPr txBox="1"/>
          <p:nvPr/>
        </p:nvSpPr>
        <p:spPr>
          <a:xfrm>
            <a:off x="914400" y="7888039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nowoczesnych elewacjach,</a:t>
            </a:r>
          </a:p>
        </p:txBody>
      </p:sp>
      <p:sp>
        <p:nvSpPr>
          <p:cNvPr id="41" name="tekst"/>
          <p:cNvSpPr txBox="1"/>
          <p:nvPr/>
        </p:nvSpPr>
        <p:spPr>
          <a:xfrm>
            <a:off x="914400" y="8190905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przestrzeniach komercyjnych.</a:t>
            </a:r>
          </a:p>
        </p:txBody>
      </p:sp>
      <p:sp>
        <p:nvSpPr>
          <p:cNvPr id="42" name="tekst"/>
          <p:cNvSpPr txBox="1"/>
          <p:nvPr/>
        </p:nvSpPr>
        <p:spPr>
          <a:xfrm>
            <a:off x="723900" y="8569970"/>
            <a:ext cx="29051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Nie tylko w stylistyce „stodoła + drewno + retro”.</a:t>
            </a:r>
          </a:p>
        </p:txBody>
      </p:sp>
      <p:sp>
        <p:nvSpPr>
          <p:cNvPr id="43" name="tekst"/>
          <p:cNvSpPr txBox="1"/>
          <p:nvPr/>
        </p:nvSpPr>
        <p:spPr>
          <a:xfrm>
            <a:off x="3990975" y="952500"/>
            <a:ext cx="2905125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i="0" spc="-12">
                <a:solidFill>
                  <a:srgbClr val="000000"/>
                </a:solidFill>
                <a:latin typeface="Hanken Grotesk"/>
              </a:rPr>
              <a:t>Premium, ale dostępna</a:t>
            </a:r>
          </a:p>
        </p:txBody>
      </p:sp>
      <p:sp>
        <p:nvSpPr>
          <p:cNvPr id="44" name="tekst"/>
          <p:cNvSpPr txBox="1"/>
          <p:nvPr/>
        </p:nvSpPr>
        <p:spPr>
          <a:xfrm>
            <a:off x="3990975" y="1257300"/>
            <a:ext cx="2905125" cy="9066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Nie pozycjonujemy</a:t>
            </a:r>
            <a:r>
              <a:rPr sz="1050" b="1" i="0">
                <a:solidFill>
                  <a:srgbClr val="000000"/>
                </a:solidFill>
                <a:latin typeface="Hanken Grotesk"/>
              </a:rPr>
              <a:t> Ceglanego Renesansu</a:t>
            </a:r>
            <a:r>
              <a:rPr sz="1050" b="0" i="0">
                <a:solidFill>
                  <a:srgbClr val="000000"/>
                </a:solidFill>
                <a:latin typeface="Hanken Grotesk"/>
              </a:rPr>
              <a:t> jako marki luksusowej. Produkt ma natomiast</a:t>
            </a:r>
            <a:r>
              <a:rPr sz="1050" b="1" i="0">
                <a:solidFill>
                  <a:srgbClr val="000000"/>
                </a:solidFill>
                <a:latin typeface="Hanken Grotesk"/>
              </a:rPr>
              <a:t> wartość wynikającą z autentyczności materiału</a:t>
            </a:r>
            <a:r>
              <a:rPr sz="1050" b="0" i="0">
                <a:solidFill>
                  <a:srgbClr val="000000"/>
                </a:solidFill>
                <a:latin typeface="Hanken Grotesk"/>
              </a:rPr>
              <a:t> .</a:t>
            </a:r>
          </a:p>
        </p:txBody>
      </p:sp>
      <p:sp>
        <p:nvSpPr>
          <p:cNvPr id="45" name="tekst"/>
          <p:cNvSpPr txBox="1"/>
          <p:nvPr/>
        </p:nvSpPr>
        <p:spPr>
          <a:xfrm>
            <a:off x="3990975" y="2297311"/>
            <a:ext cx="29051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Czyli:</a:t>
            </a:r>
          </a:p>
        </p:txBody>
      </p:sp>
      <p:sp>
        <p:nvSpPr>
          <p:cNvPr id="46" name="tekst"/>
          <p:cNvSpPr txBox="1"/>
          <p:nvPr/>
        </p:nvSpPr>
        <p:spPr>
          <a:xfrm>
            <a:off x="3990975" y="2657326"/>
            <a:ext cx="29051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premium przez materiał, historię i jakość, nie przez snobizm.</a:t>
            </a:r>
          </a:p>
        </p:txBody>
      </p:sp>
      <p:sp>
        <p:nvSpPr>
          <p:cNvPr id="47" name="tekst"/>
          <p:cNvSpPr txBox="1"/>
          <p:nvPr/>
        </p:nvSpPr>
        <p:spPr>
          <a:xfrm>
            <a:off x="3990975" y="3244007"/>
            <a:ext cx="29051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Marka może komunikować:</a:t>
            </a:r>
          </a:p>
        </p:txBody>
      </p:sp>
      <p:sp>
        <p:nvSpPr>
          <p:cNvPr id="48" name="tekst"/>
          <p:cNvSpPr txBox="1"/>
          <p:nvPr/>
        </p:nvSpPr>
        <p:spPr>
          <a:xfrm>
            <a:off x="4181475" y="3604022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unikalność,</a:t>
            </a:r>
          </a:p>
        </p:txBody>
      </p:sp>
      <p:sp>
        <p:nvSpPr>
          <p:cNvPr id="49" name="tekst"/>
          <p:cNvSpPr txBox="1"/>
          <p:nvPr/>
        </p:nvSpPr>
        <p:spPr>
          <a:xfrm>
            <a:off x="4181475" y="3906887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jakość,</a:t>
            </a:r>
          </a:p>
        </p:txBody>
      </p:sp>
      <p:sp>
        <p:nvSpPr>
          <p:cNvPr id="50" name="tekst"/>
          <p:cNvSpPr txBox="1"/>
          <p:nvPr/>
        </p:nvSpPr>
        <p:spPr>
          <a:xfrm>
            <a:off x="4181475" y="4209752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autentyczność,</a:t>
            </a:r>
          </a:p>
        </p:txBody>
      </p:sp>
      <p:sp>
        <p:nvSpPr>
          <p:cNvPr id="51" name="tekst"/>
          <p:cNvSpPr txBox="1"/>
          <p:nvPr/>
        </p:nvSpPr>
        <p:spPr>
          <a:xfrm>
            <a:off x="4181475" y="4512618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ponadczasowość.</a:t>
            </a:r>
          </a:p>
        </p:txBody>
      </p:sp>
      <p:sp>
        <p:nvSpPr>
          <p:cNvPr id="52" name="tekst"/>
          <p:cNvSpPr txBox="1"/>
          <p:nvPr/>
        </p:nvSpPr>
        <p:spPr>
          <a:xfrm>
            <a:off x="3990975" y="4891683"/>
            <a:ext cx="29051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Ale bez:</a:t>
            </a:r>
          </a:p>
        </p:txBody>
      </p:sp>
      <p:sp>
        <p:nvSpPr>
          <p:cNvPr id="53" name="tekst"/>
          <p:cNvSpPr txBox="1"/>
          <p:nvPr/>
        </p:nvSpPr>
        <p:spPr>
          <a:xfrm>
            <a:off x="4181475" y="5251698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złota,</a:t>
            </a:r>
          </a:p>
        </p:txBody>
      </p:sp>
      <p:sp>
        <p:nvSpPr>
          <p:cNvPr id="54" name="tekst"/>
          <p:cNvSpPr txBox="1"/>
          <p:nvPr/>
        </p:nvSpPr>
        <p:spPr>
          <a:xfrm>
            <a:off x="4181475" y="5554563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„ekskluzywności”,</a:t>
            </a:r>
          </a:p>
        </p:txBody>
      </p:sp>
      <p:sp>
        <p:nvSpPr>
          <p:cNvPr id="55" name="tekst"/>
          <p:cNvSpPr txBox="1"/>
          <p:nvPr/>
        </p:nvSpPr>
        <p:spPr>
          <a:xfrm>
            <a:off x="4181475" y="5857429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przesadnego języka luksusu,</a:t>
            </a:r>
          </a:p>
        </p:txBody>
      </p:sp>
      <p:sp>
        <p:nvSpPr>
          <p:cNvPr id="56" name="tekst"/>
          <p:cNvSpPr txBox="1"/>
          <p:nvPr/>
        </p:nvSpPr>
        <p:spPr>
          <a:xfrm>
            <a:off x="4181475" y="6160294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sztucznego elitaryzmu.</a:t>
            </a:r>
          </a:p>
        </p:txBody>
      </p:sp>
      <p:sp>
        <p:nvSpPr>
          <p:cNvPr id="57" name="tekst"/>
          <p:cNvSpPr txBox="1"/>
          <p:nvPr/>
        </p:nvSpPr>
        <p:spPr>
          <a:xfrm>
            <a:off x="3990975" y="6653659"/>
            <a:ext cx="2905125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i="0" spc="-12">
                <a:solidFill>
                  <a:srgbClr val="000000"/>
                </a:solidFill>
                <a:latin typeface="Hanken Grotesk"/>
              </a:rPr>
              <a:t>Podsumowanie osobowości</a:t>
            </a:r>
          </a:p>
        </p:txBody>
      </p:sp>
      <p:sp>
        <p:nvSpPr>
          <p:cNvPr id="58" name="tekst"/>
          <p:cNvSpPr txBox="1"/>
          <p:nvPr/>
        </p:nvSpPr>
        <p:spPr>
          <a:xfrm>
            <a:off x="3990975" y="6958459"/>
            <a:ext cx="2905125" cy="4533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Gdybym miała opisać Ceglany Renesans pięcioma cechami:</a:t>
            </a:r>
          </a:p>
        </p:txBody>
      </p:sp>
      <p:sp>
        <p:nvSpPr>
          <p:cNvPr id="59" name="tekst"/>
          <p:cNvSpPr txBox="1"/>
          <p:nvPr/>
        </p:nvSpPr>
        <p:spPr>
          <a:xfrm>
            <a:off x="4181475" y="7545139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autentyczna</a:t>
            </a:r>
          </a:p>
        </p:txBody>
      </p:sp>
      <p:sp>
        <p:nvSpPr>
          <p:cNvPr id="60" name="tekst"/>
          <p:cNvSpPr txBox="1"/>
          <p:nvPr/>
        </p:nvSpPr>
        <p:spPr>
          <a:xfrm>
            <a:off x="4181475" y="7848005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kompetentna</a:t>
            </a:r>
          </a:p>
        </p:txBody>
      </p:sp>
      <p:sp>
        <p:nvSpPr>
          <p:cNvPr id="61" name="tekst"/>
          <p:cNvSpPr txBox="1"/>
          <p:nvPr/>
        </p:nvSpPr>
        <p:spPr>
          <a:xfrm>
            <a:off x="4181475" y="8150870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spokojna</a:t>
            </a:r>
          </a:p>
        </p:txBody>
      </p:sp>
      <p:sp>
        <p:nvSpPr>
          <p:cNvPr id="62" name="tekst"/>
          <p:cNvSpPr txBox="1"/>
          <p:nvPr/>
        </p:nvSpPr>
        <p:spPr>
          <a:xfrm>
            <a:off x="4181475" y="8453735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świadoma</a:t>
            </a:r>
          </a:p>
        </p:txBody>
      </p:sp>
      <p:sp>
        <p:nvSpPr>
          <p:cNvPr id="63" name="tekst"/>
          <p:cNvSpPr txBox="1"/>
          <p:nvPr/>
        </p:nvSpPr>
        <p:spPr>
          <a:xfrm>
            <a:off x="4181475" y="8756600"/>
            <a:ext cx="2714625" cy="2266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050" b="1" i="0">
                <a:solidFill>
                  <a:srgbClr val="000000"/>
                </a:solidFill>
                <a:latin typeface="Hanken Grotesk"/>
              </a:rPr>
              <a:t>charakterystyczna</a:t>
            </a:r>
          </a:p>
        </p:txBody>
      </p:sp>
      <p:sp>
        <p:nvSpPr>
          <p:cNvPr id="64" name="tekst"/>
          <p:cNvSpPr txBox="1"/>
          <p:nvPr/>
        </p:nvSpPr>
        <p:spPr>
          <a:xfrm>
            <a:off x="609600" y="10353675"/>
            <a:ext cx="229790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 · BRAND BOOK</a:t>
            </a:r>
          </a:p>
        </p:txBody>
      </p:sp>
      <p:sp>
        <p:nvSpPr>
          <p:cNvPr id="65" name="tekst"/>
          <p:cNvSpPr txBox="1"/>
          <p:nvPr/>
        </p:nvSpPr>
        <p:spPr>
          <a:xfrm>
            <a:off x="6180534" y="10353675"/>
            <a:ext cx="82986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WERSJA 1.0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lo/linia"/>
          <p:cNvSpPr/>
          <p:nvPr/>
        </p:nvSpPr>
        <p:spPr>
          <a:xfrm>
            <a:off x="0" y="0"/>
            <a:ext cx="7562850" cy="10696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lo/linia"/>
          <p:cNvSpPr/>
          <p:nvPr/>
        </p:nvSpPr>
        <p:spPr>
          <a:xfrm>
            <a:off x="0" y="0"/>
            <a:ext cx="533400" cy="5334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lo/linia"/>
          <p:cNvSpPr/>
          <p:nvPr/>
        </p:nvSpPr>
        <p:spPr>
          <a:xfrm>
            <a:off x="609600" y="2430512"/>
            <a:ext cx="634365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lo/linia"/>
          <p:cNvSpPr/>
          <p:nvPr/>
        </p:nvSpPr>
        <p:spPr>
          <a:xfrm>
            <a:off x="1638300" y="2573387"/>
            <a:ext cx="4286250" cy="76200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lo/linia"/>
          <p:cNvSpPr/>
          <p:nvPr/>
        </p:nvSpPr>
        <p:spPr>
          <a:xfrm>
            <a:off x="1638300" y="2573387"/>
            <a:ext cx="2786062" cy="76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lo/linia"/>
          <p:cNvSpPr/>
          <p:nvPr/>
        </p:nvSpPr>
        <p:spPr>
          <a:xfrm>
            <a:off x="4424362" y="2535287"/>
            <a:ext cx="28575" cy="1524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lo/linia"/>
          <p:cNvSpPr/>
          <p:nvPr/>
        </p:nvSpPr>
        <p:spPr>
          <a:xfrm>
            <a:off x="609600" y="2782937"/>
            <a:ext cx="634365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lo/linia"/>
          <p:cNvSpPr/>
          <p:nvPr/>
        </p:nvSpPr>
        <p:spPr>
          <a:xfrm>
            <a:off x="1638300" y="2925812"/>
            <a:ext cx="4286250" cy="76200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lo/linia"/>
          <p:cNvSpPr/>
          <p:nvPr/>
        </p:nvSpPr>
        <p:spPr>
          <a:xfrm>
            <a:off x="1638300" y="2925812"/>
            <a:ext cx="1500188" cy="76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lo/linia"/>
          <p:cNvSpPr/>
          <p:nvPr/>
        </p:nvSpPr>
        <p:spPr>
          <a:xfrm>
            <a:off x="3138488" y="2887712"/>
            <a:ext cx="28575" cy="1524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lo/linia"/>
          <p:cNvSpPr/>
          <p:nvPr/>
        </p:nvSpPr>
        <p:spPr>
          <a:xfrm>
            <a:off x="609600" y="3135362"/>
            <a:ext cx="634365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lo/linia"/>
          <p:cNvSpPr/>
          <p:nvPr/>
        </p:nvSpPr>
        <p:spPr>
          <a:xfrm>
            <a:off x="1638300" y="3278237"/>
            <a:ext cx="4286250" cy="76200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lo/linia"/>
          <p:cNvSpPr/>
          <p:nvPr/>
        </p:nvSpPr>
        <p:spPr>
          <a:xfrm>
            <a:off x="1638300" y="3278237"/>
            <a:ext cx="3214688" cy="76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lo/linia"/>
          <p:cNvSpPr/>
          <p:nvPr/>
        </p:nvSpPr>
        <p:spPr>
          <a:xfrm>
            <a:off x="4852988" y="3240137"/>
            <a:ext cx="28575" cy="1524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lo/linia"/>
          <p:cNvSpPr/>
          <p:nvPr/>
        </p:nvSpPr>
        <p:spPr>
          <a:xfrm>
            <a:off x="609600" y="3487787"/>
            <a:ext cx="634365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lo/linia"/>
          <p:cNvSpPr/>
          <p:nvPr/>
        </p:nvSpPr>
        <p:spPr>
          <a:xfrm>
            <a:off x="1638300" y="3630662"/>
            <a:ext cx="4286250" cy="76200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lo/linia"/>
          <p:cNvSpPr/>
          <p:nvPr/>
        </p:nvSpPr>
        <p:spPr>
          <a:xfrm>
            <a:off x="1638300" y="3630662"/>
            <a:ext cx="1928812" cy="76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lo/linia"/>
          <p:cNvSpPr/>
          <p:nvPr/>
        </p:nvSpPr>
        <p:spPr>
          <a:xfrm>
            <a:off x="3567112" y="3592562"/>
            <a:ext cx="28575" cy="1524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lo/linia"/>
          <p:cNvSpPr/>
          <p:nvPr/>
        </p:nvSpPr>
        <p:spPr>
          <a:xfrm>
            <a:off x="609600" y="3840212"/>
            <a:ext cx="634365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lo/linia"/>
          <p:cNvSpPr/>
          <p:nvPr/>
        </p:nvSpPr>
        <p:spPr>
          <a:xfrm>
            <a:off x="609600" y="4192637"/>
            <a:ext cx="634365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lo/linia"/>
          <p:cNvSpPr/>
          <p:nvPr/>
        </p:nvSpPr>
        <p:spPr>
          <a:xfrm>
            <a:off x="1638300" y="3983087"/>
            <a:ext cx="4286250" cy="76200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lo/linia"/>
          <p:cNvSpPr/>
          <p:nvPr/>
        </p:nvSpPr>
        <p:spPr>
          <a:xfrm>
            <a:off x="1638300" y="3983087"/>
            <a:ext cx="2786062" cy="76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lo/linia"/>
          <p:cNvSpPr/>
          <p:nvPr/>
        </p:nvSpPr>
        <p:spPr>
          <a:xfrm>
            <a:off x="4424362" y="3944987"/>
            <a:ext cx="28575" cy="1524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lo/linia"/>
          <p:cNvSpPr/>
          <p:nvPr/>
        </p:nvSpPr>
        <p:spPr>
          <a:xfrm>
            <a:off x="609600" y="4583162"/>
            <a:ext cx="634365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lo/linia"/>
          <p:cNvSpPr/>
          <p:nvPr/>
        </p:nvSpPr>
        <p:spPr>
          <a:xfrm>
            <a:off x="609600" y="4918323"/>
            <a:ext cx="634365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lo/linia"/>
          <p:cNvSpPr/>
          <p:nvPr/>
        </p:nvSpPr>
        <p:spPr>
          <a:xfrm>
            <a:off x="609600" y="5253484"/>
            <a:ext cx="634365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lo/linia"/>
          <p:cNvSpPr/>
          <p:nvPr/>
        </p:nvSpPr>
        <p:spPr>
          <a:xfrm>
            <a:off x="609600" y="5588645"/>
            <a:ext cx="634365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lo/linia"/>
          <p:cNvSpPr/>
          <p:nvPr/>
        </p:nvSpPr>
        <p:spPr>
          <a:xfrm>
            <a:off x="609600" y="5923806"/>
            <a:ext cx="6343650" cy="9525"/>
          </a:xfrm>
          <a:prstGeom prst="rect">
            <a:avLst/>
          </a:prstGeom>
          <a:solidFill>
            <a:srgbClr val="D3C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lo/linia"/>
          <p:cNvSpPr/>
          <p:nvPr/>
        </p:nvSpPr>
        <p:spPr>
          <a:xfrm>
            <a:off x="609600" y="8624888"/>
            <a:ext cx="634365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lo/linia"/>
          <p:cNvSpPr/>
          <p:nvPr/>
        </p:nvSpPr>
        <p:spPr>
          <a:xfrm>
            <a:off x="609600" y="8796338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lo/linia"/>
          <p:cNvSpPr/>
          <p:nvPr/>
        </p:nvSpPr>
        <p:spPr>
          <a:xfrm>
            <a:off x="3895725" y="8796338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lo/linia"/>
          <p:cNvSpPr/>
          <p:nvPr/>
        </p:nvSpPr>
        <p:spPr>
          <a:xfrm>
            <a:off x="609600" y="9465469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lo/linia"/>
          <p:cNvSpPr/>
          <p:nvPr/>
        </p:nvSpPr>
        <p:spPr>
          <a:xfrm>
            <a:off x="3895725" y="9465469"/>
            <a:ext cx="76200" cy="76200"/>
          </a:xfrm>
          <a:prstGeom prst="rect">
            <a:avLst/>
          </a:prstGeom>
          <a:solidFill>
            <a:srgbClr val="ED6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lo/linia"/>
          <p:cNvSpPr/>
          <p:nvPr/>
        </p:nvSpPr>
        <p:spPr>
          <a:xfrm>
            <a:off x="609600" y="10267950"/>
            <a:ext cx="634365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kst"/>
          <p:cNvSpPr txBox="1"/>
          <p:nvPr/>
        </p:nvSpPr>
        <p:spPr>
          <a:xfrm>
            <a:off x="166836" y="161925"/>
            <a:ext cx="256729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300" b="1" i="0">
                <a:solidFill>
                  <a:srgbClr val="000000"/>
                </a:solidFill>
                <a:latin typeface="Overpass Mono"/>
              </a:rPr>
              <a:t>19</a:t>
            </a:r>
          </a:p>
        </p:txBody>
      </p:sp>
      <p:sp>
        <p:nvSpPr>
          <p:cNvPr id="37" name="tekst"/>
          <p:cNvSpPr txBox="1"/>
          <p:nvPr/>
        </p:nvSpPr>
        <p:spPr>
          <a:xfrm>
            <a:off x="762000" y="209550"/>
            <a:ext cx="2452539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13 OSOBOWOŚĆ MARKI · GŁOS MARKI</a:t>
            </a:r>
          </a:p>
        </p:txBody>
      </p:sp>
      <p:sp>
        <p:nvSpPr>
          <p:cNvPr id="38" name="tekst"/>
          <p:cNvSpPr txBox="1"/>
          <p:nvPr/>
        </p:nvSpPr>
        <p:spPr>
          <a:xfrm>
            <a:off x="5716935" y="209550"/>
            <a:ext cx="1293465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</a:t>
            </a:r>
          </a:p>
        </p:txBody>
      </p:sp>
      <p:sp>
        <p:nvSpPr>
          <p:cNvPr id="39" name="tekst"/>
          <p:cNvSpPr txBox="1"/>
          <p:nvPr/>
        </p:nvSpPr>
        <p:spPr>
          <a:xfrm>
            <a:off x="609600" y="800100"/>
            <a:ext cx="64008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1" i="0" spc="72">
                <a:solidFill>
                  <a:srgbClr val="000000"/>
                </a:solidFill>
                <a:latin typeface="Overpass Mono"/>
              </a:rPr>
              <a:t>GŁÓWNE PRZESŁANIE</a:t>
            </a:r>
          </a:p>
        </p:txBody>
      </p:sp>
      <p:sp>
        <p:nvSpPr>
          <p:cNvPr id="40" name="tekst"/>
          <p:cNvSpPr txBox="1"/>
          <p:nvPr/>
        </p:nvSpPr>
        <p:spPr>
          <a:xfrm>
            <a:off x="609600" y="1123950"/>
            <a:ext cx="6400800" cy="3600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35"/>
              </a:lnSpc>
            </a:pPr>
            <a:r>
              <a:rPr sz="2700" b="0" i="0" spc="-81">
                <a:solidFill>
                  <a:srgbClr val="000000"/>
                </a:solidFill>
                <a:latin typeface="Hanken Grotesk"/>
              </a:rPr>
              <a:t>To nie jest imitacja. To prawdziwa historia.</a:t>
            </a:r>
          </a:p>
        </p:txBody>
      </p:sp>
      <p:sp>
        <p:nvSpPr>
          <p:cNvPr id="41" name="tekst"/>
          <p:cNvSpPr txBox="1"/>
          <p:nvPr/>
        </p:nvSpPr>
        <p:spPr>
          <a:xfrm>
            <a:off x="609600" y="1636365"/>
            <a:ext cx="6400800" cy="4131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7"/>
              </a:lnSpc>
            </a:pPr>
            <a:r>
              <a:rPr sz="1050" b="0" i="0">
                <a:solidFill>
                  <a:srgbClr val="000000"/>
                </a:solidFill>
                <a:latin typeface="Hanken Grotesk"/>
              </a:rPr>
              <a:t>Klient dostaje fragment rzeczywistego, starego materiału, a nie produkt, który tylko próbuje go naśladować. W tekście to samo co na zdjęciu: konkret zamiast przymiotników.</a:t>
            </a:r>
          </a:p>
        </p:txBody>
      </p:sp>
      <p:sp>
        <p:nvSpPr>
          <p:cNvPr id="42" name="tekst"/>
          <p:cNvSpPr txBox="1"/>
          <p:nvPr/>
        </p:nvSpPr>
        <p:spPr>
          <a:xfrm>
            <a:off x="609600" y="2201912"/>
            <a:ext cx="64008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1" i="0" spc="72">
                <a:solidFill>
                  <a:srgbClr val="000000"/>
                </a:solidFill>
                <a:latin typeface="Overpass Mono"/>
              </a:rPr>
              <a:t>OSOBOWOŚĆ MARKI</a:t>
            </a:r>
          </a:p>
        </p:txBody>
      </p:sp>
      <p:sp>
        <p:nvSpPr>
          <p:cNvPr id="43" name="tekst"/>
          <p:cNvSpPr txBox="1"/>
          <p:nvPr/>
        </p:nvSpPr>
        <p:spPr>
          <a:xfrm>
            <a:off x="609600" y="2525762"/>
            <a:ext cx="97155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EKSPERCKA</a:t>
            </a:r>
          </a:p>
        </p:txBody>
      </p:sp>
      <p:sp>
        <p:nvSpPr>
          <p:cNvPr id="44" name="tekst"/>
          <p:cNvSpPr txBox="1"/>
          <p:nvPr/>
        </p:nvSpPr>
        <p:spPr>
          <a:xfrm>
            <a:off x="6038850" y="2525762"/>
            <a:ext cx="97155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5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DOSTĘPNA</a:t>
            </a:r>
          </a:p>
        </p:txBody>
      </p:sp>
      <p:sp>
        <p:nvSpPr>
          <p:cNvPr id="45" name="tekst"/>
          <p:cNvSpPr txBox="1"/>
          <p:nvPr/>
        </p:nvSpPr>
        <p:spPr>
          <a:xfrm>
            <a:off x="609600" y="2878187"/>
            <a:ext cx="97155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FORMALNA</a:t>
            </a:r>
          </a:p>
        </p:txBody>
      </p:sp>
      <p:sp>
        <p:nvSpPr>
          <p:cNvPr id="46" name="tekst"/>
          <p:cNvSpPr txBox="1"/>
          <p:nvPr/>
        </p:nvSpPr>
        <p:spPr>
          <a:xfrm>
            <a:off x="6038850" y="2878187"/>
            <a:ext cx="97155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5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SWOBODNA</a:t>
            </a:r>
          </a:p>
        </p:txBody>
      </p:sp>
      <p:sp>
        <p:nvSpPr>
          <p:cNvPr id="47" name="tekst"/>
          <p:cNvSpPr txBox="1"/>
          <p:nvPr/>
        </p:nvSpPr>
        <p:spPr>
          <a:xfrm>
            <a:off x="609600" y="3230612"/>
            <a:ext cx="97155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SPOKOJNA</a:t>
            </a:r>
          </a:p>
        </p:txBody>
      </p:sp>
      <p:sp>
        <p:nvSpPr>
          <p:cNvPr id="48" name="tekst"/>
          <p:cNvSpPr txBox="1"/>
          <p:nvPr/>
        </p:nvSpPr>
        <p:spPr>
          <a:xfrm>
            <a:off x="6038850" y="3230612"/>
            <a:ext cx="97155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5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DYNAMICZNA</a:t>
            </a:r>
          </a:p>
        </p:txBody>
      </p:sp>
      <p:sp>
        <p:nvSpPr>
          <p:cNvPr id="49" name="tekst"/>
          <p:cNvSpPr txBox="1"/>
          <p:nvPr/>
        </p:nvSpPr>
        <p:spPr>
          <a:xfrm>
            <a:off x="609600" y="3583037"/>
            <a:ext cx="97155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TRADYCYJNA</a:t>
            </a:r>
          </a:p>
        </p:txBody>
      </p:sp>
      <p:sp>
        <p:nvSpPr>
          <p:cNvPr id="50" name="tekst"/>
          <p:cNvSpPr txBox="1"/>
          <p:nvPr/>
        </p:nvSpPr>
        <p:spPr>
          <a:xfrm>
            <a:off x="6038850" y="3583037"/>
            <a:ext cx="97155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5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PROGRESYWNA</a:t>
            </a:r>
          </a:p>
        </p:txBody>
      </p:sp>
      <p:sp>
        <p:nvSpPr>
          <p:cNvPr id="51" name="tekst"/>
          <p:cNvSpPr txBox="1"/>
          <p:nvPr/>
        </p:nvSpPr>
        <p:spPr>
          <a:xfrm>
            <a:off x="609600" y="3935462"/>
            <a:ext cx="97155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PREMIUM</a:t>
            </a:r>
          </a:p>
        </p:txBody>
      </p:sp>
      <p:sp>
        <p:nvSpPr>
          <p:cNvPr id="52" name="tekst"/>
          <p:cNvSpPr txBox="1"/>
          <p:nvPr/>
        </p:nvSpPr>
        <p:spPr>
          <a:xfrm>
            <a:off x="6038850" y="3935462"/>
            <a:ext cx="97155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5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MASOWA</a:t>
            </a:r>
          </a:p>
        </p:txBody>
      </p:sp>
      <p:sp>
        <p:nvSpPr>
          <p:cNvPr id="53" name="tekst"/>
          <p:cNvSpPr txBox="1"/>
          <p:nvPr/>
        </p:nvSpPr>
        <p:spPr>
          <a:xfrm>
            <a:off x="609600" y="4354562"/>
            <a:ext cx="64008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1" i="0" spc="72">
                <a:solidFill>
                  <a:srgbClr val="000000"/>
                </a:solidFill>
                <a:latin typeface="Overpass Mono"/>
              </a:rPr>
              <a:t>TAK I NIE</a:t>
            </a:r>
          </a:p>
        </p:txBody>
      </p:sp>
      <p:sp>
        <p:nvSpPr>
          <p:cNvPr id="54" name="tekst"/>
          <p:cNvSpPr txBox="1"/>
          <p:nvPr/>
        </p:nvSpPr>
        <p:spPr>
          <a:xfrm>
            <a:off x="609600" y="4668887"/>
            <a:ext cx="4762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TAK</a:t>
            </a:r>
          </a:p>
        </p:txBody>
      </p:sp>
      <p:sp>
        <p:nvSpPr>
          <p:cNvPr id="55" name="tekst"/>
          <p:cNvSpPr txBox="1"/>
          <p:nvPr/>
        </p:nvSpPr>
        <p:spPr>
          <a:xfrm>
            <a:off x="1123950" y="4668887"/>
            <a:ext cx="58864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Każda partia starej cegły jest trochę inna. I właśnie na tym polega jej charakter.</a:t>
            </a:r>
          </a:p>
        </p:txBody>
      </p:sp>
      <p:sp>
        <p:nvSpPr>
          <p:cNvPr id="56" name="tekst"/>
          <p:cNvSpPr txBox="1"/>
          <p:nvPr/>
        </p:nvSpPr>
        <p:spPr>
          <a:xfrm>
            <a:off x="609600" y="5004048"/>
            <a:ext cx="4762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NIE</a:t>
            </a:r>
          </a:p>
        </p:txBody>
      </p:sp>
      <p:sp>
        <p:nvSpPr>
          <p:cNvPr id="57" name="tekst"/>
          <p:cNvSpPr txBox="1"/>
          <p:nvPr/>
        </p:nvSpPr>
        <p:spPr>
          <a:xfrm>
            <a:off x="1123950" y="5004048"/>
            <a:ext cx="58864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Ze względu na heterogeniczność strukturalną materiału możliwe są odchylenia chromatyczne.</a:t>
            </a:r>
          </a:p>
        </p:txBody>
      </p:sp>
      <p:sp>
        <p:nvSpPr>
          <p:cNvPr id="58" name="tekst"/>
          <p:cNvSpPr txBox="1"/>
          <p:nvPr/>
        </p:nvSpPr>
        <p:spPr>
          <a:xfrm>
            <a:off x="609600" y="5339209"/>
            <a:ext cx="4762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TAK</a:t>
            </a:r>
          </a:p>
        </p:txBody>
      </p:sp>
      <p:sp>
        <p:nvSpPr>
          <p:cNvPr id="59" name="tekst"/>
          <p:cNvSpPr txBox="1"/>
          <p:nvPr/>
        </p:nvSpPr>
        <p:spPr>
          <a:xfrm>
            <a:off x="1123950" y="5339209"/>
            <a:ext cx="58864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Ponad 100 lat historii. Teraz może stać się częścią Twojego wnętrza.</a:t>
            </a:r>
          </a:p>
        </p:txBody>
      </p:sp>
      <p:sp>
        <p:nvSpPr>
          <p:cNvPr id="60" name="tekst"/>
          <p:cNvSpPr txBox="1"/>
          <p:nvPr/>
        </p:nvSpPr>
        <p:spPr>
          <a:xfrm>
            <a:off x="609600" y="5674370"/>
            <a:ext cx="4762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0" i="0" spc="72">
                <a:solidFill>
                  <a:srgbClr val="000000"/>
                </a:solidFill>
                <a:latin typeface="Overpass Mono"/>
              </a:rPr>
              <a:t>NIE</a:t>
            </a:r>
          </a:p>
        </p:txBody>
      </p:sp>
      <p:sp>
        <p:nvSpPr>
          <p:cNvPr id="61" name="tekst"/>
          <p:cNvSpPr txBox="1"/>
          <p:nvPr/>
        </p:nvSpPr>
        <p:spPr>
          <a:xfrm>
            <a:off x="1123950" y="5674370"/>
            <a:ext cx="5886450" cy="173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</a:pPr>
            <a:r>
              <a:rPr sz="1000" b="0" i="0">
                <a:solidFill>
                  <a:srgbClr val="000000"/>
                </a:solidFill>
                <a:latin typeface="Hanken Grotesk"/>
              </a:rPr>
              <a:t>KUP TERAZ! OSTATNIA SZANSA! −40%</a:t>
            </a:r>
          </a:p>
        </p:txBody>
      </p:sp>
      <p:sp>
        <p:nvSpPr>
          <p:cNvPr id="62" name="tekst"/>
          <p:cNvSpPr txBox="1"/>
          <p:nvPr/>
        </p:nvSpPr>
        <p:spPr>
          <a:xfrm>
            <a:off x="609600" y="6085731"/>
            <a:ext cx="64008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100" b="0" i="0" spc="-11">
                <a:solidFill>
                  <a:srgbClr val="000000"/>
                </a:solidFill>
                <a:latin typeface="Hanken Grotesk"/>
              </a:rPr>
              <a:t>Pięć cech: autentyczna · kompetentna · spokojna · świadoma · charakterystyczna</a:t>
            </a:r>
          </a:p>
        </p:txBody>
      </p:sp>
      <p:sp>
        <p:nvSpPr>
          <p:cNvPr id="63" name="tekst"/>
          <p:cNvSpPr txBox="1"/>
          <p:nvPr/>
        </p:nvSpPr>
        <p:spPr>
          <a:xfrm>
            <a:off x="762000" y="8758238"/>
            <a:ext cx="216396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1" i="0" spc="72">
                <a:solidFill>
                  <a:srgbClr val="000000"/>
                </a:solidFill>
                <a:latin typeface="Overpass Mono"/>
              </a:rPr>
              <a:t>CO</a:t>
            </a:r>
          </a:p>
        </p:txBody>
      </p:sp>
      <p:sp>
        <p:nvSpPr>
          <p:cNvPr id="64" name="tekst"/>
          <p:cNvSpPr txBox="1"/>
          <p:nvPr/>
        </p:nvSpPr>
        <p:spPr>
          <a:xfrm>
            <a:off x="609600" y="8958262"/>
            <a:ext cx="3114675" cy="3452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9"/>
              </a:lnSpc>
            </a:pPr>
            <a:r>
              <a:rPr sz="950" b="0" i="0">
                <a:solidFill>
                  <a:srgbClr val="000000"/>
                </a:solidFill>
                <a:latin typeface="Hanken Grotesk"/>
              </a:rPr>
              <a:t>Głos: ekspercki, ale dostępny. Spokojny, premium przez materiał i historię, nie przez snobizm.</a:t>
            </a:r>
          </a:p>
        </p:txBody>
      </p:sp>
      <p:sp>
        <p:nvSpPr>
          <p:cNvPr id="65" name="tekst"/>
          <p:cNvSpPr txBox="1"/>
          <p:nvPr/>
        </p:nvSpPr>
        <p:spPr>
          <a:xfrm>
            <a:off x="4048125" y="8758238"/>
            <a:ext cx="693688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1" i="0" spc="72">
                <a:solidFill>
                  <a:srgbClr val="000000"/>
                </a:solidFill>
                <a:latin typeface="Overpass Mono"/>
              </a:rPr>
              <a:t>DLACZEGO</a:t>
            </a:r>
          </a:p>
        </p:txBody>
      </p:sp>
      <p:sp>
        <p:nvSpPr>
          <p:cNvPr id="66" name="tekst"/>
          <p:cNvSpPr txBox="1"/>
          <p:nvPr/>
        </p:nvSpPr>
        <p:spPr>
          <a:xfrm>
            <a:off x="3895725" y="8958262"/>
            <a:ext cx="3114675" cy="3452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9"/>
              </a:lnSpc>
            </a:pPr>
            <a:r>
              <a:rPr sz="950" b="0" i="0">
                <a:solidFill>
                  <a:srgbClr val="000000"/>
                </a:solidFill>
                <a:latin typeface="Hanken Grotesk"/>
              </a:rPr>
              <a:t>Wizualny minimalizm i ton tekstu mają mówić jednym głosem.</a:t>
            </a:r>
          </a:p>
        </p:txBody>
      </p:sp>
      <p:sp>
        <p:nvSpPr>
          <p:cNvPr id="67" name="tekst"/>
          <p:cNvSpPr txBox="1"/>
          <p:nvPr/>
        </p:nvSpPr>
        <p:spPr>
          <a:xfrm>
            <a:off x="762000" y="9427369"/>
            <a:ext cx="1011882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1" i="0" spc="72">
                <a:solidFill>
                  <a:srgbClr val="000000"/>
                </a:solidFill>
                <a:latin typeface="Overpass Mono"/>
              </a:rPr>
              <a:t>JAK STOSOWAĆ</a:t>
            </a:r>
          </a:p>
        </p:txBody>
      </p:sp>
      <p:sp>
        <p:nvSpPr>
          <p:cNvPr id="68" name="tekst"/>
          <p:cNvSpPr txBox="1"/>
          <p:nvPr/>
        </p:nvSpPr>
        <p:spPr>
          <a:xfrm>
            <a:off x="609600" y="9627394"/>
            <a:ext cx="3114675" cy="3452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9"/>
              </a:lnSpc>
            </a:pPr>
            <a:r>
              <a:rPr sz="950" b="0" i="0">
                <a:solidFill>
                  <a:srgbClr val="000000"/>
                </a:solidFill>
                <a:latin typeface="Hanken Grotesk"/>
              </a:rPr>
              <a:t>Nagłówek 3–8 słów, jedna myśl, jedno CTA. Fakty zamiast przymiotników. Domyślnie bez emoji.</a:t>
            </a:r>
          </a:p>
        </p:txBody>
      </p:sp>
      <p:sp>
        <p:nvSpPr>
          <p:cNvPr id="69" name="tekst"/>
          <p:cNvSpPr txBox="1"/>
          <p:nvPr/>
        </p:nvSpPr>
        <p:spPr>
          <a:xfrm>
            <a:off x="4048125" y="9427369"/>
            <a:ext cx="1011882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900" b="1" i="0" spc="72">
                <a:solidFill>
                  <a:srgbClr val="000000"/>
                </a:solidFill>
                <a:latin typeface="Overpass Mono"/>
              </a:rPr>
              <a:t>CZEGO UNIKAĆ</a:t>
            </a:r>
          </a:p>
        </p:txBody>
      </p:sp>
      <p:sp>
        <p:nvSpPr>
          <p:cNvPr id="70" name="tekst"/>
          <p:cNvSpPr txBox="1"/>
          <p:nvPr/>
        </p:nvSpPr>
        <p:spPr>
          <a:xfrm>
            <a:off x="3895725" y="9627394"/>
            <a:ext cx="3114675" cy="3452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59"/>
              </a:lnSpc>
            </a:pPr>
            <a:r>
              <a:rPr sz="950" b="0" i="0">
                <a:solidFill>
                  <a:srgbClr val="000000"/>
                </a:solidFill>
                <a:latin typeface="Hanken Grotesk"/>
              </a:rPr>
              <a:t>Języka korporacyjnego i potocznego, wykrzykników, CAPS LOCKA, „WOW”, złota i ekskluzywności.</a:t>
            </a:r>
          </a:p>
        </p:txBody>
      </p:sp>
      <p:sp>
        <p:nvSpPr>
          <p:cNvPr id="71" name="tekst"/>
          <p:cNvSpPr txBox="1"/>
          <p:nvPr/>
        </p:nvSpPr>
        <p:spPr>
          <a:xfrm>
            <a:off x="609600" y="10353675"/>
            <a:ext cx="229790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CEGLANY RENESANS · BRAND BOOK</a:t>
            </a:r>
          </a:p>
        </p:txBody>
      </p:sp>
      <p:sp>
        <p:nvSpPr>
          <p:cNvPr id="72" name="tekst"/>
          <p:cNvSpPr txBox="1"/>
          <p:nvPr/>
        </p:nvSpPr>
        <p:spPr>
          <a:xfrm>
            <a:off x="6180534" y="10353675"/>
            <a:ext cx="829866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900" b="0" i="0" spc="54">
                <a:solidFill>
                  <a:srgbClr val="000000"/>
                </a:solidFill>
                <a:latin typeface="Overpass Mono"/>
              </a:rPr>
              <a:t>WERSJA 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